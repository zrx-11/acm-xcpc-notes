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65" r:id="rId5"/>
    <p:sldId id="259" r:id="rId6"/>
    <p:sldId id="261" r:id="rId7"/>
    <p:sldId id="260" r:id="rId8"/>
    <p:sldId id="262" r:id="rId9"/>
    <p:sldId id="263" r:id="rId10"/>
    <p:sldId id="264" r:id="rId11"/>
    <p:sldId id="266" r:id="rId12"/>
    <p:sldId id="267" r:id="rId13"/>
    <p:sldId id="28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ED76C-434F-41F5-9F1E-1DC8E809B39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313D5-6297-436B-9E33-3E545222F0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94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87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34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70737-10DB-4F47-8132-BEFAF436693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32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DF24-D8D4-4657-A0F7-1559CBF6E8AF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4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F1E32-B654-42E0-A985-4288F518F231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04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32925-D24C-4B2D-9F2A-AABBEC1EA80E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70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7F8EC-C682-4542-B926-BC25E4AEE0C5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67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5773-4638-4C29-AC01-5985F512DE32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5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A5A0-426B-4B4D-8338-5C3F06315535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865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E362-D6E2-42CF-B781-C13C282192EE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94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F4616-062D-4A5E-A345-E53E4B630C8A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81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E04C0E7-558A-4B28-BFDC-291DB8C6F411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AC484A7-F441-4DD9-B3B7-B28EBFA16A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29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B2F4C-F956-4650-B865-A7D587064E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最短路专题选讲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3FC1EB-ADAB-4E71-867D-4E319C09F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—— </a:t>
            </a:r>
            <a:r>
              <a:rPr lang="zh-CN" altLang="en-US" dirty="0"/>
              <a:t>杨景钦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AA964-A0AE-4FD3-A86A-AF88F600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CFB1F-A7B6-4404-A1AC-1B0B4E65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50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49D70-CE23-4CA0-906D-3DFC60D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3C0C6-A96F-42B4-8A3B-9BE39E6CA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常用最短路算法：</a:t>
            </a:r>
            <a:r>
              <a:rPr lang="en-US" altLang="zh-CN" dirty="0"/>
              <a:t>Dijkstra</a:t>
            </a:r>
            <a:r>
              <a:rPr lang="zh-CN" altLang="en-US" dirty="0"/>
              <a:t>，</a:t>
            </a:r>
            <a:r>
              <a:rPr lang="en-US" altLang="zh-CN" dirty="0"/>
              <a:t>Floyd</a:t>
            </a:r>
            <a:r>
              <a:rPr lang="zh-CN" altLang="en-US" dirty="0"/>
              <a:t>，</a:t>
            </a:r>
            <a:r>
              <a:rPr lang="en-US" altLang="zh-CN" dirty="0" err="1"/>
              <a:t>Spfa</a:t>
            </a:r>
            <a:r>
              <a:rPr lang="en-US" altLang="zh-CN" dirty="0"/>
              <a:t>(</a:t>
            </a:r>
            <a:r>
              <a:rPr lang="en-US" altLang="zh-CN" dirty="0" err="1"/>
              <a:t>BellmanFord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· </a:t>
            </a:r>
            <a:r>
              <a:rPr lang="en-US" altLang="zh-CN" dirty="0" err="1"/>
              <a:t>Spfa</a:t>
            </a:r>
            <a:r>
              <a:rPr lang="zh-CN" altLang="en-US" dirty="0"/>
              <a:t>的优化算法：</a:t>
            </a:r>
            <a:r>
              <a:rPr lang="en-US" altLang="zh-CN" dirty="0"/>
              <a:t>SLF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如何卡</a:t>
            </a:r>
            <a:r>
              <a:rPr lang="en-US" altLang="zh-CN" dirty="0" err="1"/>
              <a:t>Spfa</a:t>
            </a:r>
            <a:r>
              <a:rPr lang="en-US" altLang="zh-CN" dirty="0"/>
              <a:t>/</a:t>
            </a:r>
            <a:r>
              <a:rPr lang="zh-CN" altLang="en-US" dirty="0"/>
              <a:t>防止被卡？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5DA3A-7525-4084-9AB1-7C3513D5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906DC4-FD08-437B-84B8-C2FFB6CF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805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90870-36B9-467B-8D20-7C77B942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787E3-81B1-4CB9-BF69-64ED246D9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判负环的算法：</a:t>
            </a:r>
            <a:r>
              <a:rPr lang="en-US" altLang="zh-CN" dirty="0" err="1"/>
              <a:t>BellmanFord</a:t>
            </a:r>
            <a:r>
              <a:rPr lang="en-US" altLang="zh-CN" dirty="0"/>
              <a:t>(</a:t>
            </a:r>
            <a:r>
              <a:rPr lang="en-US" altLang="zh-CN" dirty="0" err="1"/>
              <a:t>Bfs</a:t>
            </a:r>
            <a:r>
              <a:rPr lang="zh-CN" altLang="en-US" dirty="0"/>
              <a:t>判负环）， </a:t>
            </a:r>
            <a:r>
              <a:rPr lang="en-US" altLang="zh-CN" dirty="0" err="1"/>
              <a:t>dfs</a:t>
            </a:r>
            <a:r>
              <a:rPr lang="zh-CN" altLang="en-US" dirty="0"/>
              <a:t>判负环。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在无正环的路上求最长路。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异或最短路。（</a:t>
            </a:r>
            <a:r>
              <a:rPr lang="en-US" altLang="zh-CN" dirty="0"/>
              <a:t>WC2011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 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E66DB-B9E7-42BB-84BD-6A9AE936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EAAD-B294-4A25-AFDA-3CB3AB2374F2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A6B4AA-D36B-417D-8E55-B8C7B4E50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5BF94F-408D-4129-B7B6-8AAD8119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43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F4C5A-C6B9-49DF-843A-40F9BCEE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1710DC-4936-4DA4-87E2-4A179CC08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给定一个</a:t>
            </a:r>
            <a:r>
              <a:rPr lang="en-US" altLang="zh-CN" dirty="0"/>
              <a:t>N</a:t>
            </a:r>
            <a:r>
              <a:rPr lang="zh-CN" altLang="en-US" dirty="0"/>
              <a:t>个点</a:t>
            </a:r>
            <a:r>
              <a:rPr lang="en-US" altLang="zh-CN" dirty="0"/>
              <a:t>M</a:t>
            </a:r>
            <a:r>
              <a:rPr lang="zh-CN" altLang="en-US" dirty="0"/>
              <a:t>条边的有向图，每条边有一个长度，求一个环使得环上的边的平均长度最小。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真</a:t>
            </a:r>
            <a:r>
              <a:rPr lang="en-US" altLang="zh-CN" dirty="0"/>
              <a:t>· </a:t>
            </a:r>
            <a:r>
              <a:rPr lang="zh-CN" altLang="en-US" dirty="0"/>
              <a:t>傻逼题。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40AC1B-3332-46A5-A95E-17EE66A8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FD70B8-288B-41E1-98FB-D3B4F3EC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C19DBC-E92F-4342-9030-2D0A0A97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58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767FB-1110-440E-B58F-3B1B727A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F4A-679E-4743-A413-5BF17598F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sz="2400" b="1" dirty="0"/>
              <a:t>最短路</a:t>
            </a:r>
            <a:r>
              <a:rPr lang="en-US" altLang="zh-CN" sz="2400" b="1" dirty="0"/>
              <a:t>DAG</a:t>
            </a:r>
          </a:p>
          <a:p>
            <a:pPr lvl="2"/>
            <a:r>
              <a:rPr lang="zh-CN" altLang="en-US" sz="2000" dirty="0"/>
              <a:t>判断一条边是否在一条最短路上。</a:t>
            </a:r>
            <a:endParaRPr lang="en-US" altLang="zh-CN" sz="2000" dirty="0"/>
          </a:p>
          <a:p>
            <a:pPr lvl="2"/>
            <a:r>
              <a:rPr lang="zh-CN" altLang="en-US" sz="2000" dirty="0"/>
              <a:t>判断一条边是否一定在最短路上。</a:t>
            </a:r>
            <a:endParaRPr lang="en-US" altLang="zh-CN" sz="2000" dirty="0"/>
          </a:p>
          <a:p>
            <a:pPr lvl="3"/>
            <a:r>
              <a:rPr lang="zh-CN" altLang="en-US" sz="1800" dirty="0"/>
              <a:t>支配树</a:t>
            </a:r>
            <a:r>
              <a:rPr lang="en-US" altLang="zh-CN" sz="1800" dirty="0"/>
              <a:t>(WC2016</a:t>
            </a:r>
            <a:r>
              <a:rPr lang="zh-CN" altLang="en-US" sz="1800" dirty="0"/>
              <a:t>营员交流</a:t>
            </a:r>
            <a:r>
              <a:rPr lang="en-US" altLang="zh-CN" sz="1800" dirty="0"/>
              <a:t>)</a:t>
            </a:r>
          </a:p>
          <a:p>
            <a:pPr lvl="3"/>
            <a:r>
              <a:rPr lang="zh-CN" altLang="en-US" sz="1800" dirty="0"/>
              <a:t>灭绝树</a:t>
            </a:r>
            <a:r>
              <a:rPr lang="en-US" altLang="zh-CN" sz="1800" dirty="0"/>
              <a:t>(http://www.lydsy.com/JudgeOnline/problem.php?id=2815)</a:t>
            </a:r>
          </a:p>
          <a:p>
            <a:pPr lvl="3"/>
            <a:r>
              <a:rPr lang="zh-CN" altLang="en-US" sz="1800" dirty="0"/>
              <a:t>线段树</a:t>
            </a:r>
            <a:r>
              <a:rPr lang="en-US" altLang="zh-CN" sz="1800" dirty="0"/>
              <a:t>(</a:t>
            </a:r>
            <a:r>
              <a:rPr lang="zh-CN" altLang="en-US" sz="1800" dirty="0"/>
              <a:t>自己玩吧</a:t>
            </a:r>
            <a:r>
              <a:rPr lang="en-US" altLang="zh-CN" sz="1800" dirty="0"/>
              <a:t>~)</a:t>
            </a:r>
          </a:p>
          <a:p>
            <a:pPr lvl="3"/>
            <a:r>
              <a:rPr lang="zh-CN" altLang="en-US" sz="1800" dirty="0"/>
              <a:t>哈（蛤）希</a:t>
            </a:r>
            <a:endParaRPr lang="en-US" altLang="zh-CN" sz="1800" dirty="0"/>
          </a:p>
          <a:p>
            <a:pPr marL="457200" lvl="3" indent="0">
              <a:buNone/>
            </a:pPr>
            <a:endParaRPr lang="en-US" altLang="zh-CN" sz="16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EB50A-BA42-43F4-A3B6-86CFE025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5287-BEB4-47A0-8398-2459F1BC6521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95D840-D447-4C53-8176-856B05A2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9340F-ECE7-4129-8941-04A25EC4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6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65BC4-59ED-4C79-8700-5615B1FF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E7ACA-D8F4-495B-AEC7-483EA232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上午考试</a:t>
            </a:r>
            <a:r>
              <a:rPr lang="en-US" altLang="zh-CN" dirty="0"/>
              <a:t>P2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1D5AB-738C-45CA-A950-06CC9649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B5F108-E1DE-49DB-A709-D6412CCE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CA2CB7-F98D-4965-9F0D-A0962F49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41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3A9E5-397B-4FAB-95D1-C365D520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36FFE8-6FEC-46DB-8348-5FC015DCB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经典模型：给定</a:t>
            </a:r>
            <a:r>
              <a:rPr lang="en-US" altLang="zh-CN" dirty="0"/>
              <a:t>X</a:t>
            </a:r>
            <a:r>
              <a:rPr lang="zh-CN" altLang="en-US" dirty="0"/>
              <a:t>个图中的点，求两个给出的点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，满足</a:t>
            </a:r>
            <a:r>
              <a:rPr lang="en-US" altLang="zh-CN" dirty="0" err="1"/>
              <a:t>i</a:t>
            </a:r>
            <a:r>
              <a:rPr lang="zh-CN" altLang="en-US" dirty="0"/>
              <a:t>到</a:t>
            </a:r>
            <a:r>
              <a:rPr lang="en-US" altLang="zh-CN" dirty="0"/>
              <a:t>j</a:t>
            </a:r>
            <a:r>
              <a:rPr lang="zh-CN" altLang="en-US" dirty="0"/>
              <a:t>的最短路最短。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2C1B42-FB63-49B4-83F3-361AB1ACC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74E90-81D3-47EF-921D-05F176CB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39823-E502-4D80-BAAD-E999EA1E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685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F4EE9-5C3F-44B2-A78C-27D2C97A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3801E-8B66-4650-BABB-0A7639CFD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机智的二进制分组。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时间复杂度</a:t>
            </a:r>
            <a:r>
              <a:rPr lang="en-US" altLang="zh-CN" dirty="0"/>
              <a:t>O(Nlog</a:t>
            </a:r>
            <a:r>
              <a:rPr lang="en-US" altLang="zh-CN" baseline="30000" dirty="0"/>
              <a:t>2</a:t>
            </a:r>
            <a:r>
              <a:rPr lang="en-US" altLang="zh-CN" dirty="0"/>
              <a:t>N)</a:t>
            </a:r>
            <a:r>
              <a:rPr lang="zh-CN" altLang="en-US" dirty="0"/>
              <a:t>， 可以接受。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7FA9D-7429-4022-80FD-3E573041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5110E9-C9D6-461D-A7ED-9695592E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C9449-42FE-4FE7-9480-E1BB3401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92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ABF9B-0D37-4FCC-A6F7-9EF1837C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CB25F-0F93-4213-8B05-0C7E3CF8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023360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前方高能（</a:t>
            </a:r>
            <a:r>
              <a:rPr lang="en-US" altLang="zh-CN" dirty="0"/>
              <a:t>PPT</a:t>
            </a:r>
            <a:r>
              <a:rPr lang="zh-CN" altLang="en-US" dirty="0"/>
              <a:t>打不下只能手推了）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35EA13-A269-4FDA-A707-20212EB6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14EF1-DC6A-4E3E-A195-A2A101DA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E07F9-B1A7-40B0-BF3A-C2FF5A94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00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5EA5B-0ECF-40C8-AC88-D77226C9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148A3-1124-4C1C-87D3-54A627AC5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BZOJ </a:t>
            </a:r>
            <a:r>
              <a:rPr lang="zh-CN" altLang="en-US" dirty="0"/>
              <a:t>福慧双修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BZOJ </a:t>
            </a:r>
            <a:r>
              <a:rPr lang="zh-CN" altLang="en-US" dirty="0"/>
              <a:t>魔法少女伊莉雅</a:t>
            </a:r>
            <a:r>
              <a:rPr lang="en-US" altLang="zh-CN" dirty="0"/>
              <a:t>(?)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A609B-813E-4D99-86B0-704FE9C89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484FC-76E9-48D6-9F5E-D377E1BD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8F353C-0783-44AF-8B25-4EEBAC18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306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9AA87-69FC-47D6-A866-C876147C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162342-D5A9-4676-90F1-FD5FEDFC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某些时候我们要最小化的不是距离而是一个奇怪的东西。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经典的例子：给定一个</a:t>
            </a:r>
            <a:r>
              <a:rPr lang="en-US" altLang="zh-CN" dirty="0"/>
              <a:t>DAG</a:t>
            </a:r>
            <a:r>
              <a:rPr lang="zh-CN" altLang="en-US" dirty="0"/>
              <a:t>， 求一条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N</a:t>
            </a:r>
            <a:r>
              <a:rPr lang="zh-CN" altLang="en-US" dirty="0"/>
              <a:t>的字典序最小的路径。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C6BB5-63A4-492E-AF85-8F030A76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CCDE65-9AD2-4CDA-A40D-73DBE08C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EA6E7-6360-447E-B579-D9BD2EF3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98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F4CF1-0807-41B7-88CB-3A06179D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	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B967F-C2D5-4F01-A2CF-1C2991C5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通用办法：用主席树存权值即可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对于此题可以直接</a:t>
            </a:r>
            <a:r>
              <a:rPr lang="en-US" altLang="zh-CN" dirty="0" err="1"/>
              <a:t>Trie</a:t>
            </a:r>
            <a:r>
              <a:rPr lang="en-US" altLang="zh-CN" dirty="0"/>
              <a:t>+</a:t>
            </a:r>
            <a:r>
              <a:rPr lang="zh-CN" altLang="en-US" dirty="0"/>
              <a:t>蛤希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70245-329F-47BA-9C56-70E0FE08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EC60A-DEBA-4665-9A07-2D5FB251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55273A-55F4-4410-B117-849871D8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69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https://www.51nod.com/contest/Problem.html#!problemId=1863&amp;contestId=38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04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1774B-3023-4401-BACD-1F1E43078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5BF75-E3F0-46E4-B757-8AE134A1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存在一些最优化</a:t>
            </a:r>
            <a:r>
              <a:rPr lang="en-US" altLang="zh-CN" dirty="0" err="1"/>
              <a:t>dp</a:t>
            </a:r>
            <a:r>
              <a:rPr lang="zh-CN" altLang="en-US" dirty="0"/>
              <a:t>问题，因为转移之间有环，所以无法找到一个合法的顺序直接</a:t>
            </a:r>
            <a:r>
              <a:rPr lang="en-US" altLang="zh-CN" dirty="0" err="1"/>
              <a:t>dp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这个时候需要最短路去求解，而如果要求最优化的目标函数并不是一个简单的</a:t>
            </a:r>
            <a:r>
              <a:rPr lang="en-US" altLang="zh-CN" dirty="0"/>
              <a:t>min</a:t>
            </a:r>
            <a:r>
              <a:rPr lang="zh-CN" altLang="en-US" dirty="0"/>
              <a:t>或者</a:t>
            </a:r>
            <a:r>
              <a:rPr lang="en-US" altLang="zh-CN" dirty="0"/>
              <a:t>max</a:t>
            </a:r>
            <a:r>
              <a:rPr lang="zh-CN" altLang="en-US" dirty="0"/>
              <a:t>函数，还需要加上主席树去表示权值。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1023F-9656-4D0E-A05A-5D6902B6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460FF-944B-4D87-876C-DB053A40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BCE44-03AB-4135-AEA0-9D487DC0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018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BE4A7-C1ED-4041-A2BE-820A6D4A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C8621-F2B7-47BD-9B6D-EF4F9544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斯坦纳树问题。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http://www.lydsy.com/JudgeOnline/problem.php?id=2595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F5106A-CC7E-4B90-8548-69249CCB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60B8E9-CF64-4981-A453-0877CD3B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6B0D3D-30A4-4731-8A8A-8A6E77D0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475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9E8E7-C6CE-4817-8DE4-3C935EC3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C078D-663C-4C64-B00E-2DD5B91D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http://www.lydsy.com/JudgeOnline/problem.php?id=3875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35589-EB9A-4F77-BBD9-D487AA65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63F32E-3F92-4180-AA64-3A9D2886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4C64DA-19E8-4E0A-B91D-3B903CC9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695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E81E6-B3BF-425E-BCCE-83EC556F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2F192-E393-4F21-A2CA-FA10268AC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（算了先看题吧）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 PA2012 TAX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487B3-EE5C-4C80-83A9-C383DDA2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834039-4A61-4FF8-8359-4A426BD5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55A50-7CE1-47FA-84FA-1AAC7744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243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DB2AA-5C7A-4685-9551-86E32BEA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F0D2F-261E-4369-A357-BCE85944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对于此类跳在你脸上告诉你我是最短路的题，我们可以观察范围思考一下：</a:t>
            </a:r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如果这题范围是</a:t>
            </a:r>
            <a:r>
              <a:rPr lang="en-US" altLang="zh-CN" dirty="0"/>
              <a:t>500</a:t>
            </a:r>
            <a:r>
              <a:rPr lang="zh-CN" altLang="en-US" dirty="0"/>
              <a:t>， 那</a:t>
            </a:r>
            <a:r>
              <a:rPr lang="en-US" altLang="zh-CN" dirty="0"/>
              <a:t>tm</a:t>
            </a:r>
            <a:r>
              <a:rPr lang="zh-CN" altLang="en-US" dirty="0"/>
              <a:t>肯定是网络流。</a:t>
            </a:r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而如果这题范围是</a:t>
            </a:r>
            <a:r>
              <a:rPr lang="en-US" altLang="zh-CN" dirty="0"/>
              <a:t>200000</a:t>
            </a:r>
            <a:r>
              <a:rPr lang="zh-CN" altLang="en-US" dirty="0"/>
              <a:t>，那就是一道骑脸最短路题了。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显然这题就是一道骑脸的最短路题，问题是我们怎么去表示这个权值呢？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07779E-987F-4BEC-A16F-2AA7B98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A25623-761C-4C33-8C6C-86667AF2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EFC0C-1F29-47DF-8230-71EC10D9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26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199A2-016E-4617-85C3-1A7046F5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A95D8-0A80-454B-BEBA-D970C3D3A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注意到最短路的本质是个转移带环的</a:t>
            </a:r>
            <a:r>
              <a:rPr lang="en-US" altLang="zh-CN" dirty="0" err="1"/>
              <a:t>dp</a:t>
            </a:r>
            <a:r>
              <a:rPr lang="zh-CN" altLang="en-US" dirty="0"/>
              <a:t>，而我们一般是用点来作为</a:t>
            </a:r>
            <a:r>
              <a:rPr lang="en-US" altLang="zh-CN" dirty="0" err="1"/>
              <a:t>dp</a:t>
            </a:r>
            <a:r>
              <a:rPr lang="zh-CN" altLang="en-US" dirty="0"/>
              <a:t>的状态信息。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这题看上去我们要记录到每个点的时候上一条边是什么，但是稍有经验的选手会很快发现，这题就只需要记录到每条边的最短路就可以了。也就是说，我们把边看成点就好了。 那么唯一的问题就是这些点之间应该怎么连边了。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（手画一下）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E2306-EF02-4B79-9BBD-3317FB05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7B3C6-B874-4FB5-B3E0-CFB600A1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3FBB3-2A38-4CA0-97D6-A83CAFC8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31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FED11-EF4B-4852-B57C-2532832A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AD83FD-2CF3-4949-AC5A-5F03ABA0B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插播一个技巧，如果我们有左边</a:t>
            </a:r>
            <a:r>
              <a:rPr lang="en-US" altLang="zh-CN" dirty="0"/>
              <a:t>N</a:t>
            </a:r>
            <a:r>
              <a:rPr lang="zh-CN" altLang="en-US" dirty="0"/>
              <a:t>个点和右边</a:t>
            </a:r>
            <a:r>
              <a:rPr lang="en-US" altLang="zh-CN" dirty="0"/>
              <a:t>M</a:t>
            </a:r>
            <a:r>
              <a:rPr lang="zh-CN" altLang="en-US" dirty="0"/>
              <a:t>个点，并且需要让左边每个点到右边每个点都连一条边。 这种情况我们只需要建一个虚拟节点</a:t>
            </a:r>
            <a:r>
              <a:rPr lang="en-US" altLang="zh-CN" dirty="0"/>
              <a:t>x</a:t>
            </a:r>
            <a:r>
              <a:rPr lang="zh-CN" altLang="en-US" dirty="0"/>
              <a:t>，然后左边</a:t>
            </a:r>
            <a:r>
              <a:rPr lang="en-US" altLang="zh-CN" dirty="0"/>
              <a:t>N</a:t>
            </a:r>
            <a:r>
              <a:rPr lang="zh-CN" altLang="en-US" dirty="0"/>
              <a:t>个点连到</a:t>
            </a:r>
            <a:r>
              <a:rPr lang="en-US" altLang="zh-CN" dirty="0"/>
              <a:t>x</a:t>
            </a:r>
            <a:r>
              <a:rPr lang="zh-CN" altLang="en-US" dirty="0"/>
              <a:t>，再把</a:t>
            </a:r>
            <a:r>
              <a:rPr lang="en-US" altLang="zh-CN" dirty="0"/>
              <a:t>x</a:t>
            </a:r>
            <a:r>
              <a:rPr lang="zh-CN" altLang="en-US" dirty="0"/>
              <a:t>连向右边</a:t>
            </a:r>
            <a:r>
              <a:rPr lang="en-US" altLang="zh-CN" dirty="0"/>
              <a:t>M</a:t>
            </a:r>
            <a:r>
              <a:rPr lang="zh-CN" altLang="en-US" dirty="0"/>
              <a:t>个点就好了。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然而这题竟然不能用这个技巧，因为边权不一样。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896E9B-7B12-4EB7-BB6D-37C72695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0BD775-E8A5-4BF2-8A3E-2E426C0C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C648C-4CD4-4573-B6BD-E5BA9959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046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62166-8076-4EEA-998C-D58C00C1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B2471-8413-4080-B67C-B07555670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d(u)&lt;=d(v)+w(</a:t>
            </a:r>
            <a:r>
              <a:rPr lang="en-US" altLang="zh-CN" dirty="0" err="1"/>
              <a:t>u,v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C8B0D1-8148-4D93-8973-7AB679DC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04C33-361F-4C36-8D8C-7A5201A7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6FB25-3DDF-431D-BE99-E36753F3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522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057A2-D300-477E-B21F-A71FFF05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AFAF64-12E9-407A-BCCA-752A6CEFA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给出一个</a:t>
            </a:r>
            <a:r>
              <a:rPr lang="en-US" altLang="zh-CN" dirty="0"/>
              <a:t>N*M</a:t>
            </a:r>
            <a:r>
              <a:rPr lang="zh-CN" altLang="en-US" dirty="0"/>
              <a:t>的网格图，其中某些格子的权值已经被确定了。</a:t>
            </a:r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已知每个格子里的权值都是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 · </a:t>
            </a:r>
            <a:r>
              <a:rPr lang="zh-CN" altLang="en-US" dirty="0"/>
              <a:t>求有多少个可能的网格图，使得</a:t>
            </a:r>
            <a:r>
              <a:rPr lang="en-US" altLang="zh-CN" dirty="0"/>
              <a:t>(1,1)</a:t>
            </a:r>
            <a:r>
              <a:rPr lang="zh-CN" altLang="en-US" dirty="0"/>
              <a:t>到</a:t>
            </a:r>
            <a:r>
              <a:rPr lang="en-US" altLang="zh-CN" dirty="0"/>
              <a:t>(N,M)</a:t>
            </a:r>
            <a:r>
              <a:rPr lang="zh-CN" altLang="en-US" dirty="0"/>
              <a:t>的最短路长度恰好为</a:t>
            </a:r>
            <a:r>
              <a:rPr lang="en-US" altLang="zh-CN" dirty="0"/>
              <a:t>k</a:t>
            </a:r>
          </a:p>
          <a:p>
            <a:r>
              <a:rPr lang="en-US" altLang="zh-CN" dirty="0"/>
              <a:t> · </a:t>
            </a:r>
            <a:r>
              <a:rPr lang="zh-CN" altLang="en-US" dirty="0"/>
              <a:t>一条路径的长度就是经过的格子的权值之和。</a:t>
            </a:r>
            <a:endParaRPr lang="en-US" altLang="zh-CN" dirty="0"/>
          </a:p>
          <a:p>
            <a:r>
              <a:rPr lang="en-US" altLang="zh-CN" dirty="0"/>
              <a:t>https://www.51nod.com/contest/Problem.html#!problemId=1683&amp;contestId=33</a:t>
            </a:r>
          </a:p>
          <a:p>
            <a:r>
              <a:rPr lang="en-US" altLang="zh-CN" dirty="0"/>
              <a:t> · N </a:t>
            </a:r>
            <a:r>
              <a:rPr lang="zh-CN" altLang="en-US" dirty="0"/>
              <a:t>≤ </a:t>
            </a:r>
            <a:r>
              <a:rPr lang="en-US" altLang="zh-CN" dirty="0"/>
              <a:t>6</a:t>
            </a:r>
            <a:r>
              <a:rPr lang="zh-CN" altLang="en-US" dirty="0"/>
              <a:t>， </a:t>
            </a:r>
            <a:r>
              <a:rPr lang="en-US" altLang="zh-CN" dirty="0"/>
              <a:t>M </a:t>
            </a:r>
            <a:r>
              <a:rPr lang="zh-CN" altLang="en-US" dirty="0"/>
              <a:t>≤ </a:t>
            </a:r>
            <a:r>
              <a:rPr lang="en-US" altLang="zh-CN" dirty="0"/>
              <a:t>100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4E8C20-7BAC-4040-B7FB-FF5969C1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5494FD-EC14-4BA5-A5A7-D338E5DC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5958F-0C8F-4801-ABAC-C84F1124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00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8CD37-1EFB-48E1-B44A-A9FBC9EC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5A3BE-5234-41B0-BA18-4A802DD1C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求有多少个</a:t>
            </a:r>
            <a:r>
              <a:rPr lang="en-US" altLang="zh-CN" dirty="0"/>
              <a:t>N</a:t>
            </a:r>
            <a:r>
              <a:rPr lang="zh-CN" altLang="en-US" dirty="0"/>
              <a:t>个点的无向完全图，满足每条边的边权都在</a:t>
            </a:r>
            <a:r>
              <a:rPr lang="en-US" altLang="zh-CN" dirty="0"/>
              <a:t>[1,</a:t>
            </a:r>
            <a:r>
              <a:rPr lang="zh-CN" altLang="en-US" dirty="0"/>
              <a:t> </a:t>
            </a:r>
            <a:r>
              <a:rPr lang="en-US" altLang="zh-CN" dirty="0"/>
              <a:t>L]</a:t>
            </a:r>
            <a:r>
              <a:rPr lang="zh-CN" altLang="en-US" dirty="0"/>
              <a:t>区间内，且</a:t>
            </a:r>
            <a:r>
              <a:rPr lang="en-US" altLang="zh-CN" dirty="0"/>
              <a:t>1</a:t>
            </a:r>
            <a:r>
              <a:rPr lang="zh-CN" altLang="en-US" dirty="0"/>
              <a:t>号点到</a:t>
            </a:r>
            <a:r>
              <a:rPr lang="en-US" altLang="zh-CN" dirty="0"/>
              <a:t>N</a:t>
            </a:r>
            <a:r>
              <a:rPr lang="zh-CN" altLang="en-US" dirty="0"/>
              <a:t>号点的最短路长度为</a:t>
            </a:r>
            <a:r>
              <a:rPr lang="en-US" altLang="zh-CN" dirty="0"/>
              <a:t>k</a:t>
            </a:r>
          </a:p>
          <a:p>
            <a:endParaRPr lang="en-US" altLang="zh-CN" dirty="0"/>
          </a:p>
          <a:p>
            <a:r>
              <a:rPr lang="en-US" altLang="zh-CN" dirty="0"/>
              <a:t> · N, k </a:t>
            </a:r>
            <a:r>
              <a:rPr lang="zh-CN" altLang="en-US" dirty="0"/>
              <a:t>≤ </a:t>
            </a:r>
            <a:r>
              <a:rPr lang="en-US" altLang="zh-CN" dirty="0"/>
              <a:t>12</a:t>
            </a:r>
            <a:r>
              <a:rPr lang="zh-CN" altLang="en-US" dirty="0"/>
              <a:t>， </a:t>
            </a:r>
            <a:r>
              <a:rPr lang="en-US" altLang="zh-CN" dirty="0"/>
              <a:t>L </a:t>
            </a:r>
            <a:r>
              <a:rPr lang="zh-CN" altLang="en-US" dirty="0"/>
              <a:t>≤ </a:t>
            </a:r>
            <a:r>
              <a:rPr lang="en-US" altLang="zh-CN" dirty="0"/>
              <a:t>1000000000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CB333-2C27-473B-8694-7EF20A59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ABE07-D0C1-40BC-BE65-BDE391E04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742849-47F6-49D9-B100-040BBF43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909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5781C-CAE4-4960-834D-EAB9D91F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81BEB2-DD82-4E7F-BF28-4904E4987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给出</a:t>
            </a:r>
            <a:r>
              <a:rPr lang="en-US" altLang="zh-CN" dirty="0"/>
              <a:t>N</a:t>
            </a:r>
            <a:r>
              <a:rPr lang="zh-CN" altLang="en-US" dirty="0"/>
              <a:t>个数</a:t>
            </a:r>
            <a:r>
              <a:rPr lang="en-US" altLang="zh-CN" dirty="0"/>
              <a:t>a1, a2, …, </a:t>
            </a:r>
            <a:r>
              <a:rPr lang="en-US" altLang="zh-CN" dirty="0" err="1"/>
              <a:t>aN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求方程∑</a:t>
            </a:r>
            <a:r>
              <a:rPr lang="en-US" altLang="zh-CN" dirty="0" err="1"/>
              <a:t>ai</a:t>
            </a:r>
            <a:r>
              <a:rPr lang="zh-CN" altLang="en-US" dirty="0"/>
              <a:t>*</a:t>
            </a:r>
            <a:r>
              <a:rPr lang="en-US" altLang="zh-CN" dirty="0"/>
              <a:t>xi = P </a:t>
            </a:r>
            <a:r>
              <a:rPr lang="zh-CN" altLang="en-US" dirty="0"/>
              <a:t>是否有自然数解。</a:t>
            </a:r>
            <a:endParaRPr lang="en-US" altLang="zh-CN" dirty="0"/>
          </a:p>
          <a:p>
            <a:r>
              <a:rPr lang="en-US" altLang="zh-CN" dirty="0"/>
              <a:t>  BZOJ </a:t>
            </a:r>
            <a:r>
              <a:rPr lang="zh-CN" altLang="en-US" dirty="0"/>
              <a:t>墨墨的等式</a:t>
            </a:r>
            <a:endParaRPr lang="en-US" altLang="zh-CN" dirty="0"/>
          </a:p>
          <a:p>
            <a:r>
              <a:rPr lang="en-US" altLang="zh-CN" dirty="0"/>
              <a:t> ·  N</a:t>
            </a:r>
            <a:r>
              <a:rPr lang="zh-CN" altLang="en-US" dirty="0"/>
              <a:t> ≤ </a:t>
            </a:r>
            <a:r>
              <a:rPr lang="en-US" altLang="zh-CN" dirty="0"/>
              <a:t>50</a:t>
            </a:r>
            <a:r>
              <a:rPr lang="zh-CN" altLang="en-US" dirty="0"/>
              <a:t>， </a:t>
            </a:r>
            <a:r>
              <a:rPr lang="en-US" altLang="zh-CN" dirty="0"/>
              <a:t>P </a:t>
            </a:r>
            <a:r>
              <a:rPr lang="zh-CN" altLang="en-US" dirty="0"/>
              <a:t>≤ </a:t>
            </a:r>
            <a:r>
              <a:rPr lang="en-US" altLang="zh-CN" dirty="0"/>
              <a:t>10</a:t>
            </a:r>
            <a:r>
              <a:rPr lang="en-US" altLang="zh-CN" baseline="30000" dirty="0"/>
              <a:t>18 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r>
              <a:rPr lang="en-US" altLang="zh-CN" dirty="0" err="1"/>
              <a:t>ai</a:t>
            </a:r>
            <a:r>
              <a:rPr lang="en-US" altLang="zh-CN" dirty="0"/>
              <a:t> </a:t>
            </a:r>
            <a:r>
              <a:rPr lang="zh-CN" altLang="en-US" dirty="0"/>
              <a:t>≤ </a:t>
            </a:r>
            <a:r>
              <a:rPr lang="en-US" altLang="zh-CN" dirty="0"/>
              <a:t>100000.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BD4362-B7F3-4709-A9D1-F9B96CF6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3C909F-7F11-4578-919E-D88EA161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F7BC9-D9F5-41C3-937E-13C9DCB1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180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AA698-3A37-4118-91D3-FC00352F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08DD9B-8E33-4D0E-A4A8-479213DF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找到最小的</a:t>
            </a:r>
            <a:r>
              <a:rPr lang="en-US" altLang="zh-CN" dirty="0" err="1"/>
              <a:t>ai</a:t>
            </a:r>
            <a:r>
              <a:rPr lang="zh-CN" altLang="en-US" dirty="0"/>
              <a:t>， 建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ai-1</a:t>
            </a:r>
            <a:r>
              <a:rPr lang="zh-CN" altLang="en-US" dirty="0"/>
              <a:t>这</a:t>
            </a:r>
            <a:r>
              <a:rPr lang="en-US" altLang="zh-CN" dirty="0" err="1"/>
              <a:t>ai</a:t>
            </a:r>
            <a:r>
              <a:rPr lang="zh-CN" altLang="en-US" dirty="0"/>
              <a:t>个点。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</a:t>
            </a:r>
            <a:r>
              <a:rPr lang="zh-CN" altLang="en-US" dirty="0"/>
              <a:t>每个点</a:t>
            </a:r>
            <a:r>
              <a:rPr lang="en-US" altLang="zh-CN" dirty="0"/>
              <a:t>x</a:t>
            </a:r>
            <a:r>
              <a:rPr lang="zh-CN" altLang="en-US" dirty="0"/>
              <a:t>向</a:t>
            </a:r>
            <a:r>
              <a:rPr lang="en-US" altLang="zh-CN" dirty="0"/>
              <a:t>(</a:t>
            </a:r>
            <a:r>
              <a:rPr lang="en-US" altLang="zh-CN" dirty="0" err="1"/>
              <a:t>x+ay</a:t>
            </a:r>
            <a:r>
              <a:rPr lang="en-US" altLang="zh-CN" dirty="0"/>
              <a:t>)%</a:t>
            </a:r>
            <a:r>
              <a:rPr lang="en-US" altLang="zh-CN" dirty="0" err="1"/>
              <a:t>ai</a:t>
            </a:r>
            <a:r>
              <a:rPr lang="zh-CN" altLang="en-US" dirty="0"/>
              <a:t>连一条长度为</a:t>
            </a:r>
            <a:r>
              <a:rPr lang="en-US" altLang="zh-CN" dirty="0"/>
              <a:t>ay</a:t>
            </a:r>
            <a:r>
              <a:rPr lang="zh-CN" altLang="en-US" dirty="0"/>
              <a:t>的边</a:t>
            </a:r>
            <a:r>
              <a:rPr lang="en-US" altLang="zh-CN" dirty="0"/>
              <a:t>(for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zh-CN" altLang="en-US" dirty="0"/>
              <a:t> </a:t>
            </a:r>
            <a:r>
              <a:rPr lang="en-US" altLang="zh-CN" dirty="0"/>
              <a:t>!=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 · </a:t>
            </a:r>
            <a:r>
              <a:rPr lang="zh-CN" altLang="en-US" dirty="0"/>
              <a:t>跑一遍以</a:t>
            </a:r>
            <a:r>
              <a:rPr lang="en-US" altLang="zh-CN" dirty="0"/>
              <a:t>0 </a:t>
            </a:r>
            <a:r>
              <a:rPr lang="zh-CN" altLang="en-US" dirty="0"/>
              <a:t>为源点的单源最短路即可。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CA15E-2666-4B40-B9B9-13EB3578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20409-CEB8-4798-AD8F-14A62C18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D2F96-4925-415A-A4C9-9709F78C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05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65B7F-15FD-46DF-A8A0-636B85FD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A30D5-36D6-4562-AFC7-132B07486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所以有一说一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NOIP</a:t>
            </a:r>
            <a:r>
              <a:rPr lang="zh-CN" altLang="en-US" dirty="0"/>
              <a:t>的第一天第一题， 你实在不会做，为什么不想想最短路呢？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C743E-26CE-4768-B9F3-D4E7B442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8C2FF-0A03-4B95-A6BD-B50B5DB7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2B41B-D58E-4B6D-BDA0-EC761CCD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605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15CEE-8A2D-4909-806B-A141997F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一些玄学的东西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2D770E-ACCA-434F-860C-4D649B9B1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· K</a:t>
            </a:r>
            <a:r>
              <a:rPr lang="zh-CN" altLang="en-US" dirty="0"/>
              <a:t>短路的算法</a:t>
            </a:r>
            <a:r>
              <a:rPr lang="en-US" altLang="zh-CN" dirty="0"/>
              <a:t>—— A* </a:t>
            </a:r>
            <a:r>
              <a:rPr lang="zh-CN" altLang="en-US" dirty="0"/>
              <a:t>以及 左偏树（事实上支持维护偏序的可持久化数据结构都可以）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· </a:t>
            </a:r>
            <a:r>
              <a:rPr lang="zh-CN" altLang="en-US" dirty="0"/>
              <a:t>且由此我们可以发现，从</a:t>
            </a:r>
            <a:r>
              <a:rPr lang="en-US" altLang="zh-CN" dirty="0"/>
              <a:t>S</a:t>
            </a:r>
            <a:r>
              <a:rPr lang="zh-CN" altLang="en-US" dirty="0"/>
              <a:t>到</a:t>
            </a:r>
            <a:r>
              <a:rPr lang="en-US" altLang="zh-CN" dirty="0"/>
              <a:t>T</a:t>
            </a:r>
            <a:r>
              <a:rPr lang="zh-CN" altLang="en-US" dirty="0"/>
              <a:t>的次短路一定只会走一条不在最短路树上的边。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	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E40D5F-70FD-40BF-BF5E-7636401C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C69EC-4AC6-4D62-9B08-FAE00D2D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634F8-7668-4701-9C55-C1FD15EE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738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BDBE7-3FF6-4D2C-87A3-D675B413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BAA03-B60A-4487-8D9F-6189A8F56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· </a:t>
            </a:r>
            <a:r>
              <a:rPr lang="zh-CN" altLang="en-US" dirty="0"/>
              <a:t>给定一棵</a:t>
            </a:r>
            <a:r>
              <a:rPr lang="en-US" altLang="zh-CN" dirty="0"/>
              <a:t>N</a:t>
            </a:r>
            <a:r>
              <a:rPr lang="zh-CN" altLang="en-US" dirty="0"/>
              <a:t>个点的树，求根所在的权值第</a:t>
            </a:r>
            <a:r>
              <a:rPr lang="en-US" altLang="zh-CN" dirty="0"/>
              <a:t>K</a:t>
            </a:r>
            <a:r>
              <a:rPr lang="zh-CN" altLang="en-US" dirty="0"/>
              <a:t>大的联通块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· N</a:t>
            </a:r>
            <a:r>
              <a:rPr lang="zh-CN" altLang="en-US" dirty="0"/>
              <a:t>， </a:t>
            </a:r>
            <a:r>
              <a:rPr lang="en-US" altLang="zh-CN" dirty="0"/>
              <a:t>K </a:t>
            </a:r>
            <a:r>
              <a:rPr lang="zh-CN" altLang="en-US" dirty="0"/>
              <a:t>≤ </a:t>
            </a:r>
            <a:r>
              <a:rPr lang="en-US" altLang="zh-CN" dirty="0"/>
              <a:t>100000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88761-5233-4965-9928-E3E6B887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714AD4-A4FA-4AA7-A465-320924D2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5D7AC-E785-447B-AA1D-57357A4A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59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1DBFE-8AF5-41DA-9373-659B30E6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C7DE45-0790-455B-BE84-6C848232E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把树画在平面上，走过一条边的代价就是砍掉的子树的权值，于是就变成一道</a:t>
            </a:r>
            <a:r>
              <a:rPr lang="en-US" altLang="zh-CN" dirty="0"/>
              <a:t>K</a:t>
            </a:r>
            <a:r>
              <a:rPr lang="zh-CN" altLang="en-US" dirty="0"/>
              <a:t>短路问题了。</a:t>
            </a:r>
            <a:endParaRPr lang="en-US" altLang="zh-CN" dirty="0"/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怎么把树画在平面上呢？ 大家来思考一下！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F9C731-2002-4C9D-BFB6-F5DE23DE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6A119-0BD8-4961-932D-EB7E21D1A2E9}" type="datetime1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749FD9-B9B4-4991-8811-5E03B1B8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清华大学交叉信息院 杨景钦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F5A10-CAD7-4E42-83B5-DE7577CF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84A7-F441-4DD9-B3B7-B28EBFA16A7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329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535</TotalTime>
  <Words>1987</Words>
  <Application>Microsoft Office PowerPoint</Application>
  <PresentationFormat>宽屏</PresentationFormat>
  <Paragraphs>219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等线</vt:lpstr>
      <vt:lpstr>Tw Cen MT</vt:lpstr>
      <vt:lpstr>Tw Cen MT Condensed</vt:lpstr>
      <vt:lpstr>Wingdings 3</vt:lpstr>
      <vt:lpstr>积分</vt:lpstr>
      <vt:lpstr>最短路专题选讲</vt:lpstr>
      <vt:lpstr>基础知识</vt:lpstr>
      <vt:lpstr>基础知识</vt:lpstr>
      <vt:lpstr>例题</vt:lpstr>
      <vt:lpstr>进阶技巧</vt:lpstr>
      <vt:lpstr>例题</vt:lpstr>
      <vt:lpstr>进阶技巧</vt:lpstr>
      <vt:lpstr>SolutIon1</vt:lpstr>
      <vt:lpstr>SOLUTION2</vt:lpstr>
      <vt:lpstr>例题</vt:lpstr>
      <vt:lpstr>进阶技巧</vt:lpstr>
      <vt:lpstr>SOLUTION </vt:lpstr>
      <vt:lpstr>sample</vt:lpstr>
      <vt:lpstr>进阶技巧</vt:lpstr>
      <vt:lpstr>例题</vt:lpstr>
      <vt:lpstr>例题</vt:lpstr>
      <vt:lpstr>进阶技巧</vt:lpstr>
      <vt:lpstr>SOLUTION</vt:lpstr>
      <vt:lpstr>SOLUTION</vt:lpstr>
      <vt:lpstr>SOLUTION</vt:lpstr>
      <vt:lpstr>进阶技巧</vt:lpstr>
      <vt:lpstr>例题</vt:lpstr>
      <vt:lpstr>例题</vt:lpstr>
      <vt:lpstr>进阶技巧</vt:lpstr>
      <vt:lpstr>SOLUTION</vt:lpstr>
      <vt:lpstr>接上</vt:lpstr>
      <vt:lpstr>一些玄学的东西</vt:lpstr>
      <vt:lpstr>例题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最短路专题选讲</dc:title>
  <dc:creator>杨景钦</dc:creator>
  <cp:lastModifiedBy> </cp:lastModifiedBy>
  <cp:revision>34</cp:revision>
  <dcterms:created xsi:type="dcterms:W3CDTF">2017-12-03T06:33:48Z</dcterms:created>
  <dcterms:modified xsi:type="dcterms:W3CDTF">2026-08-16T11:11:56Z</dcterms:modified>
</cp:coreProperties>
</file>