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339" r:id="rId3"/>
    <p:sldId id="327" r:id="rId4"/>
    <p:sldId id="334" r:id="rId5"/>
    <p:sldId id="336" r:id="rId6"/>
    <p:sldId id="329" r:id="rId7"/>
    <p:sldId id="330" r:id="rId8"/>
    <p:sldId id="333" r:id="rId9"/>
    <p:sldId id="328" r:id="rId10"/>
    <p:sldId id="331" r:id="rId11"/>
    <p:sldId id="335" r:id="rId12"/>
    <p:sldId id="332" r:id="rId13"/>
    <p:sldId id="337" r:id="rId14"/>
    <p:sldId id="338" r:id="rId15"/>
    <p:sldId id="340" r:id="rId16"/>
    <p:sldId id="341" r:id="rId17"/>
    <p:sldId id="342" r:id="rId18"/>
    <p:sldId id="343" r:id="rId19"/>
    <p:sldId id="345" r:id="rId20"/>
    <p:sldId id="344" r:id="rId21"/>
    <p:sldId id="347" r:id="rId22"/>
    <p:sldId id="346" r:id="rId23"/>
    <p:sldId id="351" r:id="rId24"/>
    <p:sldId id="348" r:id="rId25"/>
    <p:sldId id="350" r:id="rId26"/>
    <p:sldId id="352" r:id="rId27"/>
    <p:sldId id="349" r:id="rId28"/>
    <p:sldId id="326"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DC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p:cViewPr varScale="1">
        <p:scale>
          <a:sx n="86" d="100"/>
          <a:sy n="86" d="100"/>
        </p:scale>
        <p:origin x="226" y="58"/>
      </p:cViewPr>
      <p:guideLst/>
    </p:cSldViewPr>
  </p:slideViewPr>
  <p:notesTextViewPr>
    <p:cViewPr>
      <p:scale>
        <a:sx n="1" d="1"/>
        <a:sy n="1" d="1"/>
      </p:scale>
      <p:origin x="0" y="0"/>
    </p:cViewPr>
  </p:notesTextViewPr>
  <p:notesViewPr>
    <p:cSldViewPr snapToGrid="0">
      <p:cViewPr varScale="1">
        <p:scale>
          <a:sx n="69" d="100"/>
          <a:sy n="69" d="100"/>
        </p:scale>
        <p:origin x="2722"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9332A80-088B-40CA-AE6B-D8876FA508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C9E40392-44AD-489D-9C09-4D405DABAA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F014-B8B6-493E-B306-470E6B00510A}" type="datetimeFigureOut">
              <a:rPr lang="zh-CN" altLang="en-US" smtClean="0"/>
              <a:t>2022/7/4</a:t>
            </a:fld>
            <a:endParaRPr lang="zh-CN" altLang="en-US"/>
          </a:p>
        </p:txBody>
      </p:sp>
      <p:sp>
        <p:nvSpPr>
          <p:cNvPr id="4" name="页脚占位符 3">
            <a:extLst>
              <a:ext uri="{FF2B5EF4-FFF2-40B4-BE49-F238E27FC236}">
                <a16:creationId xmlns:a16="http://schemas.microsoft.com/office/drawing/2014/main" id="{7B1F04C6-D893-4098-8078-27CA7BBA88D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BCBE21D0-2FCA-4F9D-B945-101B068E89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40B9CC-17B2-4025-B51C-62430D75BF51}" type="slidenum">
              <a:rPr lang="zh-CN" altLang="en-US" smtClean="0"/>
              <a:t>‹#›</a:t>
            </a:fld>
            <a:endParaRPr lang="zh-CN" altLang="en-US"/>
          </a:p>
        </p:txBody>
      </p:sp>
    </p:spTree>
    <p:extLst>
      <p:ext uri="{BB962C8B-B14F-4D97-AF65-F5344CB8AC3E}">
        <p14:creationId xmlns:p14="http://schemas.microsoft.com/office/powerpoint/2010/main" val="12489186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5B188-B2A1-458E-A206-6D0EFF874AA3}" type="datetimeFigureOut">
              <a:rPr lang="zh-CN" altLang="en-US" smtClean="0"/>
              <a:t>2022/7/4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AFDB6A-F728-4D54-BE9A-63B5A7064089}" type="slidenum">
              <a:rPr lang="zh-CN" altLang="en-US" smtClean="0"/>
              <a:t>‹#›</a:t>
            </a:fld>
            <a:endParaRPr lang="zh-CN" altLang="en-US"/>
          </a:p>
        </p:txBody>
      </p:sp>
    </p:spTree>
    <p:extLst>
      <p:ext uri="{BB962C8B-B14F-4D97-AF65-F5344CB8AC3E}">
        <p14:creationId xmlns:p14="http://schemas.microsoft.com/office/powerpoint/2010/main" val="2239487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E8BD1F-79DA-4A95-8716-5BEEF2CD52E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7820038-F59C-4F55-B6C0-7278D9662D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FA46798-3A26-4B26-AA39-90256FD01893}"/>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5" name="页脚占位符 4">
            <a:extLst>
              <a:ext uri="{FF2B5EF4-FFF2-40B4-BE49-F238E27FC236}">
                <a16:creationId xmlns:a16="http://schemas.microsoft.com/office/drawing/2014/main" id="{8BFE3AF0-690B-4347-BB4B-9626231B5F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1CA933-CDCD-4DC2-8FC6-D4F370A531DB}"/>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263639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400863-74D4-4498-9E7D-FE0B11720341}"/>
              </a:ext>
            </a:extLst>
          </p:cNvPr>
          <p:cNvSpPr>
            <a:spLocks noGrp="1"/>
          </p:cNvSpPr>
          <p:nvPr>
            <p:ph type="title"/>
          </p:nvPr>
        </p:nvSpPr>
        <p:spPr>
          <a:xfrm>
            <a:off x="838200" y="365125"/>
            <a:ext cx="10515600" cy="784945"/>
          </a:xfrm>
        </p:spPr>
        <p:txBody>
          <a:bodyPr>
            <a:normAutofit/>
          </a:bodyPr>
          <a:lstStyle>
            <a:lvl1pPr>
              <a:defRPr sz="3200">
                <a:solidFill>
                  <a:srgbClr val="DCFFFF"/>
                </a:solidFill>
                <a:effectLst>
                  <a:glow rad="63500">
                    <a:schemeClr val="accent5">
                      <a:satMod val="175000"/>
                      <a:alpha val="40000"/>
                    </a:schemeClr>
                  </a:glow>
                </a:effectLs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80CCC939-917C-4107-B561-6C06449BFE9C}"/>
              </a:ext>
            </a:extLst>
          </p:cNvPr>
          <p:cNvSpPr>
            <a:spLocks noGrp="1"/>
          </p:cNvSpPr>
          <p:nvPr>
            <p:ph idx="1"/>
          </p:nvPr>
        </p:nvSpPr>
        <p:spPr>
          <a:xfrm>
            <a:off x="838200" y="1150070"/>
            <a:ext cx="10515600" cy="5618376"/>
          </a:xfrm>
        </p:spPr>
        <p:txBody>
          <a:bodyPr>
            <a:normAutofit/>
          </a:bodyPr>
          <a:lstStyle>
            <a:lvl1pPr marL="0" indent="0">
              <a:buFontTx/>
              <a:buNone/>
              <a:defRPr sz="2400">
                <a:solidFill>
                  <a:schemeClr val="accent5">
                    <a:lumMod val="20000"/>
                    <a:lumOff val="80000"/>
                  </a:schemeClr>
                </a:solidFill>
              </a:defRPr>
            </a:lvl1pPr>
            <a:lvl2pPr marL="457200" indent="0">
              <a:buFontTx/>
              <a:buNone/>
              <a:defRPr sz="2000">
                <a:solidFill>
                  <a:schemeClr val="accent5">
                    <a:lumMod val="20000"/>
                    <a:lumOff val="80000"/>
                  </a:schemeClr>
                </a:solidFill>
              </a:defRPr>
            </a:lvl2pPr>
            <a:lvl3pPr marL="914400" indent="0">
              <a:buFontTx/>
              <a:buNone/>
              <a:defRPr sz="1800">
                <a:solidFill>
                  <a:schemeClr val="accent5">
                    <a:lumMod val="20000"/>
                    <a:lumOff val="80000"/>
                  </a:schemeClr>
                </a:solidFill>
              </a:defRPr>
            </a:lvl3pPr>
            <a:lvl4pPr marL="1371600" indent="0">
              <a:buFontTx/>
              <a:buNone/>
              <a:defRPr sz="1600">
                <a:solidFill>
                  <a:schemeClr val="accent5">
                    <a:lumMod val="20000"/>
                    <a:lumOff val="80000"/>
                  </a:schemeClr>
                </a:solidFill>
              </a:defRPr>
            </a:lvl4pPr>
            <a:lvl5pPr marL="1828800" indent="0">
              <a:buFontTx/>
              <a:buNone/>
              <a:defRPr sz="1600">
                <a:solidFill>
                  <a:schemeClr val="accent5">
                    <a:lumMod val="20000"/>
                    <a:lumOff val="80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文本框 6">
            <a:extLst>
              <a:ext uri="{FF2B5EF4-FFF2-40B4-BE49-F238E27FC236}">
                <a16:creationId xmlns:a16="http://schemas.microsoft.com/office/drawing/2014/main" id="{74BC1149-BDA8-48DC-B1B8-F4754A8ABE33}"/>
              </a:ext>
            </a:extLst>
          </p:cNvPr>
          <p:cNvSpPr txBox="1"/>
          <p:nvPr userDrawn="1"/>
        </p:nvSpPr>
        <p:spPr>
          <a:xfrm>
            <a:off x="0" y="0"/>
            <a:ext cx="12192000" cy="369332"/>
          </a:xfrm>
          <a:prstGeom prst="rect">
            <a:avLst/>
          </a:prstGeom>
          <a:noFill/>
        </p:spPr>
        <p:txBody>
          <a:bodyPr wrap="square" rtlCol="0">
            <a:spAutoFit/>
          </a:bodyPr>
          <a:lstStyle/>
          <a:p>
            <a:pPr algn="r"/>
            <a:r>
              <a:rPr lang="en-US" altLang="zh-CN" i="0" dirty="0">
                <a:solidFill>
                  <a:schemeClr val="accent1">
                    <a:lumMod val="20000"/>
                    <a:lumOff val="80000"/>
                  </a:schemeClr>
                </a:solidFill>
                <a:latin typeface="+mn-lt"/>
                <a:ea typeface="杨任东竹石体-Semibold" panose="02000000000000000000" pitchFamily="2" charset="-122"/>
              </a:rPr>
              <a:t>Sorting and Sequence - A Set of Combinatorial Problems, by </a:t>
            </a:r>
            <a:r>
              <a:rPr lang="en-US" altLang="zh-CN" i="1" dirty="0">
                <a:solidFill>
                  <a:schemeClr val="accent1">
                    <a:lumMod val="20000"/>
                    <a:lumOff val="80000"/>
                  </a:schemeClr>
                </a:solidFill>
                <a:latin typeface="Monotype Corsiva" panose="03010101010201010101" pitchFamily="66" charset="0"/>
                <a:ea typeface="杨任东竹石体-Semibold" panose="02000000000000000000" pitchFamily="2" charset="-122"/>
              </a:rPr>
              <a:t>CommonAnts</a:t>
            </a:r>
            <a:endParaRPr lang="zh-CN" altLang="en-US" i="1" dirty="0">
              <a:solidFill>
                <a:schemeClr val="accent1">
                  <a:lumMod val="20000"/>
                  <a:lumOff val="80000"/>
                </a:schemeClr>
              </a:solidFill>
              <a:latin typeface="Monotype Corsiva" panose="03010101010201010101" pitchFamily="66" charset="0"/>
              <a:ea typeface="杨任东竹石体-Semibold" panose="02000000000000000000" pitchFamily="2" charset="-122"/>
            </a:endParaRPr>
          </a:p>
        </p:txBody>
      </p:sp>
    </p:spTree>
    <p:extLst>
      <p:ext uri="{BB962C8B-B14F-4D97-AF65-F5344CB8AC3E}">
        <p14:creationId xmlns:p14="http://schemas.microsoft.com/office/powerpoint/2010/main" val="1753234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0C8883-5CEC-4F8C-B172-7685CABC21B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6AABEB9-D46B-49D9-A47D-57BB8F10E6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9D8D1B2-8C1B-4496-BE35-DE428E4F2736}"/>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5" name="页脚占位符 4">
            <a:extLst>
              <a:ext uri="{FF2B5EF4-FFF2-40B4-BE49-F238E27FC236}">
                <a16:creationId xmlns:a16="http://schemas.microsoft.com/office/drawing/2014/main" id="{E035AC72-A33A-4DEB-8FC1-0A53D994CE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970122-5373-44BC-8A42-4BD67545402D}"/>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3456149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9A039-A4B5-44C7-B6A8-2C7EE582B2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F4FF33A-5393-4E53-A8F9-FD027127A9C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C1C99550-D56D-4B14-A7ED-F630C7392F5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26A02A79-25AA-4D02-A7F3-BB799F6CDCBA}"/>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6" name="页脚占位符 5">
            <a:extLst>
              <a:ext uri="{FF2B5EF4-FFF2-40B4-BE49-F238E27FC236}">
                <a16:creationId xmlns:a16="http://schemas.microsoft.com/office/drawing/2014/main" id="{1768F123-EC40-46B2-B499-F3BCBF094BB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19A51B-BE6E-46AD-A497-85195868D5C3}"/>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117925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EA3E47-2F25-415F-95A9-51185B78940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DA4DBE3-552B-4112-9624-063A3BCB0B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49D8EEDD-EC3C-4C0F-81B3-B9BCEB0C08D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94389AA-8C83-4D9D-BBA1-F27D7A0C93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6DF852F-BDC2-4185-A552-9AEBCCAAC57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12A854CF-C271-4924-BD9F-637FAB7EB135}"/>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8" name="页脚占位符 7">
            <a:extLst>
              <a:ext uri="{FF2B5EF4-FFF2-40B4-BE49-F238E27FC236}">
                <a16:creationId xmlns:a16="http://schemas.microsoft.com/office/drawing/2014/main" id="{6DE0D7E4-A36B-4F53-B7C1-D7F2A8252CF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09FE07D-EEEC-4911-B8CB-9996272CF032}"/>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131683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599853-EAE9-4ED6-9CB5-1EF00CFDF2C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E25271C-272B-4225-B532-5404DF2032AC}"/>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4" name="页脚占位符 3">
            <a:extLst>
              <a:ext uri="{FF2B5EF4-FFF2-40B4-BE49-F238E27FC236}">
                <a16:creationId xmlns:a16="http://schemas.microsoft.com/office/drawing/2014/main" id="{194C3E72-2B59-4018-971C-D478EB08560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A5C6965-E254-417D-A61F-93C2F7CDFEC2}"/>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2767527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A206AE-3D06-4574-B1FF-2EDE345FD57A}"/>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3" name="页脚占位符 2">
            <a:extLst>
              <a:ext uri="{FF2B5EF4-FFF2-40B4-BE49-F238E27FC236}">
                <a16:creationId xmlns:a16="http://schemas.microsoft.com/office/drawing/2014/main" id="{BAC5C795-5743-4589-9FA6-62A1F525351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1AE7BBF-9D53-4634-AA0A-2F00B8B22442}"/>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97492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9B84F1-2C80-468A-980E-6F1F6EBD6A0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60CA208-FF41-4379-A74B-2242150AD4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C1200777-23B6-47A7-99A3-FC9809F70D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59DFA3F-D28A-4C04-94B9-A02CB77481C9}"/>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6" name="页脚占位符 5">
            <a:extLst>
              <a:ext uri="{FF2B5EF4-FFF2-40B4-BE49-F238E27FC236}">
                <a16:creationId xmlns:a16="http://schemas.microsoft.com/office/drawing/2014/main" id="{FC1CB886-EA64-4F97-B17F-8CE617E9E1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AC622E-0A81-488D-ADB6-B543C43F1E54}"/>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145180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DBC1C-62AE-4AC2-A03E-78F84F895B7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9F4A9DD-210A-4CBE-A5DF-FF6A69B72E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437E480-6DF5-4246-8491-383F202AD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7492FEB-6C71-4F67-A5E0-BBE608D64115}"/>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6" name="页脚占位符 5">
            <a:extLst>
              <a:ext uri="{FF2B5EF4-FFF2-40B4-BE49-F238E27FC236}">
                <a16:creationId xmlns:a16="http://schemas.microsoft.com/office/drawing/2014/main" id="{5B49562B-3B22-41B6-A53F-726C3DEA63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0F5743-562B-431A-B3DF-DDAFFBD09786}"/>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2288464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7167DC-4A3E-49CE-80F5-FD4C7E7D53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576CADB-3F08-43BA-BC96-8DD9A0A21251}"/>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B4E768E-0A30-4DBE-9B1D-FC1F4F612BB1}"/>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5" name="页脚占位符 4">
            <a:extLst>
              <a:ext uri="{FF2B5EF4-FFF2-40B4-BE49-F238E27FC236}">
                <a16:creationId xmlns:a16="http://schemas.microsoft.com/office/drawing/2014/main" id="{8D5035E2-A3BC-4156-A84F-027BC36CEB8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719EA3-4528-443C-85E9-8E7628A1B690}"/>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1471684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1A55D5B-1B0C-450A-9EE7-FF26DB3B87E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33982B7-976A-4FA7-AED5-B106E15D5A3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CB5820F-4231-4C25-B726-17C5BB968A16}"/>
              </a:ext>
            </a:extLst>
          </p:cNvPr>
          <p:cNvSpPr>
            <a:spLocks noGrp="1"/>
          </p:cNvSpPr>
          <p:nvPr>
            <p:ph type="dt" sz="half" idx="10"/>
          </p:nvPr>
        </p:nvSpPr>
        <p:spPr/>
        <p:txBody>
          <a:bodyPr/>
          <a:lstStyle/>
          <a:p>
            <a:fld id="{67493590-F630-43CB-92B2-D39B446BC524}" type="datetimeFigureOut">
              <a:rPr lang="zh-CN" altLang="en-US" smtClean="0"/>
              <a:t>2022/7/4</a:t>
            </a:fld>
            <a:endParaRPr lang="zh-CN" altLang="en-US"/>
          </a:p>
        </p:txBody>
      </p:sp>
      <p:sp>
        <p:nvSpPr>
          <p:cNvPr id="5" name="页脚占位符 4">
            <a:extLst>
              <a:ext uri="{FF2B5EF4-FFF2-40B4-BE49-F238E27FC236}">
                <a16:creationId xmlns:a16="http://schemas.microsoft.com/office/drawing/2014/main" id="{0D0142B0-F045-4A35-ADD7-4AAD11E5E2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4CC7572-FFB4-4545-8F62-7A4E4DE5B242}"/>
              </a:ext>
            </a:extLst>
          </p:cNvPr>
          <p:cNvSpPr>
            <a:spLocks noGrp="1"/>
          </p:cNvSpPr>
          <p:nvPr>
            <p:ph type="sldNum" sz="quarter" idx="12"/>
          </p:nvPr>
        </p:nvSpPr>
        <p:spPr/>
        <p:txBody>
          <a:body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2883067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brightnessContrast bright="-3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C0DBC0A-2B6F-4259-BE7B-2D623C76D1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0D83958-C82E-4053-94BD-ECACCC10B1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1D305C3-CE2B-476F-A544-B76555CD7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493590-F630-43CB-92B2-D39B446BC524}" type="datetimeFigureOut">
              <a:rPr lang="zh-CN" altLang="en-US" smtClean="0"/>
              <a:t>2022/7/4</a:t>
            </a:fld>
            <a:endParaRPr lang="zh-CN" altLang="en-US"/>
          </a:p>
        </p:txBody>
      </p:sp>
      <p:sp>
        <p:nvSpPr>
          <p:cNvPr id="5" name="页脚占位符 4">
            <a:extLst>
              <a:ext uri="{FF2B5EF4-FFF2-40B4-BE49-F238E27FC236}">
                <a16:creationId xmlns:a16="http://schemas.microsoft.com/office/drawing/2014/main" id="{7754A449-5475-4D93-9BB9-F651AA934D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4F1F064-27DA-4E56-993E-61220D2935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2DA5C-61F4-4A37-BBF1-036D10A146A3}" type="slidenum">
              <a:rPr lang="zh-CN" altLang="en-US" smtClean="0"/>
              <a:t>‹#›</a:t>
            </a:fld>
            <a:endParaRPr lang="zh-CN" altLang="en-US"/>
          </a:p>
        </p:txBody>
      </p:sp>
    </p:spTree>
    <p:extLst>
      <p:ext uri="{BB962C8B-B14F-4D97-AF65-F5344CB8AC3E}">
        <p14:creationId xmlns:p14="http://schemas.microsoft.com/office/powerpoint/2010/main" val="1577256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F1ECED-3134-4809-B136-D1AAEA7CAC32}"/>
              </a:ext>
            </a:extLst>
          </p:cNvPr>
          <p:cNvSpPr>
            <a:spLocks noGrp="1"/>
          </p:cNvSpPr>
          <p:nvPr>
            <p:ph type="ctrTitle"/>
          </p:nvPr>
        </p:nvSpPr>
        <p:spPr>
          <a:xfrm>
            <a:off x="1524000" y="2776538"/>
            <a:ext cx="9144000" cy="1381188"/>
          </a:xfrm>
        </p:spPr>
        <p:txBody>
          <a:bodyPr anchor="ctr">
            <a:normAutofit/>
          </a:bodyPr>
          <a:lstStyle/>
          <a:p>
            <a:r>
              <a:rPr lang="en-US" altLang="zh-CN" sz="4000" dirty="0">
                <a:solidFill>
                  <a:srgbClr val="DCFFFF"/>
                </a:solidFill>
                <a:effectLst>
                  <a:glow rad="63500">
                    <a:schemeClr val="accent5">
                      <a:satMod val="175000"/>
                      <a:alpha val="40000"/>
                    </a:schemeClr>
                  </a:glow>
                </a:effectLst>
              </a:rPr>
              <a:t>Sorting and Sequence</a:t>
            </a:r>
            <a:br>
              <a:rPr lang="en-US" altLang="zh-CN" sz="4000" dirty="0">
                <a:solidFill>
                  <a:srgbClr val="DCFFFF"/>
                </a:solidFill>
                <a:effectLst>
                  <a:glow rad="63500">
                    <a:schemeClr val="accent5">
                      <a:satMod val="175000"/>
                      <a:alpha val="40000"/>
                    </a:schemeClr>
                  </a:glow>
                </a:effectLst>
              </a:rPr>
            </a:br>
            <a:r>
              <a:rPr lang="en-US" altLang="zh-CN" sz="2800" dirty="0">
                <a:solidFill>
                  <a:srgbClr val="DCFFFF"/>
                </a:solidFill>
                <a:effectLst>
                  <a:glow rad="63500">
                    <a:schemeClr val="accent5">
                      <a:satMod val="175000"/>
                      <a:alpha val="40000"/>
                    </a:schemeClr>
                  </a:glow>
                </a:effectLst>
              </a:rPr>
              <a:t>A Set of Combinatorial Problems</a:t>
            </a:r>
            <a:endParaRPr lang="zh-CN" altLang="en-US" sz="2800" dirty="0">
              <a:solidFill>
                <a:srgbClr val="DCFFFF"/>
              </a:solidFill>
              <a:effectLst>
                <a:glow rad="63500">
                  <a:schemeClr val="accent5">
                    <a:satMod val="175000"/>
                    <a:alpha val="40000"/>
                  </a:schemeClr>
                </a:glow>
              </a:effectLst>
            </a:endParaRPr>
          </a:p>
        </p:txBody>
      </p:sp>
      <p:sp>
        <p:nvSpPr>
          <p:cNvPr id="3" name="副标题 2">
            <a:extLst>
              <a:ext uri="{FF2B5EF4-FFF2-40B4-BE49-F238E27FC236}">
                <a16:creationId xmlns:a16="http://schemas.microsoft.com/office/drawing/2014/main" id="{FE712A42-070A-4A3D-BD56-F4F54C8B467F}"/>
              </a:ext>
            </a:extLst>
          </p:cNvPr>
          <p:cNvSpPr>
            <a:spLocks noGrp="1"/>
          </p:cNvSpPr>
          <p:nvPr>
            <p:ph type="subTitle" idx="1"/>
          </p:nvPr>
        </p:nvSpPr>
        <p:spPr>
          <a:xfrm>
            <a:off x="1524000" y="4157726"/>
            <a:ext cx="9144000" cy="762000"/>
          </a:xfrm>
        </p:spPr>
        <p:txBody>
          <a:bodyPr>
            <a:normAutofit/>
          </a:bodyPr>
          <a:lstStyle/>
          <a:p>
            <a:r>
              <a:rPr kumimoji="0" lang="en-US" altLang="zh-CN" sz="1800" b="0" i="1" u="none" strike="noStrike" kern="1200" cap="none" spc="0" normalizeH="0" baseline="0" noProof="0" dirty="0">
                <a:ln>
                  <a:noFill/>
                </a:ln>
                <a:solidFill>
                  <a:srgbClr val="DEEBF7"/>
                </a:solidFill>
                <a:effectLst/>
                <a:uLnTx/>
                <a:uFillTx/>
                <a:latin typeface="Monotype Corsiva" panose="03010101010201010101" pitchFamily="66" charset="0"/>
                <a:ea typeface="黑体"/>
                <a:cs typeface="+mn-cs"/>
              </a:rPr>
              <a:t>CommonAnts (Liu Cheng-</a:t>
            </a:r>
            <a:r>
              <a:rPr kumimoji="0" lang="en-US" altLang="zh-CN" sz="1800" b="0" i="1" u="none" strike="noStrike" kern="1200" cap="none" spc="0" normalizeH="0" baseline="0" noProof="0" dirty="0" err="1">
                <a:ln>
                  <a:noFill/>
                </a:ln>
                <a:solidFill>
                  <a:srgbClr val="DEEBF7"/>
                </a:solidFill>
                <a:effectLst/>
                <a:uLnTx/>
                <a:uFillTx/>
                <a:latin typeface="Monotype Corsiva" panose="03010101010201010101" pitchFamily="66" charset="0"/>
                <a:ea typeface="黑体"/>
                <a:cs typeface="+mn-cs"/>
              </a:rPr>
              <a:t>ao</a:t>
            </a:r>
            <a:r>
              <a:rPr kumimoji="0" lang="en-US" altLang="zh-CN" sz="1800" b="0" i="1" u="none" strike="noStrike" kern="1200" cap="none" spc="0" normalizeH="0" baseline="0" noProof="0" dirty="0">
                <a:ln>
                  <a:noFill/>
                </a:ln>
                <a:solidFill>
                  <a:srgbClr val="DEEBF7"/>
                </a:solidFill>
                <a:effectLst/>
                <a:uLnTx/>
                <a:uFillTx/>
                <a:latin typeface="Monotype Corsiva" panose="03010101010201010101" pitchFamily="66" charset="0"/>
                <a:ea typeface="黑体"/>
                <a:cs typeface="+mn-cs"/>
              </a:rPr>
              <a:t>)</a:t>
            </a:r>
          </a:p>
          <a:p>
            <a:r>
              <a:rPr lang="en-US" altLang="zh-CN" sz="1800" i="1" dirty="0">
                <a:solidFill>
                  <a:srgbClr val="DEEBF7"/>
                </a:solidFill>
                <a:latin typeface="Monotype Corsiva" panose="03010101010201010101" pitchFamily="66" charset="0"/>
                <a:ea typeface="黑体"/>
              </a:rPr>
              <a:t>2022.7</a:t>
            </a:r>
            <a:endParaRPr lang="zh-CN" altLang="en-US" sz="2800" dirty="0">
              <a:solidFill>
                <a:srgbClr val="DEEBF7"/>
              </a:solidFill>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08014620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585774-0303-47A6-4367-29E84B43F76D}"/>
              </a:ext>
            </a:extLst>
          </p:cNvPr>
          <p:cNvSpPr>
            <a:spLocks noGrp="1"/>
          </p:cNvSpPr>
          <p:nvPr>
            <p:ph type="title"/>
          </p:nvPr>
        </p:nvSpPr>
        <p:spPr/>
        <p:txBody>
          <a:bodyPr/>
          <a:lstStyle/>
          <a:p>
            <a:r>
              <a:rPr lang="en-US" altLang="zh-CN" dirty="0"/>
              <a:t>Index. Total</a:t>
            </a:r>
            <a:endParaRPr lang="zh-CN" altLang="en-US" dirty="0"/>
          </a:p>
        </p:txBody>
      </p:sp>
      <p:sp>
        <p:nvSpPr>
          <p:cNvPr id="3" name="内容占位符 2">
            <a:extLst>
              <a:ext uri="{FF2B5EF4-FFF2-40B4-BE49-F238E27FC236}">
                <a16:creationId xmlns:a16="http://schemas.microsoft.com/office/drawing/2014/main" id="{3C26F116-B6E2-FC93-ECF6-AF7ABBEF042A}"/>
              </a:ext>
            </a:extLst>
          </p:cNvPr>
          <p:cNvSpPr>
            <a:spLocks noGrp="1"/>
          </p:cNvSpPr>
          <p:nvPr>
            <p:ph idx="1"/>
          </p:nvPr>
        </p:nvSpPr>
        <p:spPr/>
        <p:txBody>
          <a:bodyPr/>
          <a:lstStyle/>
          <a:p>
            <a:pPr marL="342900" indent="-342900">
              <a:buFont typeface="Arial" panose="020B0604020202020204" pitchFamily="34" charset="0"/>
              <a:buChar char="•"/>
            </a:pPr>
            <a:r>
              <a:rPr lang="en-US" altLang="zh-CN" dirty="0"/>
              <a:t>Basic Model: Sequence</a:t>
            </a:r>
          </a:p>
          <a:p>
            <a:pPr marL="342900" indent="-342900">
              <a:buFont typeface="Arial" panose="020B0604020202020204" pitchFamily="34" charset="0"/>
              <a:buChar char="•"/>
            </a:pPr>
            <a:r>
              <a:rPr lang="en-US" altLang="zh-CN" dirty="0"/>
              <a:t>Sorting in View of OI</a:t>
            </a:r>
          </a:p>
          <a:p>
            <a:pPr marL="800100" lvl="1" indent="-342900">
              <a:buFont typeface="Arial" panose="020B0604020202020204" pitchFamily="34" charset="0"/>
              <a:buChar char="•"/>
            </a:pPr>
            <a:r>
              <a:rPr lang="en-US" altLang="zh-CN" dirty="0"/>
              <a:t>Introduction of View in OI</a:t>
            </a:r>
          </a:p>
          <a:p>
            <a:pPr marL="800100" lvl="1" indent="-342900">
              <a:buFont typeface="Arial" panose="020B0604020202020204" pitchFamily="34" charset="0"/>
              <a:buChar char="•"/>
            </a:pPr>
            <a:r>
              <a:rPr lang="en-US" altLang="zh-CN" dirty="0"/>
              <a:t>In View of Basic Operations</a:t>
            </a:r>
          </a:p>
          <a:p>
            <a:pPr marL="800100" lvl="1" indent="-342900">
              <a:buFont typeface="Arial" panose="020B0604020202020204" pitchFamily="34" charset="0"/>
              <a:buChar char="•"/>
            </a:pPr>
            <a:r>
              <a:rPr lang="en-US" altLang="zh-CN" dirty="0"/>
              <a:t>In View of Algorithm Structure</a:t>
            </a:r>
          </a:p>
          <a:p>
            <a:pPr marL="800100" lvl="1" indent="-342900">
              <a:buFont typeface="Arial" panose="020B0604020202020204" pitchFamily="34" charset="0"/>
              <a:buChar char="•"/>
            </a:pPr>
            <a:r>
              <a:rPr lang="en-US" altLang="zh-CN" dirty="0"/>
              <a:t>Sorting Algorithms</a:t>
            </a:r>
          </a:p>
          <a:p>
            <a:pPr marL="342900" indent="-342900">
              <a:buFont typeface="Arial" panose="020B0604020202020204" pitchFamily="34" charset="0"/>
              <a:buChar char="•"/>
            </a:pPr>
            <a:r>
              <a:rPr lang="en-US" altLang="zh-CN" dirty="0"/>
              <a:t>Permutation Equivalence</a:t>
            </a:r>
          </a:p>
          <a:p>
            <a:pPr marL="342900" indent="-342900">
              <a:buFont typeface="Arial" panose="020B0604020202020204" pitchFamily="34" charset="0"/>
              <a:buChar char="•"/>
            </a:pPr>
            <a:r>
              <a:rPr lang="en-US" altLang="zh-CN" dirty="0"/>
              <a:t>Appendix. Bound of Comparison Sorting</a:t>
            </a:r>
          </a:p>
          <a:p>
            <a:pPr marL="342900" indent="-342900">
              <a:buFont typeface="Arial" panose="020B0604020202020204" pitchFamily="34" charset="0"/>
              <a:buChar char="•"/>
            </a:pPr>
            <a:r>
              <a:rPr lang="en-US" altLang="zh-CN" dirty="0"/>
              <a:t>Structure Based on Orders (With Individual Index)</a:t>
            </a:r>
            <a:endParaRPr lang="zh-CN" altLang="en-US" dirty="0"/>
          </a:p>
        </p:txBody>
      </p:sp>
    </p:spTree>
    <p:extLst>
      <p:ext uri="{BB962C8B-B14F-4D97-AF65-F5344CB8AC3E}">
        <p14:creationId xmlns:p14="http://schemas.microsoft.com/office/powerpoint/2010/main" val="2129715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80A5DF-6CB3-9005-3866-7B7C184F4609}"/>
              </a:ext>
            </a:extLst>
          </p:cNvPr>
          <p:cNvSpPr>
            <a:spLocks noGrp="1"/>
          </p:cNvSpPr>
          <p:nvPr>
            <p:ph type="title"/>
          </p:nvPr>
        </p:nvSpPr>
        <p:spPr/>
        <p:txBody>
          <a:bodyPr/>
          <a:lstStyle/>
          <a:p>
            <a:r>
              <a:rPr lang="en-US" altLang="zh-CN" dirty="0"/>
              <a:t>Model</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6F7BA7-5D51-77C2-DFC8-58BF23C59874}"/>
                  </a:ext>
                </a:extLst>
              </p:cNvPr>
              <p:cNvSpPr>
                <a:spLocks noGrp="1"/>
              </p:cNvSpPr>
              <p:nvPr>
                <p:ph idx="1"/>
              </p:nvPr>
            </p:nvSpPr>
            <p:spPr/>
            <p:txBody>
              <a:bodyPr/>
              <a:lstStyle/>
              <a:p>
                <a:r>
                  <a:rPr lang="en-US" altLang="zh-CN" b="1" dirty="0"/>
                  <a:t>Sorting Algorithms</a:t>
                </a:r>
                <a:r>
                  <a:rPr lang="zh-CN" altLang="en-US" b="1" dirty="0"/>
                  <a:t> </a:t>
                </a:r>
                <a:r>
                  <a:rPr lang="en-US" altLang="zh-CN" dirty="0"/>
                  <a:t>consider</a:t>
                </a:r>
                <a:r>
                  <a:rPr lang="zh-CN" altLang="en-US" dirty="0"/>
                  <a:t> </a:t>
                </a:r>
                <a:r>
                  <a:rPr lang="en-US" altLang="zh-CN" dirty="0"/>
                  <a:t>a</a:t>
                </a:r>
                <a:r>
                  <a:rPr lang="zh-CN" altLang="en-US" dirty="0"/>
                  <a:t> </a:t>
                </a:r>
                <a:r>
                  <a:rPr lang="en-US" altLang="zh-CN" dirty="0"/>
                  <a:t>task of making a sequence ordered. The basic model here is a sequence.</a:t>
                </a:r>
              </a:p>
              <a:p>
                <a:endParaRPr lang="en-US" altLang="zh-CN" dirty="0"/>
              </a:p>
              <a:p>
                <a:r>
                  <a:rPr lang="en-US" altLang="zh-CN" b="1" dirty="0">
                    <a:solidFill>
                      <a:srgbClr val="DCFFFF"/>
                    </a:solidFill>
                    <a:effectLst>
                      <a:glow rad="63500">
                        <a:schemeClr val="accent5">
                          <a:satMod val="175000"/>
                          <a:alpha val="40000"/>
                        </a:schemeClr>
                      </a:glow>
                    </a:effectLst>
                    <a:latin typeface="+mj-lt"/>
                    <a:ea typeface="+mj-ea"/>
                    <a:cs typeface="+mj-cs"/>
                  </a:rPr>
                  <a:t>Model. </a:t>
                </a:r>
                <a:r>
                  <a:rPr lang="en-US" altLang="zh-CN" dirty="0"/>
                  <a:t>Se</a:t>
                </a:r>
                <a:r>
                  <a:rPr lang="en-US" altLang="zh-CN" dirty="0">
                    <a:solidFill>
                      <a:srgbClr val="DEEBF7"/>
                    </a:solidFill>
                  </a:rPr>
                  <a:t>qu</a:t>
                </a:r>
                <a:r>
                  <a:rPr lang="en-US" altLang="zh-CN" dirty="0"/>
                  <a:t>ence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𝐹</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sup>
                    </m:sSup>
                  </m:oMath>
                </a14:m>
                <a:r>
                  <a:rPr lang="zh-CN" altLang="en-US" dirty="0"/>
                  <a:t> </a:t>
                </a:r>
                <a:r>
                  <a:rPr lang="en-US" altLang="zh-CN" dirty="0"/>
                  <a:t>is </a:t>
                </a:r>
                <a14:m>
                  <m:oMath xmlns:m="http://schemas.openxmlformats.org/officeDocument/2006/math">
                    <m:r>
                      <a:rPr lang="en-US" altLang="zh-CN" b="0" i="1" smtClean="0">
                        <a:latin typeface="Cambria Math" panose="02040503050406030204" pitchFamily="18" charset="0"/>
                      </a:rPr>
                      <m:t>𝑛</m:t>
                    </m:r>
                  </m:oMath>
                </a14:m>
                <a:r>
                  <a:rPr lang="en-US" altLang="zh-CN" dirty="0"/>
                  <a:t> ordered elements, each element is in an ordered set </a:t>
                </a:r>
                <a14:m>
                  <m:oMath xmlns:m="http://schemas.openxmlformats.org/officeDocument/2006/math">
                    <m:r>
                      <a:rPr lang="en-US" altLang="zh-CN" b="0" i="1" smtClean="0">
                        <a:latin typeface="Cambria Math" panose="02040503050406030204" pitchFamily="18" charset="0"/>
                      </a:rPr>
                      <m:t>𝐹</m:t>
                    </m:r>
                  </m:oMath>
                </a14:m>
                <a:r>
                  <a:rPr lang="en-US" altLang="zh-CN" dirty="0"/>
                  <a:t> with </a:t>
                </a:r>
                <a14:m>
                  <m:oMath xmlns:m="http://schemas.openxmlformats.org/officeDocument/2006/math">
                    <m:r>
                      <a:rPr lang="en-US" altLang="zh-CN" b="0" i="1" smtClean="0">
                        <a:latin typeface="Cambria Math" panose="02040503050406030204" pitchFamily="18" charset="0"/>
                      </a:rPr>
                      <m:t>≤</m:t>
                    </m:r>
                  </m:oMath>
                </a14:m>
                <a:r>
                  <a:rPr lang="en-US" altLang="zh-CN" dirty="0"/>
                  <a:t>. (Here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r>
                      <m:rPr>
                        <m:lit/>
                      </m:rPr>
                      <a:rPr lang="en-US" altLang="zh-CN" b="0" i="1" smtClean="0">
                        <a:latin typeface="Cambria Math" panose="02040503050406030204" pitchFamily="18" charset="0"/>
                      </a:rPr>
                      <m:t>{</m:t>
                    </m:r>
                    <m:r>
                      <a:rPr lang="en-US" altLang="zh-CN" b="0" i="1" smtClean="0">
                        <a:latin typeface="Cambria Math" panose="02040503050406030204" pitchFamily="18" charset="0"/>
                      </a:rPr>
                      <m:t>1,2,…,</m:t>
                    </m:r>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ℕ</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oMath>
                </a14:m>
                <a:r>
                  <a:rPr lang="en-US" altLang="zh-CN" dirty="0"/>
                  <a:t> is the indices)</a:t>
                </a:r>
              </a:p>
              <a:p>
                <a:endParaRPr lang="en-US" altLang="zh-CN" dirty="0"/>
              </a:p>
              <a:p>
                <a:r>
                  <a:rPr lang="en-US" altLang="zh-CN" dirty="0"/>
                  <a:t>In the lecture we discuss about some certain combinatorial problems related to sorting algorithms, especially for  Olympiad in Informatics.</a:t>
                </a:r>
              </a:p>
              <a:p>
                <a:endParaRPr lang="en-US" altLang="zh-CN" dirty="0"/>
              </a:p>
              <a:p>
                <a:r>
                  <a:rPr lang="en-US" altLang="zh-CN" dirty="0"/>
                  <a:t>Firstly we introduce common sorting algorithms in the view of combinatorial algorithm structure.</a:t>
                </a:r>
              </a:p>
            </p:txBody>
          </p:sp>
        </mc:Choice>
        <mc:Fallback xmlns="">
          <p:sp>
            <p:nvSpPr>
              <p:cNvPr id="3" name="内容占位符 2">
                <a:extLst>
                  <a:ext uri="{FF2B5EF4-FFF2-40B4-BE49-F238E27FC236}">
                    <a16:creationId xmlns:a16="http://schemas.microsoft.com/office/drawing/2014/main" id="{B56F7BA7-5D51-77C2-DFC8-58BF23C59874}"/>
                  </a:ext>
                </a:extLst>
              </p:cNvPr>
              <p:cNvSpPr>
                <a:spLocks noGrp="1" noRot="1" noChangeAspect="1" noMove="1" noResize="1" noEditPoints="1" noAdjustHandles="1" noChangeArrowheads="1" noChangeShapeType="1" noTextEdit="1"/>
              </p:cNvSpPr>
              <p:nvPr>
                <p:ph idx="1"/>
              </p:nvPr>
            </p:nvSpPr>
            <p:spPr>
              <a:blipFill>
                <a:blip r:embed="rId2"/>
                <a:stretch>
                  <a:fillRect l="-1217" t="-1520" r="-9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5702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7CA81-E1E3-1C1F-6CDF-51DACA5515EC}"/>
              </a:ext>
            </a:extLst>
          </p:cNvPr>
          <p:cNvSpPr>
            <a:spLocks noGrp="1"/>
          </p:cNvSpPr>
          <p:nvPr>
            <p:ph type="title"/>
          </p:nvPr>
        </p:nvSpPr>
        <p:spPr/>
        <p:txBody>
          <a:bodyPr/>
          <a:lstStyle/>
          <a:p>
            <a:r>
              <a:rPr lang="en-US" altLang="zh-CN" dirty="0"/>
              <a:t>Views (OI specialized)</a:t>
            </a:r>
            <a:endParaRPr lang="zh-CN" altLang="en-US" dirty="0"/>
          </a:p>
        </p:txBody>
      </p:sp>
      <p:sp>
        <p:nvSpPr>
          <p:cNvPr id="3" name="内容占位符 2">
            <a:extLst>
              <a:ext uri="{FF2B5EF4-FFF2-40B4-BE49-F238E27FC236}">
                <a16:creationId xmlns:a16="http://schemas.microsoft.com/office/drawing/2014/main" id="{1B6ADC66-46AB-5A48-CA88-14D28327F295}"/>
              </a:ext>
            </a:extLst>
          </p:cNvPr>
          <p:cNvSpPr>
            <a:spLocks noGrp="1"/>
          </p:cNvSpPr>
          <p:nvPr>
            <p:ph idx="1"/>
          </p:nvPr>
        </p:nvSpPr>
        <p:spPr/>
        <p:txBody>
          <a:bodyPr>
            <a:normAutofit/>
          </a:bodyPr>
          <a:lstStyle/>
          <a:p>
            <a:r>
              <a:rPr lang="en-US" altLang="zh-CN" dirty="0"/>
              <a:t>(In studying mathematics) A </a:t>
            </a:r>
            <a:r>
              <a:rPr lang="en-US" altLang="zh-CN" b="1" dirty="0"/>
              <a:t>view</a:t>
            </a:r>
            <a:r>
              <a:rPr lang="en-US" altLang="zh-CN" dirty="0"/>
              <a:t> is a way of symbolically thinking and representing a theory, or a way to answer the question like “what is the essence of XXX for me?”. It is a near-synonym of </a:t>
            </a:r>
            <a:r>
              <a:rPr lang="en-US" altLang="zh-CN" i="1" dirty="0"/>
              <a:t>schema</a:t>
            </a:r>
            <a:r>
              <a:rPr lang="en-US" altLang="zh-CN" dirty="0"/>
              <a:t> or </a:t>
            </a:r>
            <a:r>
              <a:rPr lang="en-US" altLang="zh-CN" i="1" dirty="0"/>
              <a:t>paradigm</a:t>
            </a:r>
            <a:r>
              <a:rPr lang="en-US" altLang="zh-CN" dirty="0"/>
              <a:t>.</a:t>
            </a:r>
          </a:p>
          <a:p>
            <a:endParaRPr lang="en-US" altLang="zh-CN" dirty="0"/>
          </a:p>
          <a:p>
            <a:r>
              <a:rPr lang="en-US" altLang="zh-CN" dirty="0"/>
              <a:t>In OI, the most common views are </a:t>
            </a:r>
            <a:r>
              <a:rPr lang="en-US" altLang="zh-CN" b="1" dirty="0"/>
              <a:t>Combinatorial Algorithm-Data Structure</a:t>
            </a:r>
            <a:r>
              <a:rPr lang="en-US" altLang="zh-CN" dirty="0"/>
              <a:t> for algorithm design and </a:t>
            </a:r>
            <a:r>
              <a:rPr lang="en-US" altLang="zh-CN" b="1" dirty="0"/>
              <a:t>Sequence-Tree-Graph-Plane-Multidimensional Geometric Intuition</a:t>
            </a:r>
            <a:r>
              <a:rPr lang="en-US" altLang="zh-CN" dirty="0"/>
              <a:t> for models. These contains almost all OI problems “supposed to be solved in contest without certain algorithm/algebraic or other theory individually introduced and hard to extend”.</a:t>
            </a:r>
          </a:p>
          <a:p>
            <a:endParaRPr lang="en-US" altLang="zh-CN" dirty="0"/>
          </a:p>
          <a:p>
            <a:r>
              <a:rPr lang="en-US" altLang="zh-CN" dirty="0"/>
              <a:t>Of course, like schemas or paradigms, views have heavy limitations and usually obstruct useful thinking.</a:t>
            </a:r>
          </a:p>
          <a:p>
            <a:r>
              <a:rPr lang="en-US" altLang="zh-CN" dirty="0"/>
              <a:t>However, it profits much to have views for beginners especially when trying to understand books/articles for the first time.</a:t>
            </a:r>
            <a:endParaRPr lang="zh-CN" altLang="en-US" dirty="0"/>
          </a:p>
        </p:txBody>
      </p:sp>
    </p:spTree>
    <p:extLst>
      <p:ext uri="{BB962C8B-B14F-4D97-AF65-F5344CB8AC3E}">
        <p14:creationId xmlns:p14="http://schemas.microsoft.com/office/powerpoint/2010/main" val="882313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89405C-3623-C75D-E601-CA805D744543}"/>
              </a:ext>
            </a:extLst>
          </p:cNvPr>
          <p:cNvSpPr>
            <a:spLocks noGrp="1"/>
          </p:cNvSpPr>
          <p:nvPr>
            <p:ph type="title"/>
          </p:nvPr>
        </p:nvSpPr>
        <p:spPr/>
        <p:txBody>
          <a:bodyPr/>
          <a:lstStyle/>
          <a:p>
            <a:r>
              <a:rPr lang="en-US" altLang="zh-CN" dirty="0"/>
              <a:t>View of Combinatorial Algorithm Structure (OI specialized)</a:t>
            </a:r>
            <a:endParaRPr lang="zh-CN" altLang="en-US" dirty="0"/>
          </a:p>
        </p:txBody>
      </p:sp>
      <p:sp>
        <p:nvSpPr>
          <p:cNvPr id="3" name="内容占位符 2">
            <a:extLst>
              <a:ext uri="{FF2B5EF4-FFF2-40B4-BE49-F238E27FC236}">
                <a16:creationId xmlns:a16="http://schemas.microsoft.com/office/drawing/2014/main" id="{D7BE4EE1-253A-80E8-9705-CB5DB1E02968}"/>
              </a:ext>
            </a:extLst>
          </p:cNvPr>
          <p:cNvSpPr>
            <a:spLocks noGrp="1"/>
          </p:cNvSpPr>
          <p:nvPr>
            <p:ph idx="1"/>
          </p:nvPr>
        </p:nvSpPr>
        <p:spPr/>
        <p:txBody>
          <a:bodyPr/>
          <a:lstStyle/>
          <a:p>
            <a:r>
              <a:rPr lang="en-US" altLang="zh-CN" dirty="0"/>
              <a:t>The Combinatorial Algorithm-Data Structure is a view of algorithm design. In this view, algorithm is to answer a question, and it does like this: dividing (like quotient set) the model into smaller parts (may by its combinatorial property), solve the parts by elemental operations, and combine them by a certain algorithm related to the division structure. The “elemental operations” may be naive, recursive sub-model, or a “packaged” different question. Often the “packaged different question” contains normal structure, modification and queries, and thus be a data structure.</a:t>
            </a:r>
          </a:p>
          <a:p>
            <a:endParaRPr lang="en-US" altLang="zh-CN" dirty="0"/>
          </a:p>
          <a:p>
            <a:r>
              <a:rPr lang="en-US" altLang="zh-CN" dirty="0"/>
              <a:t>The view of models contains certain theories like order, sequence, index-range-time model, intervals, subtrees, special types of graphs, naive division and recursion, multidimensional embedding, and they have an important common language of 2D (discrete) geometric intuition. This paragraph is not practical and is only for a preview.</a:t>
            </a:r>
            <a:endParaRPr lang="zh-CN" altLang="en-US" dirty="0"/>
          </a:p>
        </p:txBody>
      </p:sp>
    </p:spTree>
    <p:extLst>
      <p:ext uri="{BB962C8B-B14F-4D97-AF65-F5344CB8AC3E}">
        <p14:creationId xmlns:p14="http://schemas.microsoft.com/office/powerpoint/2010/main" val="2380921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E3C7E-DC70-D9D9-7EAE-21BEA375EFB3}"/>
              </a:ext>
            </a:extLst>
          </p:cNvPr>
          <p:cNvSpPr>
            <a:spLocks noGrp="1"/>
          </p:cNvSpPr>
          <p:nvPr>
            <p:ph type="title"/>
          </p:nvPr>
        </p:nvSpPr>
        <p:spPr/>
        <p:txBody>
          <a:bodyPr/>
          <a:lstStyle/>
          <a:p>
            <a:r>
              <a:rPr lang="en-US" altLang="zh-CN" dirty="0"/>
              <a:t>Sorting: In View of Basic Operations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E1D95D0-BC9E-EE9E-D9D6-6766F5E6FAA4}"/>
                  </a:ext>
                </a:extLst>
              </p:cNvPr>
              <p:cNvSpPr>
                <a:spLocks noGrp="1"/>
              </p:cNvSpPr>
              <p:nvPr>
                <p:ph idx="1"/>
              </p:nvPr>
            </p:nvSpPr>
            <p:spPr/>
            <p:txBody>
              <a:bodyPr/>
              <a:lstStyle/>
              <a:p>
                <a:r>
                  <a:rPr lang="en-US" altLang="zh-CN" dirty="0"/>
                  <a:t>In algorithm design, range </a:t>
                </a:r>
                <a14:m>
                  <m:oMath xmlns:m="http://schemas.openxmlformats.org/officeDocument/2006/math">
                    <m:r>
                      <a:rPr lang="en-US" altLang="zh-CN" b="0" i="1" smtClean="0">
                        <a:latin typeface="Cambria Math" panose="02040503050406030204" pitchFamily="18" charset="0"/>
                      </a:rPr>
                      <m:t>𝐹</m:t>
                    </m:r>
                  </m:oMath>
                </a14:m>
                <a:r>
                  <a:rPr lang="zh-CN" altLang="en-US" dirty="0"/>
                  <a:t> </a:t>
                </a:r>
                <a:r>
                  <a:rPr lang="en-US" altLang="zh-CN" dirty="0"/>
                  <a:t>usually plays a role of server. That is, it provides </a:t>
                </a:r>
                <a:r>
                  <a:rPr lang="en-US" altLang="zh-CN" b="1" dirty="0"/>
                  <a:t>basic operations</a:t>
                </a:r>
                <a:r>
                  <a:rPr lang="en-US" altLang="zh-CN" dirty="0"/>
                  <a:t> to give information about the order among </a:t>
                </a:r>
                <a14:m>
                  <m:oMath xmlns:m="http://schemas.openxmlformats.org/officeDocument/2006/math">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e>
                    </m:d>
                  </m:oMath>
                </a14:m>
                <a:r>
                  <a:rPr lang="en-US" altLang="zh-CN" dirty="0"/>
                  <a:t>.</a:t>
                </a:r>
                <a:r>
                  <a:rPr lang="zh-CN" altLang="en-US" dirty="0"/>
                  <a:t> </a:t>
                </a:r>
                <a:r>
                  <a:rPr lang="en-US" altLang="zh-CN" dirty="0"/>
                  <a:t>There are two most common situations in sorting:</a:t>
                </a:r>
              </a:p>
              <a:p>
                <a:endParaRPr lang="en-US" altLang="zh-CN" dirty="0"/>
              </a:p>
              <a:p>
                <a:pPr marL="342900" indent="-342900">
                  <a:buFont typeface="Arial" panose="020B0604020202020204" pitchFamily="34" charset="0"/>
                  <a:buChar char="•"/>
                </a:pPr>
                <a:r>
                  <a:rPr lang="en-US" altLang="zh-CN" dirty="0"/>
                  <a:t>Operation on indices:</a:t>
                </a:r>
              </a:p>
              <a:p>
                <a:pPr marL="800100" lvl="1" indent="-342900">
                  <a:buFont typeface="Arial" panose="020B0604020202020204" pitchFamily="34" charset="0"/>
                  <a:buChar char="•"/>
                </a:pPr>
                <a:r>
                  <a:rPr lang="en-US" altLang="zh-CN" dirty="0"/>
                  <a:t>To compare any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oMath>
                </a14:m>
                <a:r>
                  <a:rPr lang="en-US" altLang="zh-CN" dirty="0"/>
                  <a:t> and gets if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oMath>
                </a14:m>
                <a:r>
                  <a:rPr lang="en-US" altLang="zh-CN" dirty="0"/>
                  <a:t>.</a:t>
                </a:r>
              </a:p>
              <a:p>
                <a:pPr marL="342900" indent="-342900">
                  <a:buFont typeface="Arial" panose="020B0604020202020204" pitchFamily="34" charset="0"/>
                  <a:buChar char="•"/>
                </a:pPr>
                <a:r>
                  <a:rPr lang="en-US" altLang="zh-CN" dirty="0"/>
                  <a:t>Operation on range:</a:t>
                </a:r>
              </a:p>
              <a:p>
                <a:pPr marL="800100" lvl="1" indent="-342900">
                  <a:buFont typeface="Arial" panose="020B0604020202020204" pitchFamily="34" charset="0"/>
                  <a:buChar char="•"/>
                </a:pPr>
                <a:r>
                  <a:rPr lang="en-US" altLang="zh-CN" dirty="0"/>
                  <a:t>To enumerate all elements </a:t>
                </a:r>
                <a14:m>
                  <m:oMath xmlns:m="http://schemas.openxmlformats.org/officeDocument/2006/math">
                    <m:r>
                      <a:rPr lang="en-US" altLang="zh-CN" b="0" i="1" smtClean="0">
                        <a:latin typeface="Cambria Math" panose="02040503050406030204" pitchFamily="18" charset="0"/>
                      </a:rPr>
                      <m:t>𝑒</m:t>
                    </m:r>
                  </m:oMath>
                </a14:m>
                <a:r>
                  <a:rPr lang="en-US" altLang="zh-CN" dirty="0"/>
                  <a:t> of </a:t>
                </a:r>
                <a14:m>
                  <m:oMath xmlns:m="http://schemas.openxmlformats.org/officeDocument/2006/math">
                    <m:r>
                      <a:rPr lang="en-US" altLang="zh-CN" b="0" i="1" smtClean="0">
                        <a:latin typeface="Cambria Math" panose="02040503050406030204" pitchFamily="18" charset="0"/>
                      </a:rPr>
                      <m:t>𝐹</m:t>
                    </m:r>
                  </m:oMath>
                </a14:m>
                <a:r>
                  <a:rPr lang="en-US" altLang="zh-CN" dirty="0"/>
                  <a:t> in order and find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𝑒</m:t>
                    </m:r>
                    <m:r>
                      <a:rPr lang="en-US" altLang="zh-CN" b="0" i="1" smtClean="0">
                        <a:latin typeface="Cambria Math" panose="02040503050406030204" pitchFamily="18" charset="0"/>
                      </a:rPr>
                      <m:t>)</m:t>
                    </m:r>
                  </m:oMath>
                </a14:m>
                <a:r>
                  <a:rPr lang="en-US" altLang="zh-CN" dirty="0"/>
                  <a:t>.</a:t>
                </a:r>
              </a:p>
              <a:p>
                <a:endParaRPr lang="en-US" altLang="zh-CN" dirty="0"/>
              </a:p>
              <a:p>
                <a:r>
                  <a:rPr lang="en-US" altLang="zh-CN" dirty="0"/>
                  <a:t>Notice indices and range here are only for classification, they are not symmetric.</a:t>
                </a:r>
              </a:p>
              <a:p>
                <a:endParaRPr lang="en-US" altLang="zh-CN" dirty="0"/>
              </a:p>
              <a:p>
                <a:r>
                  <a:rPr lang="en-US" altLang="zh-CN" dirty="0"/>
                  <a:t>These are called </a:t>
                </a:r>
                <a:r>
                  <a:rPr lang="en-US" altLang="zh-CN" b="1" dirty="0"/>
                  <a:t>comparison</a:t>
                </a:r>
                <a:r>
                  <a:rPr lang="en-US" altLang="zh-CN" dirty="0"/>
                  <a:t> sort, and </a:t>
                </a:r>
                <a:r>
                  <a:rPr lang="en-US" altLang="zh-CN" b="1" dirty="0"/>
                  <a:t>non-comparison</a:t>
                </a:r>
                <a:r>
                  <a:rPr lang="en-US" altLang="zh-CN" dirty="0"/>
                  <a:t> sort (literally it also contains other sorts but we ignore them).</a:t>
                </a:r>
              </a:p>
            </p:txBody>
          </p:sp>
        </mc:Choice>
        <mc:Fallback xmlns="">
          <p:sp>
            <p:nvSpPr>
              <p:cNvPr id="3" name="内容占位符 2">
                <a:extLst>
                  <a:ext uri="{FF2B5EF4-FFF2-40B4-BE49-F238E27FC236}">
                    <a16:creationId xmlns:a16="http://schemas.microsoft.com/office/drawing/2014/main" id="{3E1D95D0-BC9E-EE9E-D9D6-6766F5E6FAA4}"/>
                  </a:ext>
                </a:extLst>
              </p:cNvPr>
              <p:cNvSpPr>
                <a:spLocks noGrp="1" noRot="1" noChangeAspect="1" noMove="1" noResize="1" noEditPoints="1" noAdjustHandles="1" noChangeArrowheads="1" noChangeShapeType="1" noTextEdit="1"/>
              </p:cNvSpPr>
              <p:nvPr>
                <p:ph idx="1"/>
              </p:nvPr>
            </p:nvSpPr>
            <p:spPr>
              <a:blipFill>
                <a:blip r:embed="rId2"/>
                <a:stretch>
                  <a:fillRect l="-928" t="-1520" r="-5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022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6F5596-7BCB-FF95-AD4B-F8DCFA3BD6A8}"/>
              </a:ext>
            </a:extLst>
          </p:cNvPr>
          <p:cNvSpPr>
            <a:spLocks noGrp="1"/>
          </p:cNvSpPr>
          <p:nvPr>
            <p:ph type="title"/>
          </p:nvPr>
        </p:nvSpPr>
        <p:spPr/>
        <p:txBody>
          <a:bodyPr/>
          <a:lstStyle/>
          <a:p>
            <a:r>
              <a:rPr lang="en-US" altLang="zh-CN" dirty="0"/>
              <a:t>Sorting: In View of Algorithm Structure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30E7BA5-6723-2B92-F878-A0CD995E7BD9}"/>
                  </a:ext>
                </a:extLst>
              </p:cNvPr>
              <p:cNvSpPr>
                <a:spLocks noGrp="1"/>
              </p:cNvSpPr>
              <p:nvPr>
                <p:ph idx="1"/>
              </p:nvPr>
            </p:nvSpPr>
            <p:spPr/>
            <p:txBody>
              <a:bodyPr/>
              <a:lstStyle/>
              <a:p>
                <a:r>
                  <a:rPr lang="en-US" altLang="zh-CN" dirty="0"/>
                  <a:t>Combinatorial algorithms are formed of basic operations and algorithm structure. We have introduced two types of basic operations in sorting. And for algorithm structure, especially reduction, precisely </a:t>
                </a:r>
                <a:r>
                  <a:rPr lang="en-US" altLang="zh-CN" b="1" dirty="0"/>
                  <a:t>divide and conquer</a:t>
                </a:r>
                <a:r>
                  <a:rPr lang="en-US" altLang="zh-CN" dirty="0"/>
                  <a:t>, is the most common.</a:t>
                </a:r>
              </a:p>
              <a:p>
                <a:endParaRPr lang="en-US" altLang="zh-CN" dirty="0"/>
              </a:p>
              <a:p>
                <a:r>
                  <a:rPr lang="en-US" altLang="zh-CN" dirty="0"/>
                  <a:t>Two most naive </a:t>
                </a:r>
                <a:r>
                  <a:rPr lang="en-US" altLang="zh-CN" dirty="0" err="1"/>
                  <a:t>d&amp;c</a:t>
                </a:r>
                <a:r>
                  <a:rPr lang="en-US" altLang="zh-CN" dirty="0"/>
                  <a:t> structures are:</a:t>
                </a:r>
              </a:p>
              <a:p>
                <a:pPr marL="457200" indent="-457200">
                  <a:buFont typeface="Arial" panose="020B0604020202020204" pitchFamily="34" charset="0"/>
                  <a:buChar char="•"/>
                </a:pPr>
                <a:r>
                  <a:rPr lang="en-US" altLang="zh-CN" dirty="0"/>
                  <a:t>D&amp;C on range:</a:t>
                </a:r>
              </a:p>
              <a:p>
                <a:pPr marL="914400" lvl="1" indent="-457200">
                  <a:buFont typeface="+mj-lt"/>
                  <a:buAutoNum type="arabicPeriod"/>
                </a:pPr>
                <a:r>
                  <a:rPr lang="en-US" altLang="zh-CN" dirty="0"/>
                  <a:t>To find multiple sets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oMath>
                </a14:m>
                <a:r>
                  <a:rPr lang="en-US" altLang="zh-CN" dirty="0"/>
                  <a:t>, such that </a:t>
                </a:r>
                <a14:m>
                  <m:oMath xmlns:m="http://schemas.openxmlformats.org/officeDocument/2006/math">
                    <m:r>
                      <a:rPr lang="en-US" altLang="zh-CN" b="0" i="0" smtClean="0">
                        <a:latin typeface="Cambria Math" panose="02040503050406030204" pitchFamily="18" charset="0"/>
                      </a:rPr>
                      <m:t>(</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&lt;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oMath>
                </a14:m>
                <a:r>
                  <a:rPr lang="en-US" altLang="zh-CN" dirty="0"/>
                  <a:t>.</a:t>
                </a:r>
              </a:p>
              <a:p>
                <a:pPr marL="914400" lvl="1" indent="-457200">
                  <a:buFont typeface="+mj-lt"/>
                  <a:buAutoNum type="arabicPeriod"/>
                </a:pPr>
                <a:r>
                  <a:rPr lang="en-US" altLang="zh-CN" dirty="0"/>
                  <a:t>Divide and Conquer, sort each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m:t>
                        </m:r>
                      </m:sub>
                    </m:sSub>
                  </m:oMath>
                </a14:m>
                <a:r>
                  <a:rPr lang="en-US" altLang="zh-CN" dirty="0"/>
                  <a:t>.</a:t>
                </a:r>
              </a:p>
              <a:p>
                <a:pPr marL="914400" lvl="1" indent="-457200">
                  <a:buFont typeface="+mj-lt"/>
                  <a:buAutoNum type="arabicPeriod"/>
                </a:pPr>
                <a:r>
                  <a:rPr lang="en-US" altLang="zh-CN" dirty="0"/>
                  <a:t>Concatenate sorted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oMath>
                </a14:m>
                <a:r>
                  <a:rPr lang="en-US" altLang="zh-CN" dirty="0"/>
                  <a:t>.</a:t>
                </a:r>
              </a:p>
              <a:p>
                <a:pPr marL="457200" indent="-457200">
                  <a:buFont typeface="Arial" panose="020B0604020202020204" pitchFamily="34" charset="0"/>
                  <a:buChar char="•"/>
                </a:pPr>
                <a:r>
                  <a:rPr lang="en-US" altLang="zh-CN" dirty="0"/>
                  <a:t>D&amp;C on indices (binary):</a:t>
                </a:r>
              </a:p>
              <a:p>
                <a:pPr marL="914400" lvl="1" indent="-457200">
                  <a:buFont typeface="+mj-lt"/>
                  <a:buAutoNum type="arabicPeriod"/>
                </a:pPr>
                <a:r>
                  <a:rPr lang="en-US" altLang="zh-CN" dirty="0"/>
                  <a:t>Split </a:t>
                </a:r>
                <a14:m>
                  <m:oMath xmlns:m="http://schemas.openxmlformats.org/officeDocument/2006/math">
                    <m:r>
                      <a:rPr lang="en-US" altLang="zh-CN" b="0" i="1" smtClean="0">
                        <a:latin typeface="Cambria Math" panose="02040503050406030204" pitchFamily="18" charset="0"/>
                      </a:rPr>
                      <m:t>𝐴</m:t>
                    </m:r>
                  </m:oMath>
                </a14:m>
                <a:r>
                  <a:rPr lang="en-US" altLang="zh-CN" dirty="0"/>
                  <a:t> into </a:t>
                </a:r>
                <a14:m>
                  <m:oMath xmlns:m="http://schemas.openxmlformats.org/officeDocument/2006/math">
                    <m:r>
                      <a:rPr lang="en-US" altLang="zh-CN" b="0" i="1" smtClean="0">
                        <a:latin typeface="Cambria Math" panose="02040503050406030204" pitchFamily="18" charset="0"/>
                      </a:rPr>
                      <m:t>𝐴</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m:rPr>
                            <m:sty m:val="p"/>
                          </m:rPr>
                          <a:rPr lang="en-US" altLang="zh-CN" b="0" i="1" smtClean="0">
                            <a:latin typeface="Cambria Math" panose="02040503050406030204" pitchFamily="18" charset="0"/>
                          </a:rPr>
                          <m:t>mid</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mid</m:t>
                    </m:r>
                    <m:r>
                      <a:rPr lang="en-US" altLang="zh-CN" b="0" i="1" smtClean="0">
                        <a:latin typeface="Cambria Math" panose="02040503050406030204" pitchFamily="18" charset="0"/>
                      </a:rPr>
                      <m:t>+1…</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en-US" altLang="zh-CN" dirty="0"/>
                  <a:t>. (Denoted by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oMath>
                </a14:m>
                <a:r>
                  <a:rPr lang="en-US" altLang="zh-CN" dirty="0"/>
                  <a:t>)</a:t>
                </a:r>
              </a:p>
              <a:p>
                <a:pPr marL="914400" lvl="1" indent="-457200">
                  <a:buFont typeface="+mj-lt"/>
                  <a:buAutoNum type="arabicPeriod"/>
                </a:pPr>
                <a:r>
                  <a:rPr lang="en-US" altLang="zh-CN" dirty="0"/>
                  <a:t>Divide and Conquer, sort each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m:t>
                        </m:r>
                      </m:sub>
                    </m:sSub>
                  </m:oMath>
                </a14:m>
                <a:r>
                  <a:rPr lang="en-US" altLang="zh-CN" dirty="0"/>
                  <a:t>.</a:t>
                </a:r>
              </a:p>
              <a:p>
                <a:pPr marL="914400" lvl="1" indent="-457200">
                  <a:buFont typeface="+mj-lt"/>
                  <a:buAutoNum type="arabicPeriod"/>
                </a:pPr>
                <a:r>
                  <a:rPr lang="en-US" altLang="zh-CN" dirty="0"/>
                  <a:t>Combine sorted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oMath>
                </a14:m>
                <a:r>
                  <a:rPr lang="en-US" altLang="zh-CN" dirty="0"/>
                  <a:t>.</a:t>
                </a:r>
              </a:p>
            </p:txBody>
          </p:sp>
        </mc:Choice>
        <mc:Fallback xmlns="">
          <p:sp>
            <p:nvSpPr>
              <p:cNvPr id="3" name="内容占位符 2">
                <a:extLst>
                  <a:ext uri="{FF2B5EF4-FFF2-40B4-BE49-F238E27FC236}">
                    <a16:creationId xmlns:a16="http://schemas.microsoft.com/office/drawing/2014/main" id="{730E7BA5-6723-2B92-F878-A0CD995E7BD9}"/>
                  </a:ext>
                </a:extLst>
              </p:cNvPr>
              <p:cNvSpPr>
                <a:spLocks noGrp="1" noRot="1" noChangeAspect="1" noMove="1" noResize="1" noEditPoints="1" noAdjustHandles="1" noChangeArrowheads="1" noChangeShapeType="1" noTextEdit="1"/>
              </p:cNvSpPr>
              <p:nvPr>
                <p:ph idx="1"/>
              </p:nvPr>
            </p:nvSpPr>
            <p:spPr>
              <a:blipFill>
                <a:blip r:embed="rId2"/>
                <a:stretch>
                  <a:fillRect l="-928" t="-15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2916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37619F-17B1-66C3-89A2-555D4A44A4D9}"/>
              </a:ext>
            </a:extLst>
          </p:cNvPr>
          <p:cNvSpPr>
            <a:spLocks noGrp="1"/>
          </p:cNvSpPr>
          <p:nvPr>
            <p:ph type="title"/>
          </p:nvPr>
        </p:nvSpPr>
        <p:spPr/>
        <p:txBody>
          <a:bodyPr/>
          <a:lstStyle/>
          <a:p>
            <a:r>
              <a:rPr lang="en-US" altLang="zh-CN" dirty="0"/>
              <a:t>Basic sorting algorithms</a:t>
            </a:r>
            <a:endParaRPr lang="zh-CN" altLang="en-US" dirty="0"/>
          </a:p>
        </p:txBody>
      </p:sp>
      <p:sp>
        <p:nvSpPr>
          <p:cNvPr id="3" name="内容占位符 2">
            <a:extLst>
              <a:ext uri="{FF2B5EF4-FFF2-40B4-BE49-F238E27FC236}">
                <a16:creationId xmlns:a16="http://schemas.microsoft.com/office/drawing/2014/main" id="{7E4FA5C3-B44C-A1D9-87D4-EE50F48547DB}"/>
              </a:ext>
            </a:extLst>
          </p:cNvPr>
          <p:cNvSpPr>
            <a:spLocks noGrp="1"/>
          </p:cNvSpPr>
          <p:nvPr>
            <p:ph idx="1"/>
          </p:nvPr>
        </p:nvSpPr>
        <p:spPr/>
        <p:txBody>
          <a:bodyPr>
            <a:normAutofit lnSpcReduction="10000"/>
          </a:bodyPr>
          <a:lstStyle/>
          <a:p>
            <a:r>
              <a:rPr lang="en-US" altLang="zh-CN" dirty="0"/>
              <a:t>By basic operation and algorithm structure we have up to 6 types of basic sorting algorithms:</a:t>
            </a:r>
          </a:p>
          <a:p>
            <a:endParaRPr lang="en-US" altLang="zh-CN" dirty="0"/>
          </a:p>
          <a:p>
            <a:endParaRPr lang="en-US" altLang="zh-CN" dirty="0"/>
          </a:p>
          <a:p>
            <a:endParaRPr lang="en-US" altLang="zh-CN" dirty="0"/>
          </a:p>
          <a:p>
            <a:endParaRPr lang="en-US" altLang="zh-CN" dirty="0"/>
          </a:p>
          <a:p>
            <a:r>
              <a:rPr lang="en-US" altLang="zh-CN" dirty="0"/>
              <a:t>The table contains most common algorithms. (We can find that D&amp;C is </a:t>
            </a:r>
            <a:r>
              <a:rPr lang="en-US" altLang="zh-CN" b="1" dirty="0"/>
              <a:t>really</a:t>
            </a:r>
            <a:r>
              <a:rPr lang="en-US" altLang="zh-CN" dirty="0"/>
              <a:t> popular in algorithm!)</a:t>
            </a:r>
          </a:p>
          <a:p>
            <a:r>
              <a:rPr lang="en-US" altLang="zh-CN" dirty="0"/>
              <a:t>In the view of combinatorial algorithm structure, we can say that radix sort and bucket sort processes the D&amp;C recursion in different ways.</a:t>
            </a:r>
          </a:p>
          <a:p>
            <a:r>
              <a:rPr lang="en-US" altLang="zh-CN" dirty="0"/>
              <a:t>Selection Sort and Bubble sort are equivalent in the view of parallel, we’ll discuss about it later.</a:t>
            </a:r>
          </a:p>
          <a:p>
            <a:r>
              <a:rPr lang="en-US" altLang="zh-CN" dirty="0"/>
              <a:t>Heap sort is not here, because in the view of combinatorial algorithm structure it makes a new server(data structure) to serve the operations “finding a minimum”, “insertion” and “deletion”.</a:t>
            </a:r>
          </a:p>
        </p:txBody>
      </p:sp>
      <p:graphicFrame>
        <p:nvGraphicFramePr>
          <p:cNvPr id="4" name="表格 4">
            <a:extLst>
              <a:ext uri="{FF2B5EF4-FFF2-40B4-BE49-F238E27FC236}">
                <a16:creationId xmlns:a16="http://schemas.microsoft.com/office/drawing/2014/main" id="{DE9AE436-AA31-2BC9-9A46-9C9145FCF2D1}"/>
              </a:ext>
            </a:extLst>
          </p:cNvPr>
          <p:cNvGraphicFramePr>
            <a:graphicFrameLocks noGrp="1"/>
          </p:cNvGraphicFramePr>
          <p:nvPr>
            <p:extLst>
              <p:ext uri="{D42A27DB-BD31-4B8C-83A1-F6EECF244321}">
                <p14:modId xmlns:p14="http://schemas.microsoft.com/office/powerpoint/2010/main" val="431915347"/>
              </p:ext>
            </p:extLst>
          </p:nvPr>
        </p:nvGraphicFramePr>
        <p:xfrm>
          <a:off x="838200" y="1824566"/>
          <a:ext cx="10515600" cy="165100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2624556294"/>
                    </a:ext>
                  </a:extLst>
                </a:gridCol>
                <a:gridCol w="2628900">
                  <a:extLst>
                    <a:ext uri="{9D8B030D-6E8A-4147-A177-3AD203B41FA5}">
                      <a16:colId xmlns:a16="http://schemas.microsoft.com/office/drawing/2014/main" val="2452040015"/>
                    </a:ext>
                  </a:extLst>
                </a:gridCol>
                <a:gridCol w="2628900">
                  <a:extLst>
                    <a:ext uri="{9D8B030D-6E8A-4147-A177-3AD203B41FA5}">
                      <a16:colId xmlns:a16="http://schemas.microsoft.com/office/drawing/2014/main" val="3704291012"/>
                    </a:ext>
                  </a:extLst>
                </a:gridCol>
                <a:gridCol w="2628900">
                  <a:extLst>
                    <a:ext uri="{9D8B030D-6E8A-4147-A177-3AD203B41FA5}">
                      <a16:colId xmlns:a16="http://schemas.microsoft.com/office/drawing/2014/main" val="981579163"/>
                    </a:ext>
                  </a:extLst>
                </a:gridCol>
              </a:tblGrid>
              <a:tr h="370840">
                <a:tc>
                  <a:txBody>
                    <a:bodyPr/>
                    <a:lstStyle/>
                    <a:p>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Naive</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D&amp;C on range</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D&amp;C on indices</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01881254"/>
                  </a:ext>
                </a:extLst>
              </a:tr>
              <a:tr h="370840">
                <a:tc>
                  <a:txBody>
                    <a:bodyPr/>
                    <a:lstStyle/>
                    <a:p>
                      <a:r>
                        <a:rPr lang="en-US" altLang="zh-CN" b="0" cap="none" spc="0" dirty="0">
                          <a:ln>
                            <a:noFill/>
                          </a:ln>
                          <a:solidFill>
                            <a:srgbClr val="DEEBF7"/>
                          </a:solidFill>
                          <a:effectLst/>
                        </a:rPr>
                        <a:t>Operation on range</a:t>
                      </a:r>
                    </a:p>
                    <a:p>
                      <a:r>
                        <a:rPr lang="en-US" altLang="zh-CN" b="0" cap="none" spc="0" dirty="0">
                          <a:ln>
                            <a:noFill/>
                          </a:ln>
                          <a:solidFill>
                            <a:srgbClr val="DEEBF7"/>
                          </a:solidFill>
                          <a:effectLst/>
                        </a:rPr>
                        <a:t>(Non-Comparison)</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Counting Sort</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Radix Sort (Bottom-Up)</a:t>
                      </a:r>
                    </a:p>
                    <a:p>
                      <a:r>
                        <a:rPr lang="en-US" altLang="zh-CN" b="0" cap="none" spc="0" dirty="0">
                          <a:ln>
                            <a:noFill/>
                          </a:ln>
                          <a:solidFill>
                            <a:srgbClr val="DEEBF7"/>
                          </a:solidFill>
                          <a:effectLst/>
                        </a:rPr>
                        <a:t>Bucket Sort (Top-Down)</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66324876"/>
                  </a:ext>
                </a:extLst>
              </a:tr>
              <a:tr h="370840">
                <a:tc>
                  <a:txBody>
                    <a:bodyPr/>
                    <a:lstStyle/>
                    <a:p>
                      <a:r>
                        <a:rPr lang="en-US" altLang="zh-CN" b="0" cap="none" spc="0" dirty="0">
                          <a:ln>
                            <a:noFill/>
                          </a:ln>
                          <a:solidFill>
                            <a:srgbClr val="DEEBF7"/>
                          </a:solidFill>
                          <a:effectLst/>
                        </a:rPr>
                        <a:t>Operation on indices</a:t>
                      </a:r>
                    </a:p>
                    <a:p>
                      <a:r>
                        <a:rPr lang="en-US" altLang="zh-CN" b="0" cap="none" spc="0" dirty="0">
                          <a:ln>
                            <a:noFill/>
                          </a:ln>
                          <a:solidFill>
                            <a:srgbClr val="DEEBF7"/>
                          </a:solidFill>
                          <a:effectLst/>
                        </a:rPr>
                        <a:t>(Comparison)</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Selection Sort</a:t>
                      </a:r>
                    </a:p>
                    <a:p>
                      <a:r>
                        <a:rPr lang="en-US" altLang="zh-CN" b="0" cap="none" spc="0" dirty="0">
                          <a:ln>
                            <a:noFill/>
                          </a:ln>
                          <a:solidFill>
                            <a:srgbClr val="DEEBF7"/>
                          </a:solidFill>
                          <a:effectLst/>
                        </a:rPr>
                        <a:t>Bubble Sort</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Quick Sort</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CN" b="0" cap="none" spc="0" dirty="0">
                          <a:ln>
                            <a:noFill/>
                          </a:ln>
                          <a:solidFill>
                            <a:srgbClr val="DEEBF7"/>
                          </a:solidFill>
                          <a:effectLst/>
                        </a:rPr>
                        <a:t>Merge Sort</a:t>
                      </a:r>
                      <a:endParaRPr lang="zh-CN" altLang="en-US" b="0" cap="none" spc="0" dirty="0">
                        <a:ln>
                          <a:noFill/>
                        </a:ln>
                        <a:solidFill>
                          <a:srgbClr val="DEEBF7"/>
                        </a:solidFill>
                        <a:effectLs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14165829"/>
                  </a:ext>
                </a:extLst>
              </a:tr>
            </a:tbl>
          </a:graphicData>
        </a:graphic>
      </p:graphicFrame>
    </p:spTree>
    <p:extLst>
      <p:ext uri="{BB962C8B-B14F-4D97-AF65-F5344CB8AC3E}">
        <p14:creationId xmlns:p14="http://schemas.microsoft.com/office/powerpoint/2010/main" val="2031552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5BAE4-7A38-3955-F1AB-1DE2BE94CE8E}"/>
              </a:ext>
            </a:extLst>
          </p:cNvPr>
          <p:cNvSpPr>
            <a:spLocks noGrp="1"/>
          </p:cNvSpPr>
          <p:nvPr>
            <p:ph type="title"/>
          </p:nvPr>
        </p:nvSpPr>
        <p:spPr/>
        <p:txBody>
          <a:bodyPr/>
          <a:lstStyle/>
          <a:p>
            <a:r>
              <a:rPr lang="en-US" altLang="zh-CN" dirty="0"/>
              <a:t>Model</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A124F7A-6AB3-3F73-7537-7F3CB02572C3}"/>
                  </a:ext>
                </a:extLst>
              </p:cNvPr>
              <p:cNvSpPr>
                <a:spLocks noGrp="1"/>
              </p:cNvSpPr>
              <p:nvPr>
                <p:ph idx="1"/>
              </p:nvPr>
            </p:nvSpPr>
            <p:spPr/>
            <p:txBody>
              <a:bodyPr/>
              <a:lstStyle/>
              <a:p>
                <a:r>
                  <a:rPr lang="en-US" altLang="zh-CN" dirty="0"/>
                  <a:t>The model is from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𝐹</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sup>
                    </m:sSup>
                  </m:oMath>
                </a14:m>
                <a:r>
                  <a:rPr lang="en-US" altLang="zh-CN" dirty="0"/>
                  <a:t>. However, in most cases </a:t>
                </a:r>
                <a14:m>
                  <m:oMath xmlns:m="http://schemas.openxmlformats.org/officeDocument/2006/math">
                    <m:r>
                      <a:rPr lang="en-US" altLang="zh-CN" b="0" i="1" smtClean="0">
                        <a:latin typeface="Cambria Math" panose="02040503050406030204" pitchFamily="18" charset="0"/>
                      </a:rPr>
                      <m:t>𝐹</m:t>
                    </m:r>
                  </m:oMath>
                </a14:m>
                <a:r>
                  <a:rPr lang="zh-CN" altLang="en-US" dirty="0"/>
                  <a:t> </a:t>
                </a:r>
                <a:r>
                  <a:rPr lang="en-US" altLang="zh-CN" dirty="0"/>
                  <a:t>is only meaningful for the relative order of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oMath>
                </a14:m>
                <a:r>
                  <a:rPr lang="en-US" altLang="zh-CN" dirty="0"/>
                  <a:t>. Therefore, </a:t>
                </a:r>
                <a14:m>
                  <m:oMath xmlns:m="http://schemas.openxmlformats.org/officeDocument/2006/math">
                    <m:r>
                      <a:rPr lang="en-US" altLang="zh-CN" b="0" i="1" smtClean="0">
                        <a:latin typeface="Cambria Math" panose="02040503050406030204" pitchFamily="18" charset="0"/>
                      </a:rPr>
                      <m:t>𝐹</m:t>
                    </m:r>
                  </m:oMath>
                </a14:m>
                <a:r>
                  <a:rPr lang="zh-CN" altLang="en-US" dirty="0"/>
                  <a:t> </a:t>
                </a:r>
                <a:r>
                  <a:rPr lang="en-US" altLang="zh-CN" dirty="0"/>
                  <a:t>can be equivalently replaced by a subset of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oMath>
                </a14:m>
                <a:r>
                  <a:rPr lang="en-US" altLang="zh-CN" dirty="0"/>
                  <a:t>, and this process is called </a:t>
                </a:r>
                <a:r>
                  <a:rPr lang="en-US" altLang="zh-CN" b="1" dirty="0">
                    <a:solidFill>
                      <a:srgbClr val="DCFFFF"/>
                    </a:solidFill>
                    <a:effectLst>
                      <a:glow rad="63500">
                        <a:schemeClr val="accent5">
                          <a:satMod val="175000"/>
                          <a:alpha val="40000"/>
                        </a:schemeClr>
                      </a:glow>
                    </a:effectLst>
                    <a:latin typeface="+mj-lt"/>
                    <a:ea typeface="+mj-ea"/>
                    <a:cs typeface="+mj-cs"/>
                  </a:rPr>
                  <a:t>coordinate compression</a:t>
                </a:r>
                <a:r>
                  <a:rPr lang="en-US" altLang="zh-CN" dirty="0"/>
                  <a:t> (of </a:t>
                </a:r>
                <a14:m>
                  <m:oMath xmlns:m="http://schemas.openxmlformats.org/officeDocument/2006/math">
                    <m:r>
                      <a:rPr lang="en-US" altLang="zh-CN" b="0" i="1" smtClean="0">
                        <a:latin typeface="Cambria Math" panose="02040503050406030204" pitchFamily="18" charset="0"/>
                      </a:rPr>
                      <m:t>𝐹</m:t>
                    </m:r>
                  </m:oMath>
                </a14:m>
                <a:r>
                  <a:rPr lang="en-US" altLang="zh-CN" dirty="0"/>
                  <a:t>).</a:t>
                </a:r>
              </a:p>
              <a:p>
                <a:endParaRPr lang="en-US" altLang="zh-CN" dirty="0"/>
              </a:p>
              <a:p>
                <a:r>
                  <a:rPr lang="en-US" altLang="zh-CN" b="1" dirty="0">
                    <a:solidFill>
                      <a:srgbClr val="DCFFFF"/>
                    </a:solidFill>
                    <a:effectLst>
                      <a:glow rad="63500">
                        <a:schemeClr val="accent5">
                          <a:satMod val="175000"/>
                          <a:alpha val="40000"/>
                        </a:schemeClr>
                      </a:glow>
                    </a:effectLst>
                    <a:latin typeface="+mj-lt"/>
                    <a:ea typeface="+mj-ea"/>
                    <a:cs typeface="+mj-cs"/>
                  </a:rPr>
                  <a:t>Example.</a:t>
                </a:r>
                <a:r>
                  <a:rPr lang="en-US" altLang="zh-CN" b="1" dirty="0"/>
                  <a:t>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3</m:t>
                        </m:r>
                      </m:den>
                    </m:f>
                    <m:r>
                      <a:rPr lang="en-US" altLang="zh-CN" b="0" i="1" smtClean="0">
                        <a:latin typeface="Cambria Math" panose="02040503050406030204" pitchFamily="18" charset="0"/>
                      </a:rPr>
                      <m:t>,  0, 11, −4.5, 11, 4.5, 14, 0}</m:t>
                    </m:r>
                  </m:oMath>
                </a14:m>
                <a:r>
                  <a:rPr lang="en-US" altLang="zh-CN" dirty="0"/>
                  <a:t> may be replaced by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={2,3,5,1,5,4,6,3}</m:t>
                    </m:r>
                  </m:oMath>
                </a14:m>
                <a:r>
                  <a:rPr lang="en-US" altLang="zh-CN" dirty="0"/>
                  <a:t>.</a:t>
                </a:r>
              </a:p>
              <a:p>
                <a:endParaRPr lang="en-US" altLang="zh-CN" dirty="0"/>
              </a:p>
              <a:p>
                <a:r>
                  <a:rPr lang="en-US" altLang="zh-CN" dirty="0"/>
                  <a:t>Especially, sometimes we don’t care of the equality between </a:t>
                </a:r>
                <a14:m>
                  <m:oMath xmlns:m="http://schemas.openxmlformats.org/officeDocument/2006/math">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 (mainly occurs when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oMath>
                </a14:m>
                <a:r>
                  <a:rPr lang="en-US" altLang="zh-CN" dirty="0"/>
                  <a:t> can be equivalently replaced by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𝜖</m:t>
                    </m:r>
                  </m:oMath>
                </a14:m>
                <a:r>
                  <a:rPr lang="en-US" altLang="zh-CN" dirty="0"/>
                  <a:t> where </a:t>
                </a:r>
                <a14:m>
                  <m:oMath xmlns:m="http://schemas.openxmlformats.org/officeDocument/2006/math">
                    <m:r>
                      <a:rPr lang="en-US" altLang="zh-CN" b="0" i="1" smtClean="0">
                        <a:latin typeface="Cambria Math" panose="02040503050406030204" pitchFamily="18" charset="0"/>
                      </a:rPr>
                      <m:t>𝜖</m:t>
                    </m:r>
                  </m:oMath>
                </a14:m>
                <a:r>
                  <a:rPr lang="en-US" altLang="zh-CN" dirty="0"/>
                  <a:t> is an infinitesimal), thus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oMath>
                </a14:m>
                <a:r>
                  <a:rPr lang="en-US" altLang="zh-CN" dirty="0"/>
                  <a:t> can be replaced by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en-US" altLang="zh-CN" dirty="0"/>
                  <a:t> and </a:t>
                </a:r>
                <a14:m>
                  <m:oMath xmlns:m="http://schemas.openxmlformats.org/officeDocument/2006/math">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 are unique, </a:t>
                </a:r>
                <a14:m>
                  <m:oMath xmlns:m="http://schemas.openxmlformats.org/officeDocument/2006/math">
                    <m:r>
                      <a:rPr lang="en-US" altLang="zh-CN" b="0" i="1" smtClean="0">
                        <a:latin typeface="Cambria Math" panose="02040503050406030204" pitchFamily="18" charset="0"/>
                      </a:rPr>
                      <m:t>𝐴</m:t>
                    </m:r>
                  </m:oMath>
                </a14:m>
                <a:r>
                  <a:rPr lang="en-US" altLang="zh-CN" dirty="0"/>
                  <a:t> becomes a </a:t>
                </a:r>
                <a:r>
                  <a:rPr lang="en-US" altLang="zh-CN" b="1" dirty="0">
                    <a:solidFill>
                      <a:srgbClr val="DCFFFF"/>
                    </a:solidFill>
                    <a:effectLst>
                      <a:glow rad="63500">
                        <a:schemeClr val="accent5">
                          <a:satMod val="175000"/>
                          <a:alpha val="40000"/>
                        </a:schemeClr>
                      </a:glow>
                    </a:effectLst>
                    <a:latin typeface="+mj-lt"/>
                    <a:ea typeface="+mj-ea"/>
                    <a:cs typeface="+mj-cs"/>
                  </a:rPr>
                  <a:t>equivalent permutation</a:t>
                </a:r>
                <a:r>
                  <a:rPr lang="en-US" altLang="zh-CN" dirty="0"/>
                  <a:t>.</a:t>
                </a:r>
              </a:p>
              <a:p>
                <a:endParaRPr lang="en-US" altLang="zh-CN" dirty="0"/>
              </a:p>
              <a:p>
                <a:r>
                  <a:rPr lang="en-US" altLang="zh-CN" b="1" dirty="0"/>
                  <a:t>Example.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3</m:t>
                        </m:r>
                      </m:den>
                    </m:f>
                    <m:r>
                      <a:rPr lang="en-US" altLang="zh-CN" b="0" i="1" smtClean="0">
                        <a:latin typeface="Cambria Math" panose="02040503050406030204" pitchFamily="18" charset="0"/>
                      </a:rPr>
                      <m:t>,  0, 11, −4.5, 11, 4.5, 14, 0}</m:t>
                    </m:r>
                  </m:oMath>
                </a14:m>
                <a:r>
                  <a:rPr lang="en-US" altLang="zh-CN" dirty="0"/>
                  <a:t> may be replaced by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={2,4,6,1,7,5,8,3}</m:t>
                    </m:r>
                  </m:oMath>
                </a14:m>
                <a:r>
                  <a:rPr lang="en-US" altLang="zh-CN" dirty="0"/>
                  <a:t>.</a:t>
                </a:r>
              </a:p>
              <a:p>
                <a:endParaRPr lang="en-US" altLang="zh-CN" dirty="0"/>
              </a:p>
            </p:txBody>
          </p:sp>
        </mc:Choice>
        <mc:Fallback xmlns="">
          <p:sp>
            <p:nvSpPr>
              <p:cNvPr id="3" name="内容占位符 2">
                <a:extLst>
                  <a:ext uri="{FF2B5EF4-FFF2-40B4-BE49-F238E27FC236}">
                    <a16:creationId xmlns:a16="http://schemas.microsoft.com/office/drawing/2014/main" id="{5A124F7A-6AB3-3F73-7537-7F3CB02572C3}"/>
                  </a:ext>
                </a:extLst>
              </p:cNvPr>
              <p:cNvSpPr>
                <a:spLocks noGrp="1" noRot="1" noChangeAspect="1" noMove="1" noResize="1" noEditPoints="1" noAdjustHandles="1" noChangeArrowheads="1" noChangeShapeType="1" noTextEdit="1"/>
              </p:cNvSpPr>
              <p:nvPr>
                <p:ph idx="1"/>
              </p:nvPr>
            </p:nvSpPr>
            <p:spPr>
              <a:blipFill>
                <a:blip r:embed="rId2"/>
                <a:stretch>
                  <a:fillRect l="-1275" t="-1194" r="-9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8708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230D83-96E0-58EF-C3A1-CF01746D11A2}"/>
              </a:ext>
            </a:extLst>
          </p:cNvPr>
          <p:cNvSpPr>
            <a:spLocks noGrp="1"/>
          </p:cNvSpPr>
          <p:nvPr>
            <p:ph type="title"/>
          </p:nvPr>
        </p:nvSpPr>
        <p:spPr/>
        <p:txBody>
          <a:bodyPr/>
          <a:lstStyle/>
          <a:p>
            <a:r>
              <a:rPr lang="en-US" altLang="zh-CN" dirty="0"/>
              <a:t>Model</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5CD48DD-4A5D-AABA-78BC-0BD19C4B8179}"/>
                  </a:ext>
                </a:extLst>
              </p:cNvPr>
              <p:cNvSpPr>
                <a:spLocks noGrp="1"/>
              </p:cNvSpPr>
              <p:nvPr>
                <p:ph idx="1"/>
              </p:nvPr>
            </p:nvSpPr>
            <p:spPr/>
            <p:txBody>
              <a:bodyPr/>
              <a:lstStyle/>
              <a:p>
                <a:r>
                  <a:rPr lang="en-US" altLang="zh-CN" dirty="0"/>
                  <a:t>Notice that for an input </a:t>
                </a:r>
                <a14:m>
                  <m:oMath xmlns:m="http://schemas.openxmlformats.org/officeDocument/2006/math">
                    <m:r>
                      <a:rPr lang="en-US" altLang="zh-CN" b="0" i="1" smtClean="0">
                        <a:latin typeface="Cambria Math" panose="02040503050406030204" pitchFamily="18" charset="0"/>
                      </a:rPr>
                      <m:t>𝐴</m:t>
                    </m:r>
                  </m:oMath>
                </a14:m>
                <a:r>
                  <a:rPr lang="en-US" altLang="zh-CN" dirty="0"/>
                  <a:t>, </a:t>
                </a:r>
                <a:r>
                  <a:rPr lang="en-US" altLang="zh-CN" b="1" dirty="0">
                    <a:solidFill>
                      <a:srgbClr val="DCFFFF"/>
                    </a:solidFill>
                    <a:effectLst>
                      <a:glow rad="63500">
                        <a:schemeClr val="accent5">
                          <a:satMod val="175000"/>
                          <a:alpha val="40000"/>
                        </a:schemeClr>
                      </a:glow>
                    </a:effectLst>
                    <a:latin typeface="+mj-lt"/>
                    <a:ea typeface="+mj-ea"/>
                    <a:cs typeface="+mj-cs"/>
                  </a:rPr>
                  <a:t>“to find coordinate comparison/permutation equivalence”</a:t>
                </a:r>
                <a:r>
                  <a:rPr lang="en-US" altLang="zh-CN" dirty="0"/>
                  <a:t> is equivalent to </a:t>
                </a:r>
                <a:r>
                  <a:rPr lang="en-US" altLang="zh-CN" b="1" dirty="0">
                    <a:solidFill>
                      <a:srgbClr val="DCFFFF"/>
                    </a:solidFill>
                    <a:effectLst>
                      <a:glow rad="63500">
                        <a:schemeClr val="accent5">
                          <a:satMod val="175000"/>
                          <a:alpha val="40000"/>
                        </a:schemeClr>
                      </a:glow>
                    </a:effectLst>
                    <a:latin typeface="+mj-lt"/>
                    <a:ea typeface="+mj-ea"/>
                    <a:cs typeface="+mj-cs"/>
                  </a:rPr>
                  <a:t>sorting</a:t>
                </a:r>
                <a:r>
                  <a:rPr lang="en-US" altLang="zh-CN" dirty="0"/>
                  <a:t>. That’s why we explain it after sorting algorithms.</a:t>
                </a:r>
              </a:p>
              <a:p>
                <a:endParaRPr lang="en-US" altLang="zh-CN" dirty="0"/>
              </a:p>
              <a:p>
                <a:r>
                  <a:rPr lang="en-US" altLang="zh-CN" dirty="0"/>
                  <a:t>They are not for processing sorting algorithms, but for studying and representing </a:t>
                </a:r>
                <a:r>
                  <a:rPr lang="en-US" altLang="zh-CN" b="1" dirty="0">
                    <a:solidFill>
                      <a:srgbClr val="DCFFFF"/>
                    </a:solidFill>
                    <a:effectLst>
                      <a:glow rad="63500">
                        <a:schemeClr val="accent5">
                          <a:satMod val="175000"/>
                          <a:alpha val="40000"/>
                        </a:schemeClr>
                      </a:glow>
                    </a:effectLst>
                    <a:latin typeface="+mj-lt"/>
                    <a:ea typeface="+mj-ea"/>
                    <a:cs typeface="+mj-cs"/>
                  </a:rPr>
                  <a:t>structures based on orders</a:t>
                </a:r>
                <a:r>
                  <a:rPr lang="en-US" altLang="zh-CN" dirty="0"/>
                  <a:t>.</a:t>
                </a:r>
                <a:endParaRPr lang="zh-CN" altLang="en-US" dirty="0"/>
              </a:p>
            </p:txBody>
          </p:sp>
        </mc:Choice>
        <mc:Fallback xmlns="">
          <p:sp>
            <p:nvSpPr>
              <p:cNvPr id="3" name="内容占位符 2">
                <a:extLst>
                  <a:ext uri="{FF2B5EF4-FFF2-40B4-BE49-F238E27FC236}">
                    <a16:creationId xmlns:a16="http://schemas.microsoft.com/office/drawing/2014/main" id="{65CD48DD-4A5D-AABA-78BC-0BD19C4B8179}"/>
                  </a:ext>
                </a:extLst>
              </p:cNvPr>
              <p:cNvSpPr>
                <a:spLocks noGrp="1" noRot="1" noChangeAspect="1" noMove="1" noResize="1" noEditPoints="1" noAdjustHandles="1" noChangeArrowheads="1" noChangeShapeType="1" noTextEdit="1"/>
              </p:cNvSpPr>
              <p:nvPr>
                <p:ph idx="1"/>
              </p:nvPr>
            </p:nvSpPr>
            <p:spPr>
              <a:blipFill>
                <a:blip r:embed="rId2"/>
                <a:stretch>
                  <a:fillRect l="-1217" t="-21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3047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BDC72-B807-B5EC-1234-89FD30AEE875}"/>
              </a:ext>
            </a:extLst>
          </p:cNvPr>
          <p:cNvSpPr>
            <a:spLocks noGrp="1"/>
          </p:cNvSpPr>
          <p:nvPr>
            <p:ph type="title"/>
          </p:nvPr>
        </p:nvSpPr>
        <p:spPr/>
        <p:txBody>
          <a:bodyPr/>
          <a:lstStyle/>
          <a:p>
            <a:r>
              <a:rPr lang="en-US" altLang="zh-CN" dirty="0"/>
              <a:t>An Appendix &amp; Example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A9174A6-AEAE-1D4C-1E66-36638D78FE73}"/>
                  </a:ext>
                </a:extLst>
              </p:cNvPr>
              <p:cNvSpPr>
                <a:spLocks noGrp="1"/>
              </p:cNvSpPr>
              <p:nvPr>
                <p:ph idx="1"/>
              </p:nvPr>
            </p:nvSpPr>
            <p:spPr/>
            <p:txBody>
              <a:bodyPr/>
              <a:lstStyle/>
              <a:p>
                <a:r>
                  <a:rPr lang="en-US" altLang="zh-CN" dirty="0"/>
                  <a:t>In the view of information theory, we can regard sorting as locating a equivalent permutation in all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 </a:t>
                </a:r>
                <a:r>
                  <a:rPr lang="en-US" altLang="zh-CN" dirty="0"/>
                  <a:t>permutations.</a:t>
                </a:r>
              </a:p>
              <a:p>
                <a:endParaRPr lang="en-US" altLang="zh-CN" dirty="0"/>
              </a:p>
              <a:p>
                <a:r>
                  <a:rPr lang="en-US" altLang="zh-CN" dirty="0"/>
                  <a:t>And the comparison operation only has 2 possible results. Therefore, the lower bound of comparison sort is </a:t>
                </a:r>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log</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m:rPr>
                        <m:sty m:val="p"/>
                      </m:rPr>
                      <a:rPr lang="en-US" altLang="zh-CN" b="0" i="1" smtClean="0">
                        <a:latin typeface="Cambria Math" panose="02040503050406030204" pitchFamily="18" charset="0"/>
                      </a:rPr>
                      <m:t>log</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oMath>
                </a14:m>
                <a:r>
                  <a:rPr lang="en-US" altLang="zh-CN" dirty="0"/>
                  <a:t>. (</a:t>
                </a:r>
                <a14:m>
                  <m:oMath xmlns:m="http://schemas.openxmlformats.org/officeDocument/2006/math">
                    <m:r>
                      <a:rPr lang="en-US" altLang="zh-CN" b="0" i="1" smtClean="0">
                        <a:latin typeface="Cambria Math" panose="02040503050406030204" pitchFamily="18" charset="0"/>
                      </a:rPr>
                      <m:t>∼</m:t>
                    </m:r>
                  </m:oMath>
                </a14:m>
                <a:r>
                  <a:rPr lang="en-US" altLang="zh-CN" dirty="0"/>
                  <a:t> means equivalent infinity, and </a:t>
                </a:r>
                <a14:m>
                  <m:oMath xmlns:m="http://schemas.openxmlformats.org/officeDocument/2006/math">
                    <m:r>
                      <m:rPr>
                        <m:sty m:val="p"/>
                      </m:rPr>
                      <a:rPr lang="en-US" altLang="zh-CN" b="0" i="1" smtClean="0">
                        <a:latin typeface="Cambria Math" panose="02040503050406030204" pitchFamily="18" charset="0"/>
                      </a:rPr>
                      <m:t>log</m:t>
                    </m:r>
                  </m:oMath>
                </a14:m>
                <a:r>
                  <a:rPr lang="en-US" altLang="zh-CN" dirty="0"/>
                  <a:t> is natural logarithm without subscript)</a:t>
                </a:r>
                <a:endParaRPr lang="zh-CN" altLang="en-US" dirty="0"/>
              </a:p>
            </p:txBody>
          </p:sp>
        </mc:Choice>
        <mc:Fallback xmlns="">
          <p:sp>
            <p:nvSpPr>
              <p:cNvPr id="3" name="内容占位符 2">
                <a:extLst>
                  <a:ext uri="{FF2B5EF4-FFF2-40B4-BE49-F238E27FC236}">
                    <a16:creationId xmlns:a16="http://schemas.microsoft.com/office/drawing/2014/main" id="{7A9174A6-AEAE-1D4C-1E66-36638D78FE73}"/>
                  </a:ext>
                </a:extLst>
              </p:cNvPr>
              <p:cNvSpPr>
                <a:spLocks noGrp="1" noRot="1" noChangeAspect="1" noMove="1" noResize="1" noEditPoints="1" noAdjustHandles="1" noChangeArrowheads="1" noChangeShapeType="1" noTextEdit="1"/>
              </p:cNvSpPr>
              <p:nvPr>
                <p:ph idx="1"/>
              </p:nvPr>
            </p:nvSpPr>
            <p:spPr>
              <a:blipFill>
                <a:blip r:embed="rId2"/>
                <a:stretch>
                  <a:fillRect l="-928" t="-15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13012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246062-7369-C2AC-06F1-5243D7C25DF2}"/>
              </a:ext>
            </a:extLst>
          </p:cNvPr>
          <p:cNvSpPr>
            <a:spLocks noGrp="1"/>
          </p:cNvSpPr>
          <p:nvPr>
            <p:ph type="title"/>
          </p:nvPr>
        </p:nvSpPr>
        <p:spPr/>
        <p:txBody>
          <a:bodyPr>
            <a:normAutofit/>
          </a:bodyPr>
          <a:lstStyle/>
          <a:p>
            <a:r>
              <a:rPr lang="en-US" altLang="zh-CN" dirty="0"/>
              <a:t>Index. Structure Based on Orders</a:t>
            </a:r>
            <a:endParaRPr lang="zh-CN" altLang="en-US" dirty="0"/>
          </a:p>
        </p:txBody>
      </p:sp>
      <p:sp>
        <p:nvSpPr>
          <p:cNvPr id="3" name="内容占位符 2">
            <a:extLst>
              <a:ext uri="{FF2B5EF4-FFF2-40B4-BE49-F238E27FC236}">
                <a16:creationId xmlns:a16="http://schemas.microsoft.com/office/drawing/2014/main" id="{FA108E4E-5A2C-44AB-68AB-1A44B0E32D08}"/>
              </a:ext>
            </a:extLst>
          </p:cNvPr>
          <p:cNvSpPr>
            <a:spLocks noGrp="1"/>
          </p:cNvSpPr>
          <p:nvPr>
            <p:ph idx="1"/>
          </p:nvPr>
        </p:nvSpPr>
        <p:spPr/>
        <p:txBody>
          <a:bodyPr>
            <a:normAutofit/>
          </a:bodyPr>
          <a:lstStyle/>
          <a:p>
            <a:pPr marL="342900" indent="-342900">
              <a:buFont typeface="Arial" panose="020B0604020202020204" pitchFamily="34" charset="0"/>
              <a:buChar char="•"/>
            </a:pPr>
            <a:r>
              <a:rPr lang="en-US" altLang="zh-CN" dirty="0"/>
              <a:t>Comparison Sorting</a:t>
            </a:r>
          </a:p>
          <a:p>
            <a:pPr marL="800100" lvl="1" indent="-342900">
              <a:buFont typeface="Arial" panose="020B0604020202020204" pitchFamily="34" charset="0"/>
              <a:buChar char="•"/>
            </a:pPr>
            <a:r>
              <a:rPr lang="en-US" altLang="zh-CN" dirty="0"/>
              <a:t>Sorting Network</a:t>
            </a:r>
          </a:p>
          <a:p>
            <a:pPr marL="1257300" lvl="2" indent="-342900">
              <a:buFont typeface="Arial" panose="020B0604020202020204" pitchFamily="34" charset="0"/>
              <a:buChar char="•"/>
            </a:pPr>
            <a:r>
              <a:rPr lang="en-US" altLang="zh-CN" dirty="0"/>
              <a:t>Batcher’s odd-even merge sort</a:t>
            </a:r>
          </a:p>
          <a:p>
            <a:pPr marL="1257300" lvl="2" indent="-342900">
              <a:buFont typeface="Arial" panose="020B0604020202020204" pitchFamily="34" charset="0"/>
              <a:buChar char="•"/>
            </a:pPr>
            <a:r>
              <a:rPr lang="en-US" altLang="zh-CN" b="1" dirty="0"/>
              <a:t>0-1 principle</a:t>
            </a:r>
            <a:endParaRPr lang="en-US" altLang="zh-CN" dirty="0"/>
          </a:p>
          <a:p>
            <a:pPr marL="800100" lvl="1" indent="-342900">
              <a:buFont typeface="Arial" panose="020B0604020202020204" pitchFamily="34" charset="0"/>
              <a:buChar char="•"/>
            </a:pPr>
            <a:r>
              <a:rPr lang="en-US" altLang="zh-CN" dirty="0"/>
              <a:t>0-1 principle in Comparison Sorting</a:t>
            </a:r>
          </a:p>
          <a:p>
            <a:pPr marL="1257300" lvl="2" indent="-342900">
              <a:buFont typeface="Arial" panose="020B0604020202020204" pitchFamily="34" charset="0"/>
              <a:buChar char="•"/>
            </a:pPr>
            <a:r>
              <a:rPr lang="en-US" altLang="zh-CN" dirty="0"/>
              <a:t>Bubble Sort</a:t>
            </a:r>
          </a:p>
          <a:p>
            <a:pPr marL="1714500" lvl="3" indent="-342900">
              <a:buFont typeface="Arial" panose="020B0604020202020204" pitchFamily="34" charset="0"/>
              <a:buChar char="•"/>
            </a:pPr>
            <a:r>
              <a:rPr lang="en-US" altLang="zh-CN" dirty="0"/>
              <a:t>[Example] USACO 2018 Out of Sorts USACO 2019 Sort It Out</a:t>
            </a:r>
          </a:p>
          <a:p>
            <a:pPr marL="1714500" lvl="3" indent="-342900">
              <a:buFont typeface="Arial" panose="020B0604020202020204" pitchFamily="34" charset="0"/>
              <a:buChar char="•"/>
            </a:pPr>
            <a:r>
              <a:rPr lang="en-US" altLang="zh-CN" dirty="0"/>
              <a:t>Other Representations and Observations of Bubble Sort</a:t>
            </a:r>
          </a:p>
          <a:p>
            <a:pPr marL="1257300" lvl="2" indent="-342900">
              <a:buFont typeface="Arial" panose="020B0604020202020204" pitchFamily="34" charset="0"/>
              <a:buChar char="•"/>
            </a:pPr>
            <a:r>
              <a:rPr lang="en-US" altLang="zh-CN" dirty="0"/>
              <a:t>[Problem] CF 1552G</a:t>
            </a:r>
          </a:p>
          <a:p>
            <a:pPr marL="1257300" lvl="2" indent="-342900">
              <a:buFont typeface="Arial" panose="020B0604020202020204" pitchFamily="34" charset="0"/>
              <a:buChar char="•"/>
            </a:pPr>
            <a:r>
              <a:rPr lang="en-US" altLang="zh-CN" dirty="0"/>
              <a:t>[Problem] AGC 057E</a:t>
            </a:r>
          </a:p>
          <a:p>
            <a:pPr marL="1257300" lvl="2" indent="-342900">
              <a:buFont typeface="Arial" panose="020B0604020202020204" pitchFamily="34" charset="0"/>
              <a:buChar char="•"/>
            </a:pPr>
            <a:r>
              <a:rPr lang="en-US" altLang="zh-CN" dirty="0"/>
              <a:t>[Problem] CF 1427G</a:t>
            </a:r>
          </a:p>
          <a:p>
            <a:pPr marL="342900" indent="-342900">
              <a:buFont typeface="Arial" panose="020B0604020202020204" pitchFamily="34" charset="0"/>
              <a:buChar char="•"/>
            </a:pPr>
            <a:r>
              <a:rPr lang="en-US" altLang="zh-CN" dirty="0"/>
              <a:t>[For Future] Inversion Pairs</a:t>
            </a:r>
          </a:p>
          <a:p>
            <a:pPr marL="800100" lvl="1" indent="-342900">
              <a:buFont typeface="Arial" panose="020B0604020202020204" pitchFamily="34" charset="0"/>
              <a:buChar char="•"/>
            </a:pPr>
            <a:r>
              <a:rPr lang="en-US" altLang="zh-CN" dirty="0"/>
              <a:t>[Example] Counting Inversion Pairs in 2D-embedded partial order</a:t>
            </a:r>
          </a:p>
          <a:p>
            <a:pPr marL="800100" lvl="1" indent="-342900">
              <a:buFont typeface="Arial" panose="020B0604020202020204" pitchFamily="34" charset="0"/>
              <a:buChar char="•"/>
            </a:pPr>
            <a:r>
              <a:rPr lang="en-US" altLang="zh-CN" dirty="0"/>
              <a:t>[Problem] LOJ535</a:t>
            </a:r>
          </a:p>
          <a:p>
            <a:pPr marL="342900" indent="-342900">
              <a:buFont typeface="Arial" panose="020B0604020202020204" pitchFamily="34" charset="0"/>
              <a:buChar char="•"/>
            </a:pPr>
            <a:r>
              <a:rPr lang="en-US" altLang="zh-CN" dirty="0"/>
              <a:t>[For Future] Increasing Subsequence/Cartesian Tree/Consecutive Segments…</a:t>
            </a:r>
          </a:p>
        </p:txBody>
      </p:sp>
    </p:spTree>
    <p:extLst>
      <p:ext uri="{BB962C8B-B14F-4D97-AF65-F5344CB8AC3E}">
        <p14:creationId xmlns:p14="http://schemas.microsoft.com/office/powerpoint/2010/main" val="2020701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366D19-1999-C115-79CD-A71F364F74CD}"/>
              </a:ext>
            </a:extLst>
          </p:cNvPr>
          <p:cNvSpPr>
            <a:spLocks noGrp="1"/>
          </p:cNvSpPr>
          <p:nvPr>
            <p:ph type="title"/>
          </p:nvPr>
        </p:nvSpPr>
        <p:spPr/>
        <p:txBody>
          <a:bodyPr/>
          <a:lstStyle/>
          <a:p>
            <a:r>
              <a:rPr lang="en-US" altLang="zh-CN" dirty="0"/>
              <a:t>Sorting Network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EC0CBA8-652B-2F00-92EE-83C1067F2C4B}"/>
                  </a:ext>
                </a:extLst>
              </p:cNvPr>
              <p:cNvSpPr>
                <a:spLocks noGrp="1"/>
              </p:cNvSpPr>
              <p:nvPr>
                <p:ph idx="1"/>
              </p:nvPr>
            </p:nvSpPr>
            <p:spPr/>
            <p:txBody>
              <a:bodyPr>
                <a:normAutofit/>
              </a:bodyPr>
              <a:lstStyle/>
              <a:p>
                <a:r>
                  <a:rPr lang="en-US" altLang="zh-CN" dirty="0"/>
                  <a:t>Sorting Network is a process. It contains multiple comparators, each comparator is of form “compare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oMath>
                </a14:m>
                <a:r>
                  <a:rPr lang="en-US" altLang="zh-CN" dirty="0"/>
                  <a:t> and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oMath>
                </a14:m>
                <a:r>
                  <a:rPr lang="en-US" altLang="zh-CN" dirty="0"/>
                  <a:t> at time </a:t>
                </a:r>
                <a14:m>
                  <m:oMath xmlns:m="http://schemas.openxmlformats.org/officeDocument/2006/math">
                    <m:r>
                      <a:rPr lang="en-US" altLang="zh-CN" b="0" i="1" smtClean="0">
                        <a:latin typeface="Cambria Math" panose="02040503050406030204" pitchFamily="18" charset="0"/>
                      </a:rPr>
                      <m:t>𝑡</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ℕ</m:t>
                        </m:r>
                      </m:e>
                      <m:sup>
                        <m:r>
                          <a:rPr lang="en-US" altLang="zh-CN" b="0" i="1" smtClean="0">
                            <a:latin typeface="Cambria Math" panose="02040503050406030204" pitchFamily="18" charset="0"/>
                          </a:rPr>
                          <m:t>+</m:t>
                        </m:r>
                      </m:sup>
                    </m:sSup>
                  </m:oMath>
                </a14:m>
                <a:r>
                  <a:rPr lang="en-US" altLang="zh-CN" dirty="0"/>
                  <a:t>, if they are inversion pair, swap them”. And one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oMath>
                </a14:m>
                <a:r>
                  <a:rPr lang="en-US" altLang="zh-CN" dirty="0"/>
                  <a:t> never appears in different comparators in the same time to disambiguate.</a:t>
                </a:r>
              </a:p>
              <a:p>
                <a:r>
                  <a:rPr lang="en-US" altLang="zh-CN" dirty="0"/>
                  <a:t>Here “inversion pair” is a pair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oMath>
                </a14:m>
                <a:r>
                  <a:rPr lang="zh-CN" altLang="en-US" dirty="0"/>
                  <a:t> </a:t>
                </a:r>
                <a:r>
                  <a:rPr lang="en-US" altLang="zh-CN" dirty="0"/>
                  <a:t>such that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&lt;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&gt;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oMath>
                </a14:m>
                <a:r>
                  <a:rPr lang="zh-CN" altLang="en-US" dirty="0"/>
                  <a:t> </a:t>
                </a:r>
                <a:r>
                  <a:rPr lang="en-US" altLang="zh-CN" dirty="0"/>
                  <a:t>or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&gt;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&lt;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oMath>
                </a14:m>
                <a:r>
                  <a:rPr lang="en-US" altLang="zh-CN" dirty="0"/>
                  <a:t>.</a:t>
                </a:r>
              </a:p>
              <a:p>
                <a:endParaRPr lang="en-US" altLang="zh-CN" dirty="0"/>
              </a:p>
              <a:p>
                <a:r>
                  <a:rPr lang="en-US" altLang="zh-CN" dirty="0"/>
                  <a:t>Sorting Network represents a static comparison sorting algorithm (circuit).</a:t>
                </a:r>
              </a:p>
              <a:p>
                <a:endParaRPr lang="en-US" altLang="zh-CN" dirty="0"/>
              </a:p>
              <a:p>
                <a14:m>
                  <m:oMath xmlns:m="http://schemas.openxmlformats.org/officeDocument/2006/math">
                    <m:r>
                      <m:rPr>
                        <m:sty m:val="p"/>
                      </m:rPr>
                      <a:rPr lang="en-US" altLang="zh-CN" b="0" i="1" smtClean="0">
                        <a:latin typeface="Cambria Math" panose="02040503050406030204" pitchFamily="18" charset="0"/>
                      </a:rPr>
                      <m:t>max</m:t>
                    </m:r>
                    <m:r>
                      <a:rPr lang="en-US" altLang="zh-CN" b="0" i="1" smtClean="0">
                        <a:latin typeface="Cambria Math" panose="02040503050406030204" pitchFamily="18" charset="0"/>
                      </a:rPr>
                      <m:t> </m:t>
                    </m:r>
                    <m:r>
                      <a:rPr lang="en-US" altLang="zh-CN" b="0" i="1" smtClean="0">
                        <a:latin typeface="Cambria Math" panose="02040503050406030204" pitchFamily="18" charset="0"/>
                      </a:rPr>
                      <m:t>𝑡</m:t>
                    </m:r>
                  </m:oMath>
                </a14:m>
                <a:r>
                  <a:rPr lang="en-US" altLang="zh-CN" dirty="0"/>
                  <a:t> is called the depth of network; the number of comparators is called the size.</a:t>
                </a:r>
              </a:p>
              <a:p>
                <a:r>
                  <a:rPr lang="en-US" altLang="zh-CN" dirty="0"/>
                  <a:t>There exists sorting network of depth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log</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 </a:t>
                </a:r>
                <a:r>
                  <a:rPr lang="en-US" altLang="zh-CN" dirty="0"/>
                  <a:t>and size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m:rPr>
                        <m:sty m:val="p"/>
                      </m:rPr>
                      <a:rPr lang="en-US" altLang="zh-CN" b="0" i="1" smtClean="0">
                        <a:latin typeface="Cambria Math" panose="02040503050406030204" pitchFamily="18" charset="0"/>
                      </a:rPr>
                      <m:t>log</m:t>
                    </m:r>
                    <m:r>
                      <a:rPr lang="en-US" altLang="zh-CN" b="0" i="1" smtClean="0">
                        <a:latin typeface="Cambria Math" panose="02040503050406030204" pitchFamily="18" charset="0"/>
                      </a:rPr>
                      <m:t> </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en-US" altLang="zh-CN" dirty="0"/>
                  <a:t>, like AKS (</a:t>
                </a:r>
                <a:r>
                  <a:rPr lang="en-US" altLang="zh-CN" dirty="0" err="1"/>
                  <a:t>Ajtai-Komlós-Szemerédi</a:t>
                </a:r>
                <a:r>
                  <a:rPr lang="en-US" altLang="zh-CN" dirty="0"/>
                  <a:t>) network but with large constant coefficients. There are many simple </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m:rPr>
                            <m:sty m:val="p"/>
                          </m:rPr>
                          <a:rPr lang="en-US" altLang="zh-CN" b="0" i="0" smtClean="0">
                            <a:latin typeface="Cambria Math" panose="02040503050406030204" pitchFamily="18" charset="0"/>
                          </a:rPr>
                          <m:t>log</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 </a:t>
                </a:r>
                <a:r>
                  <a:rPr lang="en-US" altLang="zh-CN" dirty="0"/>
                  <a:t>depth networks.</a:t>
                </a:r>
                <a:endParaRPr lang="zh-CN" altLang="en-US" dirty="0"/>
              </a:p>
            </p:txBody>
          </p:sp>
        </mc:Choice>
        <mc:Fallback xmlns="">
          <p:sp>
            <p:nvSpPr>
              <p:cNvPr id="3" name="内容占位符 2">
                <a:extLst>
                  <a:ext uri="{FF2B5EF4-FFF2-40B4-BE49-F238E27FC236}">
                    <a16:creationId xmlns:a16="http://schemas.microsoft.com/office/drawing/2014/main" id="{9EC0CBA8-652B-2F00-92EE-83C1067F2C4B}"/>
                  </a:ext>
                </a:extLst>
              </p:cNvPr>
              <p:cNvSpPr>
                <a:spLocks noGrp="1" noRot="1" noChangeAspect="1" noMove="1" noResize="1" noEditPoints="1" noAdjustHandles="1" noChangeArrowheads="1" noChangeShapeType="1" noTextEdit="1"/>
              </p:cNvSpPr>
              <p:nvPr>
                <p:ph idx="1"/>
              </p:nvPr>
            </p:nvSpPr>
            <p:spPr>
              <a:blipFill>
                <a:blip r:embed="rId2"/>
                <a:stretch>
                  <a:fillRect l="-928" t="-1520" r="-58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C94E9BB-1BC9-00E9-3AD3-969302F30428}"/>
              </a:ext>
            </a:extLst>
          </p:cNvPr>
          <p:cNvPicPr>
            <a:picLocks noChangeAspect="1"/>
          </p:cNvPicPr>
          <p:nvPr/>
        </p:nvPicPr>
        <p:blipFill>
          <a:blip r:embed="rId3">
            <a:lum bright="70000" contrast="-70000"/>
          </a:blip>
          <a:stretch>
            <a:fillRect/>
          </a:stretch>
        </p:blipFill>
        <p:spPr>
          <a:xfrm>
            <a:off x="6013450" y="5054600"/>
            <a:ext cx="5770880" cy="1803400"/>
          </a:xfrm>
          <a:prstGeom prst="rect">
            <a:avLst/>
          </a:prstGeom>
        </p:spPr>
      </p:pic>
    </p:spTree>
    <p:extLst>
      <p:ext uri="{BB962C8B-B14F-4D97-AF65-F5344CB8AC3E}">
        <p14:creationId xmlns:p14="http://schemas.microsoft.com/office/powerpoint/2010/main" val="746123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8C273-1D1B-6227-3B9E-855BE51B4218}"/>
              </a:ext>
            </a:extLst>
          </p:cNvPr>
          <p:cNvSpPr>
            <a:spLocks noGrp="1"/>
          </p:cNvSpPr>
          <p:nvPr>
            <p:ph type="title"/>
          </p:nvPr>
        </p:nvSpPr>
        <p:spPr/>
        <p:txBody>
          <a:bodyPr/>
          <a:lstStyle/>
          <a:p>
            <a:r>
              <a:rPr lang="en-US" altLang="zh-CN" dirty="0"/>
              <a:t>Sorting Network: An Example</a:t>
            </a:r>
            <a:endParaRPr lang="zh-CN" altLang="en-US" dirty="0"/>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B7AF617C-647F-5025-C6A1-2E64D3BF33AD}"/>
                  </a:ext>
                </a:extLst>
              </p:cNvPr>
              <p:cNvSpPr>
                <a:spLocks noGrp="1"/>
              </p:cNvSpPr>
              <p:nvPr>
                <p:ph idx="1"/>
              </p:nvPr>
            </p:nvSpPr>
            <p:spPr/>
            <p:txBody>
              <a:bodyPr/>
              <a:lstStyle/>
              <a:p>
                <a:r>
                  <a:rPr lang="en-US" altLang="zh-CN" dirty="0"/>
                  <a:t>Batcher's odd–even merge sort:</a:t>
                </a:r>
              </a:p>
              <a:p>
                <a:endParaRPr lang="en-US" altLang="zh-CN" dirty="0"/>
              </a:p>
              <a:p>
                <a:endParaRPr lang="en-US" altLang="zh-CN" dirty="0"/>
              </a:p>
              <a:p>
                <a:endParaRPr lang="en-US" altLang="zh-CN" dirty="0"/>
              </a:p>
              <a:p>
                <a:endParaRPr lang="en-US" altLang="zh-CN" dirty="0"/>
              </a:p>
              <a:p>
                <a:r>
                  <a:rPr lang="en-US" altLang="zh-CN" dirty="0"/>
                  <a:t>Each segment </a:t>
                </a:r>
                <a14:m>
                  <m:oMath xmlns:m="http://schemas.openxmlformats.org/officeDocument/2006/math">
                    <m:r>
                      <a:rPr lang="en-US" altLang="zh-CN" b="0" i="0"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𝑘𝑝</m:t>
                    </m:r>
                    <m:r>
                      <a:rPr lang="en-US" altLang="zh-CN" b="0" i="1" smtClean="0">
                        <a:latin typeface="Cambria Math" panose="02040503050406030204" pitchFamily="18" charset="0"/>
                      </a:rPr>
                      <m:t>,2</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𝑝</m:t>
                    </m:r>
                    <m:r>
                      <a:rPr lang="en-US" altLang="zh-CN" b="0" i="1" smtClean="0">
                        <a:latin typeface="Cambria Math" panose="02040503050406030204" pitchFamily="18" charset="0"/>
                      </a:rPr>
                      <m:t>)</m:t>
                    </m:r>
                  </m:oMath>
                </a14:m>
                <a:r>
                  <a:rPr lang="en-US" altLang="zh-CN" dirty="0"/>
                  <a:t> is sorted after the outside cycle </a:t>
                </a:r>
                <a14:m>
                  <m:oMath xmlns:m="http://schemas.openxmlformats.org/officeDocument/2006/math">
                    <m:r>
                      <a:rPr lang="en-US" altLang="zh-CN" b="0" i="1" smtClean="0">
                        <a:latin typeface="Cambria Math" panose="02040503050406030204" pitchFamily="18" charset="0"/>
                      </a:rPr>
                      <m:t>𝑝</m:t>
                    </m:r>
                  </m:oMath>
                </a14:m>
                <a:r>
                  <a:rPr lang="en-US" altLang="zh-CN" dirty="0"/>
                  <a:t>:</a:t>
                </a:r>
              </a:p>
              <a:p>
                <a14:m>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=1</m:t>
                    </m:r>
                  </m:oMath>
                </a14:m>
                <a:r>
                  <a:rPr lang="en-US" altLang="zh-CN" dirty="0"/>
                  <a:t> is clearly true. By induction we only need to merge two ordered segments of length </a:t>
                </a:r>
                <a14:m>
                  <m:oMath xmlns:m="http://schemas.openxmlformats.org/officeDocument/2006/math">
                    <m:r>
                      <a:rPr lang="en-US" altLang="zh-CN" b="0" i="1" smtClean="0">
                        <a:latin typeface="Cambria Math" panose="02040503050406030204" pitchFamily="18" charset="0"/>
                      </a:rPr>
                      <m:t>𝑝</m:t>
                    </m:r>
                  </m:oMath>
                </a14:m>
                <a:r>
                  <a:rPr lang="en-US" altLang="zh-CN" dirty="0"/>
                  <a:t>.</a:t>
                </a:r>
              </a:p>
              <a:p>
                <a:r>
                  <a:rPr lang="en-US" altLang="zh-CN" dirty="0"/>
                  <a:t>How to merge?</a:t>
                </a:r>
              </a:p>
              <a:p>
                <a:endParaRPr lang="en-US" altLang="zh-CN" dirty="0"/>
              </a:p>
            </p:txBody>
          </p:sp>
        </mc:Choice>
        <mc:Fallback xmlns="">
          <p:sp>
            <p:nvSpPr>
              <p:cNvPr id="6" name="内容占位符 5">
                <a:extLst>
                  <a:ext uri="{FF2B5EF4-FFF2-40B4-BE49-F238E27FC236}">
                    <a16:creationId xmlns:a16="http://schemas.microsoft.com/office/drawing/2014/main" id="{B7AF617C-647F-5025-C6A1-2E64D3BF33AD}"/>
                  </a:ext>
                </a:extLst>
              </p:cNvPr>
              <p:cNvSpPr>
                <a:spLocks noGrp="1" noRot="1" noChangeAspect="1" noMove="1" noResize="1" noEditPoints="1" noAdjustHandles="1" noChangeArrowheads="1" noChangeShapeType="1" noTextEdit="1"/>
              </p:cNvSpPr>
              <p:nvPr>
                <p:ph idx="1"/>
              </p:nvPr>
            </p:nvSpPr>
            <p:spPr>
              <a:blipFill>
                <a:blip r:embed="rId2"/>
                <a:stretch>
                  <a:fillRect l="-928" t="-1520"/>
                </a:stretch>
              </a:blipFill>
            </p:spPr>
            <p:txBody>
              <a:bodyPr/>
              <a:lstStyle/>
              <a:p>
                <a:r>
                  <a:rPr lang="zh-CN" altLang="en-US">
                    <a:noFill/>
                  </a:rPr>
                  <a:t> </a:t>
                </a:r>
              </a:p>
            </p:txBody>
          </p:sp>
        </mc:Fallback>
      </mc:AlternateContent>
      <p:pic>
        <p:nvPicPr>
          <p:cNvPr id="8" name="内容占位符 3">
            <a:extLst>
              <a:ext uri="{FF2B5EF4-FFF2-40B4-BE49-F238E27FC236}">
                <a16:creationId xmlns:a16="http://schemas.microsoft.com/office/drawing/2014/main" id="{8746C53D-19FB-462B-8D63-7FCE6CC5F758}"/>
              </a:ext>
            </a:extLst>
          </p:cNvPr>
          <p:cNvPicPr>
            <a:picLocks noChangeAspect="1"/>
          </p:cNvPicPr>
          <p:nvPr/>
        </p:nvPicPr>
        <p:blipFill>
          <a:blip r:embed="rId3">
            <a:lum bright="70000" contrast="-70000"/>
          </a:blip>
          <a:stretch>
            <a:fillRect/>
          </a:stretch>
        </p:blipFill>
        <p:spPr>
          <a:xfrm>
            <a:off x="8034357" y="732197"/>
            <a:ext cx="3224193" cy="2607903"/>
          </a:xfrm>
          <a:prstGeom prst="rect">
            <a:avLst/>
          </a:prstGeom>
        </p:spPr>
      </p:pic>
      <p:sp>
        <p:nvSpPr>
          <p:cNvPr id="9" name="文本框 8">
            <a:extLst>
              <a:ext uri="{FF2B5EF4-FFF2-40B4-BE49-F238E27FC236}">
                <a16:creationId xmlns:a16="http://schemas.microsoft.com/office/drawing/2014/main" id="{5A42E62B-E5B2-6356-38F1-8335B9B71736}"/>
              </a:ext>
            </a:extLst>
          </p:cNvPr>
          <p:cNvSpPr txBox="1"/>
          <p:nvPr/>
        </p:nvSpPr>
        <p:spPr>
          <a:xfrm>
            <a:off x="933450" y="1555750"/>
            <a:ext cx="6165850" cy="1600438"/>
          </a:xfrm>
          <a:prstGeom prst="rect">
            <a:avLst/>
          </a:prstGeom>
          <a:noFill/>
        </p:spPr>
        <p:txBody>
          <a:bodyPr wrap="square" rtlCol="0">
            <a:spAutoFit/>
          </a:bodyPr>
          <a:lstStyle/>
          <a:p>
            <a:r>
              <a:rPr lang="en-US" altLang="zh-CN" sz="1400" b="0" dirty="0">
                <a:solidFill>
                  <a:srgbClr val="6A9955"/>
                </a:solidFill>
                <a:effectLst/>
                <a:latin typeface="Consolas" panose="020B0609020204030204" pitchFamily="49" charset="0"/>
              </a:rPr>
              <a:t>// C++ style code; 0-based index</a:t>
            </a:r>
            <a:endParaRPr lang="en-US" altLang="zh-CN" sz="1400" b="0" dirty="0">
              <a:solidFill>
                <a:srgbClr val="D4D4D4"/>
              </a:solidFill>
              <a:effectLst/>
              <a:latin typeface="Consolas" panose="020B0609020204030204" pitchFamily="49" charset="0"/>
            </a:endParaRPr>
          </a:p>
          <a:p>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int</a:t>
            </a:r>
            <a:r>
              <a:rPr lang="en-US" altLang="zh-CN" sz="1400" b="0" dirty="0">
                <a:solidFill>
                  <a:srgbClr val="D4D4D4"/>
                </a:solidFill>
                <a:effectLst/>
                <a:latin typeface="Consolas" panose="020B0609020204030204" pitchFamily="49" charset="0"/>
              </a:rPr>
              <a:t> p = </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p &lt; n; p &lt;&lt;= </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int</a:t>
            </a:r>
            <a:r>
              <a:rPr lang="en-US" altLang="zh-CN" sz="1400" b="0" dirty="0">
                <a:solidFill>
                  <a:srgbClr val="D4D4D4"/>
                </a:solidFill>
                <a:effectLst/>
                <a:latin typeface="Consolas" panose="020B0609020204030204" pitchFamily="49" charset="0"/>
              </a:rPr>
              <a:t> k = p; k &gt;= </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k &gt;&gt;= </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int</a:t>
            </a:r>
            <a:r>
              <a:rPr lang="en-US" altLang="zh-CN" sz="1400" b="0" dirty="0">
                <a:solidFill>
                  <a:srgbClr val="D4D4D4"/>
                </a:solidFill>
                <a:effectLst/>
                <a:latin typeface="Consolas" panose="020B0609020204030204" pitchFamily="49" charset="0"/>
              </a:rPr>
              <a:t> j = </a:t>
            </a:r>
            <a:r>
              <a:rPr lang="en-US" altLang="zh-CN" sz="1400" b="0" dirty="0" err="1">
                <a:solidFill>
                  <a:srgbClr val="D4D4D4"/>
                </a:solidFill>
                <a:effectLst/>
                <a:latin typeface="Consolas" panose="020B0609020204030204" pitchFamily="49" charset="0"/>
              </a:rPr>
              <a:t>k%p</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j+k</a:t>
            </a:r>
            <a:r>
              <a:rPr lang="en-US" altLang="zh-CN" sz="1400" b="0" dirty="0">
                <a:solidFill>
                  <a:srgbClr val="D4D4D4"/>
                </a:solidFill>
                <a:effectLst/>
                <a:latin typeface="Consolas" panose="020B0609020204030204" pitchFamily="49" charset="0"/>
              </a:rPr>
              <a:t> &lt; n; j += </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*k)</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int</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 </a:t>
            </a:r>
            <a:r>
              <a:rPr lang="en-US" altLang="zh-CN" sz="1400" b="0" dirty="0">
                <a:solidFill>
                  <a:srgbClr val="B5CEA8"/>
                </a:solidFill>
                <a:effectLst/>
                <a:latin typeface="Consolas" panose="020B0609020204030204" pitchFamily="49" charset="0"/>
              </a:rPr>
              <a:t>0</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&lt; k;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i+j</a:t>
            </a:r>
            <a:r>
              <a:rPr lang="en-US" altLang="zh-CN" sz="1400" b="0" dirty="0">
                <a:solidFill>
                  <a:srgbClr val="D4D4D4"/>
                </a:solidFill>
                <a:effectLst/>
                <a:latin typeface="Consolas" panose="020B0609020204030204" pitchFamily="49" charset="0"/>
              </a:rPr>
              <a:t>)/(p*</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 == (</a:t>
            </a:r>
            <a:r>
              <a:rPr lang="en-US" altLang="zh-CN" sz="1400" b="0" dirty="0" err="1">
                <a:solidFill>
                  <a:srgbClr val="D4D4D4"/>
                </a:solidFill>
                <a:effectLst/>
                <a:latin typeface="Consolas" panose="020B0609020204030204" pitchFamily="49" charset="0"/>
              </a:rPr>
              <a:t>i+j+k</a:t>
            </a:r>
            <a:r>
              <a:rPr lang="en-US" altLang="zh-CN" sz="1400" b="0" dirty="0">
                <a:solidFill>
                  <a:srgbClr val="D4D4D4"/>
                </a:solidFill>
                <a:effectLst/>
                <a:latin typeface="Consolas" panose="020B0609020204030204" pitchFamily="49" charset="0"/>
              </a:rPr>
              <a:t>)/(p*</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 &amp;&amp; </a:t>
            </a:r>
            <a:r>
              <a:rPr lang="en-US" altLang="zh-CN" sz="1400" b="0" dirty="0" err="1">
                <a:solidFill>
                  <a:srgbClr val="D4D4D4"/>
                </a:solidFill>
                <a:effectLst/>
                <a:latin typeface="Consolas" panose="020B0609020204030204" pitchFamily="49" charset="0"/>
              </a:rPr>
              <a:t>i+j+k</a:t>
            </a:r>
            <a:r>
              <a:rPr lang="en-US" altLang="zh-CN" sz="1400" b="0" dirty="0">
                <a:solidFill>
                  <a:srgbClr val="D4D4D4"/>
                </a:solidFill>
                <a:effectLst/>
                <a:latin typeface="Consolas" panose="020B0609020204030204" pitchFamily="49" charset="0"/>
              </a:rPr>
              <a:t>&lt;n)</a:t>
            </a:r>
          </a:p>
          <a:p>
            <a:r>
              <a:rPr lang="en-US" altLang="zh-CN" sz="1400" b="0" dirty="0">
                <a:solidFill>
                  <a:srgbClr val="D4D4D4"/>
                </a:solidFill>
                <a:effectLst/>
                <a:latin typeface="Consolas" panose="020B0609020204030204" pitchFamily="49" charset="0"/>
              </a:rPr>
              <a:t>                    </a:t>
            </a:r>
            <a:r>
              <a:rPr lang="en-US" altLang="zh-CN" sz="1400" b="0" dirty="0">
                <a:solidFill>
                  <a:srgbClr val="DCDCAA"/>
                </a:solidFill>
                <a:effectLst/>
                <a:latin typeface="Consolas" panose="020B0609020204030204" pitchFamily="49" charset="0"/>
              </a:rPr>
              <a:t>comparator</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i+j</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i+j+k</a:t>
            </a:r>
            <a:r>
              <a:rPr lang="en-US" altLang="zh-CN"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287585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3D058-15B7-ACEA-7C4D-4EE7FA792CD9}"/>
              </a:ext>
            </a:extLst>
          </p:cNvPr>
          <p:cNvSpPr>
            <a:spLocks noGrp="1"/>
          </p:cNvSpPr>
          <p:nvPr>
            <p:ph type="title"/>
          </p:nvPr>
        </p:nvSpPr>
        <p:spPr/>
        <p:txBody>
          <a:bodyPr/>
          <a:lstStyle/>
          <a:p>
            <a:r>
              <a:rPr lang="en-US" altLang="zh-CN" dirty="0"/>
              <a:t>Determining Sorting Networks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AEA450C-28F6-5A76-4ABF-A2F1A11CE035}"/>
                  </a:ext>
                </a:extLst>
              </p:cNvPr>
              <p:cNvSpPr>
                <a:spLocks noGrp="1"/>
              </p:cNvSpPr>
              <p:nvPr>
                <p:ph idx="1"/>
              </p:nvPr>
            </p:nvSpPr>
            <p:spPr/>
            <p:txBody>
              <a:bodyPr/>
              <a:lstStyle/>
              <a:p>
                <a:r>
                  <a:rPr lang="en-US" altLang="zh-CN" b="1" dirty="0"/>
                  <a:t>Co-NP Complete </a:t>
                </a:r>
                <a:r>
                  <a:rPr lang="en-US" altLang="zh-CN" dirty="0"/>
                  <a:t>to Determine whether a comparator network is sorting network. (That is, whether it can sort any sequence)</a:t>
                </a:r>
              </a:p>
              <a:p>
                <a:endParaRPr lang="en-US" altLang="zh-CN" dirty="0"/>
              </a:p>
              <a:p>
                <a:r>
                  <a:rPr lang="en-US" altLang="zh-CN" dirty="0"/>
                  <a:t>How to determine?</a:t>
                </a:r>
              </a:p>
              <a:p>
                <a:endParaRPr lang="en-US" altLang="zh-CN" dirty="0"/>
              </a:p>
              <a:p>
                <a:r>
                  <a:rPr lang="en-US" altLang="zh-CN" dirty="0"/>
                  <a:t>Naive: check all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 </a:t>
                </a:r>
                <a:r>
                  <a:rPr lang="en-US" altLang="zh-CN" dirty="0"/>
                  <a:t>permutations.</a:t>
                </a:r>
              </a:p>
              <a:p>
                <a:endParaRPr lang="en-US" altLang="zh-CN" dirty="0"/>
              </a:p>
              <a:p>
                <a:r>
                  <a:rPr lang="en-US" altLang="zh-CN" dirty="0"/>
                  <a:t>Idea: replace permutations with condensed coordinates, like </a:t>
                </a:r>
                <a14:m>
                  <m:oMath xmlns:m="http://schemas.openxmlformats.org/officeDocument/2006/math">
                    <m:r>
                      <a:rPr lang="en-US" altLang="zh-CN" b="0" i="1" smtClean="0">
                        <a:latin typeface="Cambria Math" panose="02040503050406030204" pitchFamily="18" charset="0"/>
                      </a:rPr>
                      <m:t>{0,1}</m:t>
                    </m:r>
                  </m:oMath>
                </a14:m>
                <a:r>
                  <a:rPr lang="en-US" altLang="zh-CN" dirty="0"/>
                  <a:t>.</a:t>
                </a:r>
              </a:p>
            </p:txBody>
          </p:sp>
        </mc:Choice>
        <mc:Fallback xmlns="">
          <p:sp>
            <p:nvSpPr>
              <p:cNvPr id="3" name="内容占位符 2">
                <a:extLst>
                  <a:ext uri="{FF2B5EF4-FFF2-40B4-BE49-F238E27FC236}">
                    <a16:creationId xmlns:a16="http://schemas.microsoft.com/office/drawing/2014/main" id="{EAEA450C-28F6-5A76-4ABF-A2F1A11CE035}"/>
                  </a:ext>
                </a:extLst>
              </p:cNvPr>
              <p:cNvSpPr>
                <a:spLocks noGrp="1" noRot="1" noChangeAspect="1" noMove="1" noResize="1" noEditPoints="1" noAdjustHandles="1" noChangeArrowheads="1" noChangeShapeType="1" noTextEdit="1"/>
              </p:cNvSpPr>
              <p:nvPr>
                <p:ph idx="1"/>
              </p:nvPr>
            </p:nvSpPr>
            <p:spPr>
              <a:blipFill>
                <a:blip r:embed="rId2"/>
                <a:stretch>
                  <a:fillRect l="-928" t="-15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6580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DA5151-1D77-B679-9E89-01605D8917BA}"/>
              </a:ext>
            </a:extLst>
          </p:cNvPr>
          <p:cNvSpPr>
            <a:spLocks noGrp="1"/>
          </p:cNvSpPr>
          <p:nvPr>
            <p:ph type="title"/>
          </p:nvPr>
        </p:nvSpPr>
        <p:spPr/>
        <p:txBody>
          <a:bodyPr/>
          <a:lstStyle/>
          <a:p>
            <a:r>
              <a:rPr lang="en-US" altLang="zh-CN" dirty="0"/>
              <a:t>0-1 Principle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1CD0ABC-66D5-6308-F88B-63C9B352C286}"/>
                  </a:ext>
                </a:extLst>
              </p:cNvPr>
              <p:cNvSpPr>
                <a:spLocks noGrp="1"/>
              </p:cNvSpPr>
              <p:nvPr>
                <p:ph idx="1"/>
              </p:nvPr>
            </p:nvSpPr>
            <p:spPr/>
            <p:txBody>
              <a:bodyPr/>
              <a:lstStyle/>
              <a:p>
                <a:r>
                  <a:rPr lang="en-US" altLang="zh-CN" dirty="0"/>
                  <a:t>For any </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oMath>
                </a14:m>
                <a:r>
                  <a:rPr lang="en-US" altLang="zh-CN" dirty="0"/>
                  <a:t>, let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𝑥</m:t>
                        </m:r>
                      </m:sub>
                    </m:sSub>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 where </a:t>
                </a:r>
                <a14:m>
                  <m:oMath xmlns:m="http://schemas.openxmlformats.org/officeDocument/2006/math">
                    <m:r>
                      <a:rPr lang="en-US" altLang="zh-CN" b="0" i="1" smtClean="0">
                        <a:latin typeface="Cambria Math" panose="02040503050406030204" pitchFamily="18" charset="0"/>
                      </a:rPr>
                      <m:t>[ ]</m:t>
                    </m:r>
                  </m:oMath>
                </a14:m>
                <a:r>
                  <a:rPr lang="zh-CN" altLang="en-US" dirty="0"/>
                  <a:t> </a:t>
                </a:r>
                <a:r>
                  <a:rPr lang="en-US" altLang="zh-CN" dirty="0"/>
                  <a:t>is Iverson Bracket,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𝑄</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1,  </m:t>
                            </m:r>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True</m:t>
                            </m:r>
                          </m:e>
                          <m:e>
                            <m:r>
                              <a:rPr lang="en-US" altLang="zh-CN" b="0" i="1" smtClean="0">
                                <a:latin typeface="Cambria Math" panose="02040503050406030204" pitchFamily="18" charset="0"/>
                              </a:rPr>
                              <m:t>&amp;0,  </m:t>
                            </m:r>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False</m:t>
                            </m:r>
                          </m:e>
                        </m:eqArr>
                      </m:e>
                    </m:d>
                  </m:oMath>
                </a14:m>
                <a:r>
                  <a:rPr lang="en-US" altLang="zh-CN" dirty="0"/>
                  <a:t>.</a:t>
                </a:r>
              </a:p>
              <a:p>
                <a:endParaRPr lang="en-US" altLang="zh-CN" dirty="0"/>
              </a:p>
              <a:p>
                <a:r>
                  <a:rPr lang="en-US" altLang="zh-CN" b="1" dirty="0">
                    <a:solidFill>
                      <a:srgbClr val="DCFFFF"/>
                    </a:solidFill>
                    <a:effectLst>
                      <a:glow rad="63500">
                        <a:schemeClr val="accent5">
                          <a:satMod val="175000"/>
                          <a:alpha val="40000"/>
                        </a:schemeClr>
                      </a:glow>
                    </a:effectLst>
                    <a:latin typeface="+mj-lt"/>
                    <a:ea typeface="+mj-ea"/>
                    <a:cs typeface="+mj-cs"/>
                  </a:rPr>
                  <a:t>0-1 Principle. </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 is sorted by a comparator network </a:t>
                </a:r>
                <a14:m>
                  <m:oMath xmlns:m="http://schemas.openxmlformats.org/officeDocument/2006/math">
                    <m:r>
                      <a:rPr lang="en-US" altLang="zh-CN" b="0" i="1" smtClean="0">
                        <a:latin typeface="Cambria Math" panose="02040503050406030204" pitchFamily="18" charset="0"/>
                      </a:rPr>
                      <m:t>𝑀</m:t>
                    </m:r>
                  </m:oMath>
                </a14:m>
                <a:r>
                  <a:rPr lang="en-US" altLang="zh-CN" dirty="0"/>
                  <a:t>, if and only if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oMath>
                </a14:m>
                <a:r>
                  <a:rPr lang="en-US" altLang="zh-CN" dirty="0"/>
                  <a:t> is sorted by </a:t>
                </a:r>
                <a14:m>
                  <m:oMath xmlns:m="http://schemas.openxmlformats.org/officeDocument/2006/math">
                    <m:r>
                      <a:rPr lang="en-US" altLang="zh-CN" b="0" i="1" smtClean="0">
                        <a:latin typeface="Cambria Math" panose="02040503050406030204" pitchFamily="18" charset="0"/>
                      </a:rPr>
                      <m:t>𝑀</m:t>
                    </m:r>
                  </m:oMath>
                </a14:m>
                <a:r>
                  <a:rPr lang="en-US" altLang="zh-CN" dirty="0"/>
                  <a:t>.</a:t>
                </a:r>
              </a:p>
              <a:p>
                <a:endParaRPr lang="en-US" altLang="zh-CN" dirty="0"/>
              </a:p>
              <a:p>
                <a:r>
                  <a:rPr lang="en-US" altLang="zh-CN" b="1" dirty="0">
                    <a:solidFill>
                      <a:srgbClr val="DCFFFF"/>
                    </a:solidFill>
                    <a:effectLst>
                      <a:glow rad="63500">
                        <a:schemeClr val="accent5">
                          <a:satMod val="175000"/>
                          <a:alpha val="40000"/>
                        </a:schemeClr>
                      </a:glow>
                    </a:effectLst>
                    <a:latin typeface="+mj-lt"/>
                    <a:ea typeface="+mj-ea"/>
                    <a:cs typeface="+mj-cs"/>
                  </a:rPr>
                  <a:t>Corollary.</a:t>
                </a:r>
                <a:r>
                  <a:rPr lang="en-US" altLang="zh-CN" dirty="0"/>
                  <a:t> Comparator network </a:t>
                </a:r>
                <a14:m>
                  <m:oMath xmlns:m="http://schemas.openxmlformats.org/officeDocument/2006/math">
                    <m:r>
                      <a:rPr lang="en-US" altLang="zh-CN" b="0" i="1" smtClean="0">
                        <a:latin typeface="Cambria Math" panose="02040503050406030204" pitchFamily="18" charset="0"/>
                      </a:rPr>
                      <m:t>𝑀</m:t>
                    </m:r>
                  </m:oMath>
                </a14:m>
                <a:r>
                  <a:rPr lang="en-US" altLang="zh-CN" dirty="0"/>
                  <a:t> with </a:t>
                </a:r>
                <a14:m>
                  <m:oMath xmlns:m="http://schemas.openxmlformats.org/officeDocument/2006/math">
                    <m:r>
                      <a:rPr lang="en-US" altLang="zh-CN" b="0" i="1" smtClean="0">
                        <a:latin typeface="Cambria Math" panose="02040503050406030204" pitchFamily="18" charset="0"/>
                      </a:rPr>
                      <m:t>𝑛</m:t>
                    </m:r>
                  </m:oMath>
                </a14:m>
                <a:r>
                  <a:rPr lang="en-US" altLang="zh-CN" dirty="0"/>
                  <a:t> inputs is a sorting network, if and only if </a:t>
                </a:r>
                <a14:m>
                  <m:oMath xmlns:m="http://schemas.openxmlformats.org/officeDocument/2006/math">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m:t>
                            </m:r>
                          </m:e>
                        </m:d>
                      </m:e>
                      <m:sup>
                        <m:r>
                          <a:rPr lang="en-US" altLang="zh-CN" b="0" i="1" smtClean="0">
                            <a:latin typeface="Cambria Math" panose="02040503050406030204" pitchFamily="18" charset="0"/>
                          </a:rPr>
                          <m:t>𝑛</m:t>
                        </m:r>
                      </m:sup>
                    </m:sSup>
                  </m:oMath>
                </a14:m>
                <a:r>
                  <a:rPr lang="zh-CN" altLang="en-US" dirty="0"/>
                  <a:t>，</a:t>
                </a:r>
                <a14:m>
                  <m:oMath xmlns:m="http://schemas.openxmlformats.org/officeDocument/2006/math">
                    <m:r>
                      <a:rPr lang="en-US" altLang="zh-CN" b="0" i="1" dirty="0" smtClean="0">
                        <a:latin typeface="Cambria Math" panose="02040503050406030204" pitchFamily="18" charset="0"/>
                      </a:rPr>
                      <m:t>𝑀</m:t>
                    </m:r>
                  </m:oMath>
                </a14:m>
                <a:r>
                  <a:rPr lang="en-US" altLang="zh-CN" dirty="0"/>
                  <a:t> sorts </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a:t>
                </a:r>
              </a:p>
              <a:p>
                <a:endParaRPr lang="en-US" altLang="zh-CN" dirty="0"/>
              </a:p>
              <a:p>
                <a:r>
                  <a:rPr lang="en-US" altLang="zh-CN" dirty="0"/>
                  <a:t>In fact, 0-1 principal not only holds for sorting network, but is also true for any property considering only about order. And 01 sequence is a special case of  arbitrary </a:t>
                </a:r>
                <a14:m>
                  <m:oMath xmlns:m="http://schemas.openxmlformats.org/officeDocument/2006/math">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 (without constraint of permutation i.e. uniqueness), so usually it’s considered first for problems based on order.</a:t>
                </a:r>
              </a:p>
            </p:txBody>
          </p:sp>
        </mc:Choice>
        <mc:Fallback xmlns="">
          <p:sp>
            <p:nvSpPr>
              <p:cNvPr id="3" name="内容占位符 2">
                <a:extLst>
                  <a:ext uri="{FF2B5EF4-FFF2-40B4-BE49-F238E27FC236}">
                    <a16:creationId xmlns:a16="http://schemas.microsoft.com/office/drawing/2014/main" id="{51CD0ABC-66D5-6308-F88B-63C9B352C286}"/>
                  </a:ext>
                </a:extLst>
              </p:cNvPr>
              <p:cNvSpPr>
                <a:spLocks noGrp="1" noRot="1" noChangeAspect="1" noMove="1" noResize="1" noEditPoints="1" noAdjustHandles="1" noChangeArrowheads="1" noChangeShapeType="1" noTextEdit="1"/>
              </p:cNvSpPr>
              <p:nvPr>
                <p:ph idx="1"/>
              </p:nvPr>
            </p:nvSpPr>
            <p:spPr>
              <a:blipFill>
                <a:blip r:embed="rId2"/>
                <a:stretch>
                  <a:fillRect l="-1217" t="-1520" r="-232" b="-11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1272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9FAAB6-BDC7-85E2-7C5A-3C9BB3AFF1BF}"/>
              </a:ext>
            </a:extLst>
          </p:cNvPr>
          <p:cNvSpPr>
            <a:spLocks noGrp="1"/>
          </p:cNvSpPr>
          <p:nvPr>
            <p:ph type="title"/>
          </p:nvPr>
        </p:nvSpPr>
        <p:spPr/>
        <p:txBody>
          <a:bodyPr/>
          <a:lstStyle/>
          <a:p>
            <a:r>
              <a:rPr lang="en-US" altLang="zh-CN" dirty="0"/>
              <a:t>Example. Analysis of Odd-Even Merge Sort</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2A3D2A1-4445-8F0B-A925-6195EFB7739B}"/>
                  </a:ext>
                </a:extLst>
              </p:cNvPr>
              <p:cNvSpPr>
                <a:spLocks noGrp="1"/>
              </p:cNvSpPr>
              <p:nvPr>
                <p:ph idx="1"/>
              </p:nvPr>
            </p:nvSpPr>
            <p:spPr/>
            <p:txBody>
              <a:bodyPr/>
              <a:lstStyle/>
              <a:p>
                <a:r>
                  <a:rPr lang="en-US" altLang="zh-CN" dirty="0"/>
                  <a:t>We only need to merge two 0-1 sequence!</a:t>
                </a:r>
              </a:p>
              <a:p>
                <a:endParaRPr lang="en-US" altLang="zh-CN" dirty="0"/>
              </a:p>
              <a:p>
                <a:r>
                  <a:rPr lang="en-US" altLang="zh-CN" dirty="0"/>
                  <a:t>0 0 0 0 0 1 1 1 1 1 1 1 1 1 1 1</a:t>
                </a:r>
              </a:p>
              <a:p>
                <a:r>
                  <a:rPr lang="en-US" altLang="zh-CN" dirty="0"/>
                  <a:t>0 0 0 0 0 0 0 0 0 0 0 0 0 1 1 1</a:t>
                </a:r>
              </a:p>
              <a:p>
                <a:endParaRPr lang="en-US" altLang="zh-CN" dirty="0"/>
              </a:p>
              <a:p>
                <a:r>
                  <a:rPr lang="en-US" altLang="zh-CN" dirty="0"/>
                  <a:t>We don’t know the range that two sequences are different.</a:t>
                </a:r>
              </a:p>
              <a:p>
                <a:endParaRPr lang="en-US" altLang="zh-CN" dirty="0"/>
              </a:p>
              <a:p>
                <a:r>
                  <a:rPr lang="en-US" altLang="zh-CN" dirty="0"/>
                  <a:t>Observation. The odd subsequences and </a:t>
                </a:r>
                <a:r>
                  <a:rPr lang="en-US" altLang="zh-CN" dirty="0">
                    <a:solidFill>
                      <a:schemeClr val="accent4"/>
                    </a:solidFill>
                  </a:rPr>
                  <a:t>even</a:t>
                </a:r>
                <a:r>
                  <a:rPr lang="en-US" altLang="zh-CN" dirty="0"/>
                  <a:t> subsequences has only </a:t>
                </a:r>
                <a14:m>
                  <m:oMath xmlns:m="http://schemas.openxmlformats.org/officeDocument/2006/math">
                    <m:r>
                      <a:rPr lang="en-US" altLang="zh-CN" b="0" i="1" smtClean="0">
                        <a:latin typeface="Cambria Math" panose="02040503050406030204" pitchFamily="18" charset="0"/>
                      </a:rPr>
                      <m:t>≤2</m:t>
                    </m:r>
                  </m:oMath>
                </a14:m>
                <a:r>
                  <a:rPr lang="en-US" altLang="zh-CN" dirty="0"/>
                  <a:t> difference on number of 1. Recursive and can be merged in </a:t>
                </a:r>
                <a14:m>
                  <m:oMath xmlns:m="http://schemas.openxmlformats.org/officeDocument/2006/math">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=2</m:t>
                    </m:r>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oMath>
                </a14:m>
                <a:r>
                  <a:rPr lang="en-US" altLang="zh-CN" dirty="0"/>
                  <a:t>.</a:t>
                </a:r>
              </a:p>
              <a:p>
                <a:r>
                  <a:rPr lang="en-US" altLang="zh-CN" dirty="0"/>
                  <a:t>To Merge:			=	To Merge:	+	To Merge:</a:t>
                </a:r>
              </a:p>
              <a:p>
                <a:r>
                  <a:rPr lang="en-US" altLang="zh-CN" dirty="0"/>
                  <a:t>0 </a:t>
                </a:r>
                <a:r>
                  <a:rPr lang="en-US" altLang="zh-CN" dirty="0">
                    <a:solidFill>
                      <a:schemeClr val="accent4"/>
                    </a:solidFill>
                  </a:rPr>
                  <a:t>0</a:t>
                </a:r>
                <a:r>
                  <a:rPr lang="en-US" altLang="zh-CN" dirty="0"/>
                  <a:t> 0 </a:t>
                </a:r>
                <a:r>
                  <a:rPr lang="en-US" altLang="zh-CN" dirty="0">
                    <a:solidFill>
                      <a:schemeClr val="accent4"/>
                    </a:solidFill>
                  </a:rPr>
                  <a:t>0</a:t>
                </a:r>
                <a:r>
                  <a:rPr lang="en-US" altLang="zh-CN" dirty="0"/>
                  <a:t> 0 </a:t>
                </a:r>
                <a:r>
                  <a:rPr lang="en-US" altLang="zh-CN" dirty="0">
                    <a:solidFill>
                      <a:schemeClr val="accent4"/>
                    </a:solidFill>
                  </a:rPr>
                  <a:t>1</a:t>
                </a:r>
                <a:r>
                  <a:rPr lang="en-US" altLang="zh-CN" dirty="0"/>
                  <a:t> 1 </a:t>
                </a:r>
                <a:r>
                  <a:rPr lang="en-US" altLang="zh-CN" dirty="0">
                    <a:solidFill>
                      <a:schemeClr val="accent4"/>
                    </a:solidFill>
                  </a:rPr>
                  <a:t>1</a:t>
                </a:r>
                <a:r>
                  <a:rPr lang="en-US" altLang="zh-CN" dirty="0"/>
                  <a:t> 1 </a:t>
                </a:r>
                <a:r>
                  <a:rPr lang="en-US" altLang="zh-CN" dirty="0">
                    <a:solidFill>
                      <a:schemeClr val="accent4"/>
                    </a:solidFill>
                  </a:rPr>
                  <a:t>1</a:t>
                </a:r>
                <a:r>
                  <a:rPr lang="en-US" altLang="zh-CN" dirty="0"/>
                  <a:t> 1 </a:t>
                </a:r>
                <a:r>
                  <a:rPr lang="en-US" altLang="zh-CN" dirty="0">
                    <a:solidFill>
                      <a:schemeClr val="accent4"/>
                    </a:solidFill>
                  </a:rPr>
                  <a:t>1</a:t>
                </a:r>
                <a:r>
                  <a:rPr lang="en-US" altLang="zh-CN" dirty="0"/>
                  <a:t> 1 </a:t>
                </a:r>
                <a:r>
                  <a:rPr lang="en-US" altLang="zh-CN" dirty="0">
                    <a:solidFill>
                      <a:schemeClr val="accent4"/>
                    </a:solidFill>
                  </a:rPr>
                  <a:t>1</a:t>
                </a:r>
                <a:r>
                  <a:rPr lang="en-US" altLang="zh-CN" dirty="0"/>
                  <a:t> 1 </a:t>
                </a:r>
                <a:r>
                  <a:rPr lang="en-US" altLang="zh-CN" dirty="0">
                    <a:solidFill>
                      <a:schemeClr val="accent4"/>
                    </a:solidFill>
                  </a:rPr>
                  <a:t>1		</a:t>
                </a:r>
                <a:r>
                  <a:rPr lang="en-US" altLang="zh-CN" dirty="0">
                    <a:solidFill>
                      <a:srgbClr val="DEEBF7"/>
                    </a:solidFill>
                  </a:rPr>
                  <a:t>0 0 0 1 1 1 1 1	</a:t>
                </a:r>
                <a:r>
                  <a:rPr lang="en-US" altLang="zh-CN" dirty="0">
                    <a:solidFill>
                      <a:schemeClr val="accent4"/>
                    </a:solidFill>
                  </a:rPr>
                  <a:t>	0 0 1 1 1 1 1 1</a:t>
                </a:r>
                <a:endParaRPr lang="en-US" altLang="zh-CN" dirty="0"/>
              </a:p>
              <a:p>
                <a:r>
                  <a:rPr lang="en-US" altLang="zh-CN" dirty="0"/>
                  <a:t>0 </a:t>
                </a:r>
                <a:r>
                  <a:rPr lang="en-US" altLang="zh-CN" dirty="0">
                    <a:solidFill>
                      <a:schemeClr val="accent4"/>
                    </a:solidFill>
                  </a:rPr>
                  <a:t>0</a:t>
                </a:r>
                <a:r>
                  <a:rPr lang="en-US" altLang="zh-CN" dirty="0"/>
                  <a:t> 0 </a:t>
                </a:r>
                <a:r>
                  <a:rPr lang="en-US" altLang="zh-CN" dirty="0">
                    <a:solidFill>
                      <a:schemeClr val="accent4"/>
                    </a:solidFill>
                  </a:rPr>
                  <a:t>0</a:t>
                </a:r>
                <a:r>
                  <a:rPr lang="en-US" altLang="zh-CN" dirty="0"/>
                  <a:t> 0 </a:t>
                </a:r>
                <a:r>
                  <a:rPr lang="en-US" altLang="zh-CN" dirty="0">
                    <a:solidFill>
                      <a:schemeClr val="accent4"/>
                    </a:solidFill>
                  </a:rPr>
                  <a:t>0</a:t>
                </a:r>
                <a:r>
                  <a:rPr lang="en-US" altLang="zh-CN" dirty="0"/>
                  <a:t> 0 </a:t>
                </a:r>
                <a:r>
                  <a:rPr lang="en-US" altLang="zh-CN" dirty="0">
                    <a:solidFill>
                      <a:schemeClr val="accent4"/>
                    </a:solidFill>
                  </a:rPr>
                  <a:t>0</a:t>
                </a:r>
                <a:r>
                  <a:rPr lang="en-US" altLang="zh-CN" dirty="0"/>
                  <a:t> 0 </a:t>
                </a:r>
                <a:r>
                  <a:rPr lang="en-US" altLang="zh-CN" dirty="0">
                    <a:solidFill>
                      <a:schemeClr val="accent4"/>
                    </a:solidFill>
                  </a:rPr>
                  <a:t>0</a:t>
                </a:r>
                <a:r>
                  <a:rPr lang="en-US" altLang="zh-CN" dirty="0"/>
                  <a:t> 0 </a:t>
                </a:r>
                <a:r>
                  <a:rPr lang="en-US" altLang="zh-CN" dirty="0">
                    <a:solidFill>
                      <a:schemeClr val="accent4"/>
                    </a:solidFill>
                  </a:rPr>
                  <a:t>0</a:t>
                </a:r>
                <a:r>
                  <a:rPr lang="en-US" altLang="zh-CN" dirty="0"/>
                  <a:t> 0 </a:t>
                </a:r>
                <a:r>
                  <a:rPr lang="en-US" altLang="zh-CN" dirty="0">
                    <a:solidFill>
                      <a:schemeClr val="accent4"/>
                    </a:solidFill>
                  </a:rPr>
                  <a:t>1</a:t>
                </a:r>
                <a:r>
                  <a:rPr lang="en-US" altLang="zh-CN" dirty="0"/>
                  <a:t> 1 </a:t>
                </a:r>
                <a:r>
                  <a:rPr lang="en-US" altLang="zh-CN" dirty="0">
                    <a:solidFill>
                      <a:schemeClr val="accent4"/>
                    </a:solidFill>
                  </a:rPr>
                  <a:t>1		</a:t>
                </a:r>
                <a:r>
                  <a:rPr lang="en-US" altLang="zh-CN" dirty="0">
                    <a:solidFill>
                      <a:srgbClr val="DEEBF7"/>
                    </a:solidFill>
                  </a:rPr>
                  <a:t>0 0 0 0 0 0 0 1	</a:t>
                </a:r>
                <a:r>
                  <a:rPr lang="en-US" altLang="zh-CN" dirty="0">
                    <a:solidFill>
                      <a:schemeClr val="accent4"/>
                    </a:solidFill>
                  </a:rPr>
                  <a:t>	0 0 0 0 0 0 1 1</a:t>
                </a:r>
                <a:endParaRPr lang="en-US" altLang="zh-CN" dirty="0"/>
              </a:p>
              <a:p>
                <a:endParaRPr lang="en-US" altLang="zh-CN" dirty="0"/>
              </a:p>
            </p:txBody>
          </p:sp>
        </mc:Choice>
        <mc:Fallback>
          <p:sp>
            <p:nvSpPr>
              <p:cNvPr id="3" name="内容占位符 2">
                <a:extLst>
                  <a:ext uri="{FF2B5EF4-FFF2-40B4-BE49-F238E27FC236}">
                    <a16:creationId xmlns:a16="http://schemas.microsoft.com/office/drawing/2014/main" id="{72A3D2A1-4445-8F0B-A925-6195EFB7739B}"/>
                  </a:ext>
                </a:extLst>
              </p:cNvPr>
              <p:cNvSpPr>
                <a:spLocks noGrp="1" noRot="1" noChangeAspect="1" noMove="1" noResize="1" noEditPoints="1" noAdjustHandles="1" noChangeArrowheads="1" noChangeShapeType="1" noTextEdit="1"/>
              </p:cNvSpPr>
              <p:nvPr>
                <p:ph idx="1"/>
              </p:nvPr>
            </p:nvSpPr>
            <p:spPr>
              <a:blipFill>
                <a:blip r:embed="rId2"/>
                <a:stretch>
                  <a:fillRect l="-928" t="-1520" r="-7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851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9512-D12A-A2FD-97F1-7B579DCFC3C6}"/>
              </a:ext>
            </a:extLst>
          </p:cNvPr>
          <p:cNvSpPr>
            <a:spLocks noGrp="1"/>
          </p:cNvSpPr>
          <p:nvPr>
            <p:ph type="title"/>
          </p:nvPr>
        </p:nvSpPr>
        <p:spPr/>
        <p:txBody>
          <a:bodyPr/>
          <a:lstStyle/>
          <a:p>
            <a:r>
              <a:rPr lang="en-US" altLang="zh-CN" dirty="0"/>
              <a:t>Example. USACO 2018 Out of Sorts (S)</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3BC9A0F-5A6A-7B2F-494A-1D54B420C187}"/>
                  </a:ext>
                </a:extLst>
              </p:cNvPr>
              <p:cNvSpPr>
                <a:spLocks noGrp="1"/>
              </p:cNvSpPr>
              <p:nvPr>
                <p:ph idx="1"/>
              </p:nvPr>
            </p:nvSpPr>
            <p:spPr/>
            <p:txBody>
              <a:bodyPr/>
              <a:lstStyle/>
              <a:p>
                <a:r>
                  <a:rPr lang="en-US" altLang="zh-CN" dirty="0"/>
                  <a:t>Input </a:t>
                </a:r>
                <a14:m>
                  <m:oMath xmlns:m="http://schemas.openxmlformats.org/officeDocument/2006/math">
                    <m:r>
                      <a:rPr lang="en-US" altLang="zh-CN" b="0" i="1" smtClean="0">
                        <a:latin typeface="Cambria Math" panose="02040503050406030204" pitchFamily="18" charset="0"/>
                      </a:rPr>
                      <m:t>𝐴</m:t>
                    </m:r>
                  </m:oMath>
                </a14:m>
                <a:r>
                  <a:rPr lang="en-US" altLang="zh-CN" dirty="0"/>
                  <a:t>,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en-US" altLang="zh-CN" dirty="0"/>
                  <a:t>, Output the final result of moo for the following code:</a:t>
                </a:r>
                <a:endParaRPr lang="zh-CN" altLang="en-US" dirty="0"/>
              </a:p>
            </p:txBody>
          </p:sp>
        </mc:Choice>
        <mc:Fallback>
          <p:sp>
            <p:nvSpPr>
              <p:cNvPr id="3" name="内容占位符 2">
                <a:extLst>
                  <a:ext uri="{FF2B5EF4-FFF2-40B4-BE49-F238E27FC236}">
                    <a16:creationId xmlns:a16="http://schemas.microsoft.com/office/drawing/2014/main" id="{C3BC9A0F-5A6A-7B2F-494A-1D54B420C187}"/>
                  </a:ext>
                </a:extLst>
              </p:cNvPr>
              <p:cNvSpPr>
                <a:spLocks noGrp="1" noRot="1" noChangeAspect="1" noMove="1" noResize="1" noEditPoints="1" noAdjustHandles="1" noChangeArrowheads="1" noChangeShapeType="1" noTextEdit="1"/>
              </p:cNvSpPr>
              <p:nvPr>
                <p:ph idx="1"/>
              </p:nvPr>
            </p:nvSpPr>
            <p:spPr>
              <a:blipFill>
                <a:blip r:embed="rId2"/>
                <a:stretch>
                  <a:fillRect l="-928" t="-141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0F9BDF4-C900-E0AB-A616-04199EED0235}"/>
              </a:ext>
            </a:extLst>
          </p:cNvPr>
          <p:cNvSpPr txBox="1"/>
          <p:nvPr/>
        </p:nvSpPr>
        <p:spPr>
          <a:xfrm>
            <a:off x="1905000" y="1714500"/>
            <a:ext cx="2768707" cy="1815882"/>
          </a:xfrm>
          <a:prstGeom prst="rect">
            <a:avLst/>
          </a:prstGeom>
          <a:noFill/>
        </p:spPr>
        <p:txBody>
          <a:bodyPr wrap="none" rtlCol="0">
            <a:spAutoFit/>
          </a:bodyPr>
          <a:lstStyle/>
          <a:p>
            <a:r>
              <a:rPr lang="en-US" altLang="zh-CN" sz="1400" b="0" dirty="0">
                <a:solidFill>
                  <a:srgbClr val="D4D4D4"/>
                </a:solidFill>
                <a:effectLst/>
                <a:latin typeface="Consolas" panose="020B0609020204030204" pitchFamily="49" charset="0"/>
              </a:rPr>
              <a:t>sorted = </a:t>
            </a:r>
            <a:r>
              <a:rPr lang="en-US" altLang="zh-CN" sz="1400" b="0" dirty="0">
                <a:solidFill>
                  <a:srgbClr val="569CD6"/>
                </a:solidFill>
                <a:effectLst/>
                <a:latin typeface="Consolas" panose="020B0609020204030204" pitchFamily="49" charset="0"/>
              </a:rPr>
              <a:t>false</a:t>
            </a:r>
            <a:endParaRPr lang="en-US" altLang="zh-CN" sz="1400" b="0" dirty="0">
              <a:solidFill>
                <a:srgbClr val="D4D4D4"/>
              </a:solidFill>
              <a:effectLst/>
              <a:latin typeface="Consolas" panose="020B0609020204030204" pitchFamily="49" charset="0"/>
            </a:endParaRPr>
          </a:p>
          <a:p>
            <a:r>
              <a:rPr lang="en-US" altLang="zh-CN" sz="1400" b="0" dirty="0">
                <a:solidFill>
                  <a:srgbClr val="C586C0"/>
                </a:solidFill>
                <a:effectLst/>
                <a:latin typeface="Consolas" panose="020B0609020204030204" pitchFamily="49" charset="0"/>
              </a:rPr>
              <a:t>while</a:t>
            </a:r>
            <a:r>
              <a:rPr lang="en-US" altLang="zh-CN" sz="1400" b="0" dirty="0">
                <a:solidFill>
                  <a:srgbClr val="D4D4D4"/>
                </a:solidFill>
                <a:effectLst/>
                <a:latin typeface="Consolas" panose="020B0609020204030204" pitchFamily="49" charset="0"/>
              </a:rPr>
              <a:t> (not sorted):</a:t>
            </a:r>
          </a:p>
          <a:p>
            <a:r>
              <a:rPr lang="en-US" altLang="zh-CN" sz="1400" b="0" dirty="0">
                <a:solidFill>
                  <a:srgbClr val="D4D4D4"/>
                </a:solidFill>
                <a:effectLst/>
                <a:latin typeface="Consolas" panose="020B0609020204030204" pitchFamily="49" charset="0"/>
              </a:rPr>
              <a:t>   sorted = </a:t>
            </a:r>
            <a:r>
              <a:rPr lang="en-US" altLang="zh-CN" sz="1400" b="0" dirty="0">
                <a:solidFill>
                  <a:srgbClr val="569CD6"/>
                </a:solidFill>
                <a:effectLst/>
                <a:latin typeface="Consolas" panose="020B0609020204030204" pitchFamily="49" charset="0"/>
              </a:rPr>
              <a:t>true</a:t>
            </a:r>
            <a:endParaRPr lang="en-US" altLang="zh-CN" sz="1400" b="0" dirty="0">
              <a:solidFill>
                <a:srgbClr val="D4D4D4"/>
              </a:solidFill>
              <a:effectLst/>
              <a:latin typeface="Consolas" panose="020B0609020204030204" pitchFamily="49" charset="0"/>
            </a:endParaRPr>
          </a:p>
          <a:p>
            <a:r>
              <a:rPr lang="en-US" altLang="zh-CN" sz="1400" b="0" dirty="0">
                <a:solidFill>
                  <a:srgbClr val="D4D4D4"/>
                </a:solidFill>
                <a:effectLst/>
                <a:latin typeface="Consolas" panose="020B0609020204030204" pitchFamily="49" charset="0"/>
              </a:rPr>
              <a:t>   moo</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 </a:t>
            </a:r>
            <a:r>
              <a:rPr lang="en-US" altLang="zh-CN" sz="1400" b="0" dirty="0">
                <a:solidFill>
                  <a:srgbClr val="B5CEA8"/>
                </a:solidFill>
                <a:effectLst/>
                <a:latin typeface="Consolas" panose="020B0609020204030204" pitchFamily="49" charset="0"/>
              </a:rPr>
              <a:t>0</a:t>
            </a:r>
            <a:r>
              <a:rPr lang="en-US" altLang="zh-CN" sz="1400" b="0" dirty="0">
                <a:solidFill>
                  <a:srgbClr val="D4D4D4"/>
                </a:solidFill>
                <a:effectLst/>
                <a:latin typeface="Consolas" panose="020B0609020204030204" pitchFamily="49" charset="0"/>
              </a:rPr>
              <a:t> to N-</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&lt;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swap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sorted = </a:t>
            </a:r>
            <a:r>
              <a:rPr lang="en-US" altLang="zh-CN" sz="1400" b="0" dirty="0">
                <a:solidFill>
                  <a:srgbClr val="569CD6"/>
                </a:solidFill>
                <a:effectLst/>
                <a:latin typeface="Consolas" panose="020B0609020204030204" pitchFamily="49" charset="0"/>
              </a:rPr>
              <a:t>false</a:t>
            </a:r>
            <a:endParaRPr lang="en-US" altLang="zh-CN" sz="14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240554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9512-D12A-A2FD-97F1-7B579DCFC3C6}"/>
              </a:ext>
            </a:extLst>
          </p:cNvPr>
          <p:cNvSpPr>
            <a:spLocks noGrp="1"/>
          </p:cNvSpPr>
          <p:nvPr>
            <p:ph type="title"/>
          </p:nvPr>
        </p:nvSpPr>
        <p:spPr/>
        <p:txBody>
          <a:bodyPr/>
          <a:lstStyle/>
          <a:p>
            <a:r>
              <a:rPr lang="en-US" altLang="zh-CN" dirty="0"/>
              <a:t>Example. USACO 2018 Out of Sorts (G)</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3BC9A0F-5A6A-7B2F-494A-1D54B420C187}"/>
                  </a:ext>
                </a:extLst>
              </p:cNvPr>
              <p:cNvSpPr>
                <a:spLocks noGrp="1"/>
              </p:cNvSpPr>
              <p:nvPr>
                <p:ph idx="1"/>
              </p:nvPr>
            </p:nvSpPr>
            <p:spPr/>
            <p:txBody>
              <a:bodyPr/>
              <a:lstStyle/>
              <a:p>
                <a:r>
                  <a:rPr lang="en-US" altLang="zh-CN" dirty="0"/>
                  <a:t>Input </a:t>
                </a:r>
                <a14:m>
                  <m:oMath xmlns:m="http://schemas.openxmlformats.org/officeDocument/2006/math">
                    <m:r>
                      <a:rPr lang="en-US" altLang="zh-CN" b="0" i="1" smtClean="0">
                        <a:latin typeface="Cambria Math" panose="02040503050406030204" pitchFamily="18" charset="0"/>
                      </a:rPr>
                      <m:t>𝐴</m:t>
                    </m:r>
                  </m:oMath>
                </a14:m>
                <a:r>
                  <a:rPr lang="en-US" altLang="zh-CN" dirty="0"/>
                  <a:t>,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en-US" altLang="zh-CN" dirty="0"/>
                  <a:t>, Output the final result of moo for the following code:</a:t>
                </a:r>
                <a:endParaRPr lang="zh-CN" altLang="en-US" dirty="0"/>
              </a:p>
            </p:txBody>
          </p:sp>
        </mc:Choice>
        <mc:Fallback>
          <p:sp>
            <p:nvSpPr>
              <p:cNvPr id="3" name="内容占位符 2">
                <a:extLst>
                  <a:ext uri="{FF2B5EF4-FFF2-40B4-BE49-F238E27FC236}">
                    <a16:creationId xmlns:a16="http://schemas.microsoft.com/office/drawing/2014/main" id="{C3BC9A0F-5A6A-7B2F-494A-1D54B420C187}"/>
                  </a:ext>
                </a:extLst>
              </p:cNvPr>
              <p:cNvSpPr>
                <a:spLocks noGrp="1" noRot="1" noChangeAspect="1" noMove="1" noResize="1" noEditPoints="1" noAdjustHandles="1" noChangeArrowheads="1" noChangeShapeType="1" noTextEdit="1"/>
              </p:cNvSpPr>
              <p:nvPr>
                <p:ph idx="1"/>
              </p:nvPr>
            </p:nvSpPr>
            <p:spPr>
              <a:blipFill>
                <a:blip r:embed="rId2"/>
                <a:stretch>
                  <a:fillRect l="-928" t="-141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0F9BDF4-C900-E0AB-A616-04199EED0235}"/>
              </a:ext>
            </a:extLst>
          </p:cNvPr>
          <p:cNvSpPr txBox="1"/>
          <p:nvPr/>
        </p:nvSpPr>
        <p:spPr>
          <a:xfrm>
            <a:off x="1905000" y="1714500"/>
            <a:ext cx="2768707" cy="2893100"/>
          </a:xfrm>
          <a:prstGeom prst="rect">
            <a:avLst/>
          </a:prstGeom>
          <a:noFill/>
        </p:spPr>
        <p:txBody>
          <a:bodyPr wrap="none" rtlCol="0">
            <a:spAutoFit/>
          </a:bodyPr>
          <a:lstStyle/>
          <a:p>
            <a:r>
              <a:rPr lang="en-US" altLang="zh-CN" sz="1400" b="0" dirty="0">
                <a:solidFill>
                  <a:srgbClr val="D4D4D4"/>
                </a:solidFill>
                <a:effectLst/>
                <a:latin typeface="Consolas" panose="020B0609020204030204" pitchFamily="49" charset="0"/>
              </a:rPr>
              <a:t>sorted = </a:t>
            </a:r>
            <a:r>
              <a:rPr lang="en-US" altLang="zh-CN" sz="1400" b="0" dirty="0">
                <a:solidFill>
                  <a:srgbClr val="569CD6"/>
                </a:solidFill>
                <a:effectLst/>
                <a:latin typeface="Consolas" panose="020B0609020204030204" pitchFamily="49" charset="0"/>
              </a:rPr>
              <a:t>false</a:t>
            </a:r>
            <a:endParaRPr lang="en-US" altLang="zh-CN" sz="1400" b="0" dirty="0">
              <a:solidFill>
                <a:srgbClr val="D4D4D4"/>
              </a:solidFill>
              <a:effectLst/>
              <a:latin typeface="Consolas" panose="020B0609020204030204" pitchFamily="49" charset="0"/>
            </a:endParaRPr>
          </a:p>
          <a:p>
            <a:r>
              <a:rPr lang="en-US" altLang="zh-CN" sz="1400" b="0" dirty="0">
                <a:solidFill>
                  <a:srgbClr val="C586C0"/>
                </a:solidFill>
                <a:effectLst/>
                <a:latin typeface="Consolas" panose="020B0609020204030204" pitchFamily="49" charset="0"/>
              </a:rPr>
              <a:t>while</a:t>
            </a:r>
            <a:r>
              <a:rPr lang="en-US" altLang="zh-CN" sz="1400" b="0" dirty="0">
                <a:solidFill>
                  <a:srgbClr val="D4D4D4"/>
                </a:solidFill>
                <a:effectLst/>
                <a:latin typeface="Consolas" panose="020B0609020204030204" pitchFamily="49" charset="0"/>
              </a:rPr>
              <a:t> (not sorted):</a:t>
            </a:r>
          </a:p>
          <a:p>
            <a:r>
              <a:rPr lang="en-US" altLang="zh-CN" sz="1400" b="0" dirty="0">
                <a:solidFill>
                  <a:srgbClr val="D4D4D4"/>
                </a:solidFill>
                <a:effectLst/>
                <a:latin typeface="Consolas" panose="020B0609020204030204" pitchFamily="49" charset="0"/>
              </a:rPr>
              <a:t>   sorted = </a:t>
            </a:r>
            <a:r>
              <a:rPr lang="en-US" altLang="zh-CN" sz="1400" b="0" dirty="0">
                <a:solidFill>
                  <a:srgbClr val="569CD6"/>
                </a:solidFill>
                <a:effectLst/>
                <a:latin typeface="Consolas" panose="020B0609020204030204" pitchFamily="49" charset="0"/>
              </a:rPr>
              <a:t>true</a:t>
            </a:r>
            <a:endParaRPr lang="en-US" altLang="zh-CN" sz="1400" b="0" dirty="0">
              <a:solidFill>
                <a:srgbClr val="D4D4D4"/>
              </a:solidFill>
              <a:effectLst/>
              <a:latin typeface="Consolas" panose="020B0609020204030204" pitchFamily="49" charset="0"/>
            </a:endParaRPr>
          </a:p>
          <a:p>
            <a:r>
              <a:rPr lang="en-US" altLang="zh-CN" sz="1400" b="0" dirty="0">
                <a:solidFill>
                  <a:srgbClr val="D4D4D4"/>
                </a:solidFill>
                <a:effectLst/>
                <a:latin typeface="Consolas" panose="020B0609020204030204" pitchFamily="49" charset="0"/>
              </a:rPr>
              <a:t>   moo</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 </a:t>
            </a:r>
            <a:r>
              <a:rPr lang="en-US" altLang="zh-CN" sz="1400" b="0" dirty="0">
                <a:solidFill>
                  <a:srgbClr val="B5CEA8"/>
                </a:solidFill>
                <a:effectLst/>
                <a:latin typeface="Consolas" panose="020B0609020204030204" pitchFamily="49" charset="0"/>
              </a:rPr>
              <a:t>0</a:t>
            </a:r>
            <a:r>
              <a:rPr lang="en-US" altLang="zh-CN" sz="1400" b="0" dirty="0">
                <a:solidFill>
                  <a:srgbClr val="D4D4D4"/>
                </a:solidFill>
                <a:effectLst/>
                <a:latin typeface="Consolas" panose="020B0609020204030204" pitchFamily="49" charset="0"/>
              </a:rPr>
              <a:t> to N-</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&lt;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swap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 N-</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downto</a:t>
            </a:r>
            <a:r>
              <a:rPr lang="en-US" altLang="zh-CN" sz="1400" b="0" dirty="0">
                <a:solidFill>
                  <a:srgbClr val="D4D4D4"/>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0</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&lt;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swap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 </a:t>
            </a:r>
            <a:r>
              <a:rPr lang="en-US" altLang="zh-CN" sz="1400" b="0" dirty="0">
                <a:solidFill>
                  <a:srgbClr val="B5CEA8"/>
                </a:solidFill>
                <a:effectLst/>
                <a:latin typeface="Consolas" panose="020B0609020204030204" pitchFamily="49" charset="0"/>
              </a:rPr>
              <a:t>0</a:t>
            </a:r>
            <a:r>
              <a:rPr lang="en-US" altLang="zh-CN" sz="1400" b="0" dirty="0">
                <a:solidFill>
                  <a:srgbClr val="D4D4D4"/>
                </a:solidFill>
                <a:effectLst/>
                <a:latin typeface="Consolas" panose="020B0609020204030204" pitchFamily="49" charset="0"/>
              </a:rPr>
              <a:t> to N-</a:t>
            </a:r>
            <a:r>
              <a:rPr lang="en-US" altLang="zh-CN" sz="1400" b="0" dirty="0">
                <a:solidFill>
                  <a:srgbClr val="B5CEA8"/>
                </a:solidFill>
                <a:effectLst/>
                <a:latin typeface="Consolas" panose="020B0609020204030204" pitchFamily="49" charset="0"/>
              </a:rPr>
              <a:t>2</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&lt;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         sorted = </a:t>
            </a:r>
            <a:r>
              <a:rPr lang="en-US" altLang="zh-CN" sz="1400" b="0" dirty="0">
                <a:solidFill>
                  <a:srgbClr val="569CD6"/>
                </a:solidFill>
                <a:effectLst/>
                <a:latin typeface="Consolas" panose="020B0609020204030204" pitchFamily="49" charset="0"/>
              </a:rPr>
              <a:t>false</a:t>
            </a:r>
            <a:endParaRPr lang="en-US" altLang="zh-CN" sz="14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59612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9512-D12A-A2FD-97F1-7B579DCFC3C6}"/>
              </a:ext>
            </a:extLst>
          </p:cNvPr>
          <p:cNvSpPr>
            <a:spLocks noGrp="1"/>
          </p:cNvSpPr>
          <p:nvPr>
            <p:ph type="title"/>
          </p:nvPr>
        </p:nvSpPr>
        <p:spPr/>
        <p:txBody>
          <a:bodyPr/>
          <a:lstStyle/>
          <a:p>
            <a:r>
              <a:rPr lang="en-US" altLang="zh-CN" dirty="0"/>
              <a:t>Example. USACO 2018 Out of Sorts (P)</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3BC9A0F-5A6A-7B2F-494A-1D54B420C187}"/>
                  </a:ext>
                </a:extLst>
              </p:cNvPr>
              <p:cNvSpPr>
                <a:spLocks noGrp="1"/>
              </p:cNvSpPr>
              <p:nvPr>
                <p:ph idx="1"/>
              </p:nvPr>
            </p:nvSpPr>
            <p:spPr/>
            <p:txBody>
              <a:bodyPr/>
              <a:lstStyle/>
              <a:p>
                <a:r>
                  <a:rPr lang="en-US" altLang="zh-CN" dirty="0"/>
                  <a:t>Input </a:t>
                </a:r>
                <a14:m>
                  <m:oMath xmlns:m="http://schemas.openxmlformats.org/officeDocument/2006/math">
                    <m:r>
                      <a:rPr lang="en-US" altLang="zh-CN" b="0" i="1" smtClean="0">
                        <a:latin typeface="Cambria Math" panose="02040503050406030204" pitchFamily="18" charset="0"/>
                      </a:rPr>
                      <m:t>𝐴</m:t>
                    </m:r>
                  </m:oMath>
                </a14:m>
                <a:r>
                  <a:rPr lang="en-US" altLang="zh-CN" dirty="0"/>
                  <a:t>,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en-US" altLang="zh-CN" dirty="0"/>
                  <a:t>, Output the final result of </a:t>
                </a:r>
                <a:r>
                  <a:rPr lang="en-US" altLang="zh-CN" dirty="0" err="1"/>
                  <a:t>work_counter</a:t>
                </a:r>
                <a:r>
                  <a:rPr lang="en-US" altLang="zh-CN" dirty="0"/>
                  <a:t> for the following code:</a:t>
                </a:r>
                <a:endParaRPr lang="zh-CN" altLang="en-US" dirty="0"/>
              </a:p>
            </p:txBody>
          </p:sp>
        </mc:Choice>
        <mc:Fallback>
          <p:sp>
            <p:nvSpPr>
              <p:cNvPr id="3" name="内容占位符 2">
                <a:extLst>
                  <a:ext uri="{FF2B5EF4-FFF2-40B4-BE49-F238E27FC236}">
                    <a16:creationId xmlns:a16="http://schemas.microsoft.com/office/drawing/2014/main" id="{C3BC9A0F-5A6A-7B2F-494A-1D54B420C187}"/>
                  </a:ext>
                </a:extLst>
              </p:cNvPr>
              <p:cNvSpPr>
                <a:spLocks noGrp="1" noRot="1" noChangeAspect="1" noMove="1" noResize="1" noEditPoints="1" noAdjustHandles="1" noChangeArrowheads="1" noChangeShapeType="1" noTextEdit="1"/>
              </p:cNvSpPr>
              <p:nvPr>
                <p:ph idx="1"/>
              </p:nvPr>
            </p:nvSpPr>
            <p:spPr>
              <a:blipFill>
                <a:blip r:embed="rId2"/>
                <a:stretch>
                  <a:fillRect l="-928" t="-141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0F9BDF4-C900-E0AB-A616-04199EED0235}"/>
              </a:ext>
            </a:extLst>
          </p:cNvPr>
          <p:cNvSpPr txBox="1"/>
          <p:nvPr/>
        </p:nvSpPr>
        <p:spPr>
          <a:xfrm>
            <a:off x="1905000" y="1714500"/>
            <a:ext cx="7439857" cy="2677656"/>
          </a:xfrm>
          <a:prstGeom prst="rect">
            <a:avLst/>
          </a:prstGeom>
          <a:noFill/>
        </p:spPr>
        <p:txBody>
          <a:bodyPr wrap="none" rtlCol="0">
            <a:spAutoFit/>
          </a:bodyPr>
          <a:lstStyle/>
          <a:p>
            <a:r>
              <a:rPr lang="en-US" altLang="zh-CN" sz="1400" b="0" dirty="0" err="1">
                <a:solidFill>
                  <a:srgbClr val="DCDCAA"/>
                </a:solidFill>
                <a:effectLst/>
                <a:latin typeface="Consolas" panose="020B0609020204030204" pitchFamily="49" charset="0"/>
              </a:rPr>
              <a:t>bubble_sort_pass</a:t>
            </a:r>
            <a:r>
              <a:rPr lang="en-US" altLang="zh-CN" sz="1400" b="0" dirty="0">
                <a:solidFill>
                  <a:srgbClr val="D4D4D4"/>
                </a:solidFill>
                <a:effectLst/>
                <a:latin typeface="Consolas" panose="020B0609020204030204" pitchFamily="49" charset="0"/>
              </a:rPr>
              <a:t> (A) {</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for</a:t>
            </a:r>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 </a:t>
            </a:r>
            <a:r>
              <a:rPr lang="en-US" altLang="zh-CN" sz="1400" b="0" dirty="0">
                <a:solidFill>
                  <a:srgbClr val="B5CEA8"/>
                </a:solidFill>
                <a:effectLst/>
                <a:latin typeface="Consolas" panose="020B0609020204030204" pitchFamily="49" charset="0"/>
              </a:rPr>
              <a:t>0</a:t>
            </a:r>
            <a:r>
              <a:rPr lang="en-US" altLang="zh-CN" sz="1400" b="0" dirty="0">
                <a:solidFill>
                  <a:srgbClr val="D4D4D4"/>
                </a:solidFill>
                <a:effectLst/>
                <a:latin typeface="Consolas" panose="020B0609020204030204" pitchFamily="49" charset="0"/>
              </a:rPr>
              <a:t> to </a:t>
            </a:r>
            <a:r>
              <a:rPr lang="en-US" altLang="zh-CN" sz="1400" b="0" dirty="0">
                <a:solidFill>
                  <a:srgbClr val="DCDCAA"/>
                </a:solidFill>
                <a:effectLst/>
                <a:latin typeface="Consolas" panose="020B0609020204030204" pitchFamily="49" charset="0"/>
              </a:rPr>
              <a:t>length</a:t>
            </a:r>
            <a:r>
              <a:rPr lang="en-US" altLang="zh-CN" sz="1400" b="0" dirty="0">
                <a:solidFill>
                  <a:srgbClr val="D4D4D4"/>
                </a:solidFill>
                <a:effectLst/>
                <a:latin typeface="Consolas" panose="020B0609020204030204" pitchFamily="49" charset="0"/>
              </a:rPr>
              <a:t>(A)-</a:t>
            </a:r>
            <a:r>
              <a:rPr lang="en-US" altLang="zh-CN" sz="1400" b="0" dirty="0">
                <a:solidFill>
                  <a:srgbClr val="B5CEA8"/>
                </a:solidFill>
                <a:effectLst/>
                <a:latin typeface="Consolas" panose="020B0609020204030204" pitchFamily="49" charset="0"/>
              </a:rPr>
              <a:t>2</a:t>
            </a:r>
            <a:endParaRPr lang="en-US" altLang="zh-CN" sz="1400" b="0" dirty="0">
              <a:solidFill>
                <a:srgbClr val="D4D4D4"/>
              </a:solidFill>
              <a:effectLst/>
              <a:latin typeface="Consolas" panose="020B0609020204030204" pitchFamily="49" charset="0"/>
            </a:endParaRP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&gt;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swap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i</a:t>
            </a:r>
            <a:r>
              <a:rPr lang="en-US" altLang="zh-CN" sz="1400" b="0" dirty="0">
                <a:solidFill>
                  <a:srgbClr val="D4D4D4"/>
                </a:solidFill>
                <a:effectLst/>
                <a:latin typeface="Consolas" panose="020B0609020204030204" pitchFamily="49" charset="0"/>
              </a:rPr>
              <a:t>] and </a:t>
            </a:r>
            <a:r>
              <a:rPr lang="en-US" altLang="zh-CN" sz="1400" b="0" dirty="0">
                <a:solidFill>
                  <a:srgbClr val="9CDCFE"/>
                </a:solidFill>
                <a:effectLst/>
                <a:latin typeface="Consolas" panose="020B0609020204030204" pitchFamily="49" charset="0"/>
              </a:rPr>
              <a:t>A</a:t>
            </a:r>
            <a:r>
              <a:rPr lang="en-US" altLang="zh-CN" sz="1400" b="0" dirty="0">
                <a:solidFill>
                  <a:srgbClr val="D4D4D4"/>
                </a:solidFill>
                <a:effectLst/>
                <a:latin typeface="Consolas" panose="020B0609020204030204" pitchFamily="49" charset="0"/>
              </a:rPr>
              <a:t>[i+</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a:t>
            </a:r>
          </a:p>
          <a:p>
            <a:r>
              <a:rPr lang="en-US" altLang="zh-CN" sz="1400" b="0" dirty="0">
                <a:solidFill>
                  <a:srgbClr val="D4D4D4"/>
                </a:solidFill>
                <a:effectLst/>
                <a:latin typeface="Consolas" panose="020B0609020204030204" pitchFamily="49" charset="0"/>
              </a:rPr>
              <a:t>}</a:t>
            </a:r>
          </a:p>
          <a:p>
            <a:r>
              <a:rPr lang="en-US" altLang="zh-CN" sz="1400" b="0" dirty="0" err="1">
                <a:solidFill>
                  <a:srgbClr val="DCDCAA"/>
                </a:solidFill>
                <a:effectLst/>
                <a:latin typeface="Consolas" panose="020B0609020204030204" pitchFamily="49" charset="0"/>
              </a:rPr>
              <a:t>quickish_sort</a:t>
            </a:r>
            <a:r>
              <a:rPr lang="en-US" altLang="zh-CN" sz="1400" b="0" dirty="0">
                <a:solidFill>
                  <a:srgbClr val="D4D4D4"/>
                </a:solidFill>
                <a:effectLst/>
                <a:latin typeface="Consolas" panose="020B0609020204030204" pitchFamily="49" charset="0"/>
              </a:rPr>
              <a:t> (A) {</a:t>
            </a: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if</a:t>
            </a:r>
            <a:r>
              <a:rPr lang="en-US" altLang="zh-CN" sz="1400" b="0" dirty="0">
                <a:solidFill>
                  <a:srgbClr val="D4D4D4"/>
                </a:solidFill>
                <a:effectLst/>
                <a:latin typeface="Consolas" panose="020B0609020204030204" pitchFamily="49" charset="0"/>
              </a:rPr>
              <a:t> </a:t>
            </a:r>
            <a:r>
              <a:rPr lang="en-US" altLang="zh-CN" sz="1400" b="0" dirty="0">
                <a:solidFill>
                  <a:srgbClr val="DCDCAA"/>
                </a:solidFill>
                <a:effectLst/>
                <a:latin typeface="Consolas" panose="020B0609020204030204" pitchFamily="49" charset="0"/>
              </a:rPr>
              <a:t>length</a:t>
            </a:r>
            <a:r>
              <a:rPr lang="en-US" altLang="zh-CN" sz="1400" b="0" dirty="0">
                <a:solidFill>
                  <a:srgbClr val="D4D4D4"/>
                </a:solidFill>
                <a:effectLst/>
                <a:latin typeface="Consolas" panose="020B0609020204030204" pitchFamily="49" charset="0"/>
              </a:rPr>
              <a:t>(A) = </a:t>
            </a:r>
            <a:r>
              <a:rPr lang="en-US" altLang="zh-CN" sz="1400" b="0" dirty="0">
                <a:solidFill>
                  <a:srgbClr val="B5CEA8"/>
                </a:solidFill>
                <a:effectLst/>
                <a:latin typeface="Consolas" panose="020B0609020204030204" pitchFamily="49" charset="0"/>
              </a:rPr>
              <a:t>1</a:t>
            </a:r>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return</a:t>
            </a:r>
            <a:endParaRPr lang="en-US" altLang="zh-CN" sz="1400" b="0" dirty="0">
              <a:solidFill>
                <a:srgbClr val="D4D4D4"/>
              </a:solidFill>
              <a:effectLst/>
              <a:latin typeface="Consolas" panose="020B0609020204030204" pitchFamily="49" charset="0"/>
            </a:endParaRPr>
          </a:p>
          <a:p>
            <a:r>
              <a:rPr lang="en-US" altLang="zh-CN" sz="1400" b="0" dirty="0">
                <a:solidFill>
                  <a:srgbClr val="D4D4D4"/>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do</a:t>
            </a:r>
            <a:r>
              <a:rPr lang="en-US" altLang="zh-CN" sz="1400" b="0" dirty="0">
                <a:solidFill>
                  <a:srgbClr val="D4D4D4"/>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 Main loop</a:t>
            </a:r>
            <a:endParaRPr lang="en-US" altLang="zh-CN" sz="1400" b="0" dirty="0">
              <a:solidFill>
                <a:srgbClr val="D4D4D4"/>
              </a:solidFill>
              <a:effectLst/>
              <a:latin typeface="Consolas" panose="020B0609020204030204" pitchFamily="49" charset="0"/>
            </a:endParaRPr>
          </a:p>
          <a:p>
            <a:r>
              <a:rPr lang="en-US" altLang="zh-CN" sz="1400" b="0" dirty="0">
                <a:solidFill>
                  <a:srgbClr val="D4D4D4"/>
                </a:solidFill>
                <a:effectLst/>
                <a:latin typeface="Consolas" panose="020B0609020204030204" pitchFamily="49" charset="0"/>
              </a:rPr>
              <a:t>      </a:t>
            </a:r>
            <a:r>
              <a:rPr lang="en-US" altLang="zh-CN" sz="1400" b="0" dirty="0" err="1">
                <a:solidFill>
                  <a:srgbClr val="D4D4D4"/>
                </a:solidFill>
                <a:effectLst/>
                <a:latin typeface="Consolas" panose="020B0609020204030204" pitchFamily="49" charset="0"/>
              </a:rPr>
              <a:t>work_counter</a:t>
            </a:r>
            <a:r>
              <a:rPr lang="en-US" altLang="zh-CN" sz="1400" b="0" dirty="0">
                <a:solidFill>
                  <a:srgbClr val="D4D4D4"/>
                </a:solidFill>
                <a:effectLst/>
                <a:latin typeface="Consolas" panose="020B0609020204030204" pitchFamily="49" charset="0"/>
              </a:rPr>
              <a:t> = </a:t>
            </a:r>
            <a:r>
              <a:rPr lang="en-US" altLang="zh-CN" sz="1400" b="0" dirty="0" err="1">
                <a:solidFill>
                  <a:srgbClr val="D4D4D4"/>
                </a:solidFill>
                <a:effectLst/>
                <a:latin typeface="Consolas" panose="020B0609020204030204" pitchFamily="49" charset="0"/>
              </a:rPr>
              <a:t>work_counter</a:t>
            </a:r>
            <a:r>
              <a:rPr lang="en-US" altLang="zh-CN" sz="1400" b="0" dirty="0">
                <a:solidFill>
                  <a:srgbClr val="D4D4D4"/>
                </a:solidFill>
                <a:effectLst/>
                <a:latin typeface="Consolas" panose="020B0609020204030204" pitchFamily="49" charset="0"/>
              </a:rPr>
              <a:t> + </a:t>
            </a:r>
            <a:r>
              <a:rPr lang="en-US" altLang="zh-CN" sz="1400" b="0" dirty="0">
                <a:solidFill>
                  <a:srgbClr val="DCDCAA"/>
                </a:solidFill>
                <a:effectLst/>
                <a:latin typeface="Consolas" panose="020B0609020204030204" pitchFamily="49" charset="0"/>
              </a:rPr>
              <a:t>length</a:t>
            </a:r>
            <a:r>
              <a:rPr lang="en-US" altLang="zh-CN" sz="1400" b="0" dirty="0">
                <a:solidFill>
                  <a:srgbClr val="D4D4D4"/>
                </a:solidFill>
                <a:effectLst/>
                <a:latin typeface="Consolas" panose="020B0609020204030204" pitchFamily="49" charset="0"/>
              </a:rPr>
              <a:t>(A)</a:t>
            </a:r>
          </a:p>
          <a:p>
            <a:r>
              <a:rPr lang="en-US" altLang="zh-CN" sz="1400" b="0" dirty="0">
                <a:solidFill>
                  <a:srgbClr val="D4D4D4"/>
                </a:solidFill>
                <a:effectLst/>
                <a:latin typeface="Consolas" panose="020B0609020204030204" pitchFamily="49" charset="0"/>
              </a:rPr>
              <a:t>      </a:t>
            </a:r>
            <a:r>
              <a:rPr lang="en-US" altLang="zh-CN" sz="1400" b="0" dirty="0" err="1">
                <a:solidFill>
                  <a:srgbClr val="DCDCAA"/>
                </a:solidFill>
                <a:effectLst/>
                <a:latin typeface="Consolas" panose="020B0609020204030204" pitchFamily="49" charset="0"/>
              </a:rPr>
              <a:t>bubble_sort_pass</a:t>
            </a:r>
            <a:r>
              <a:rPr lang="en-US" altLang="zh-CN" sz="1400" b="0" dirty="0">
                <a:solidFill>
                  <a:srgbClr val="D4D4D4"/>
                </a:solidFill>
                <a:effectLst/>
                <a:latin typeface="Consolas" panose="020B0609020204030204" pitchFamily="49" charset="0"/>
              </a:rPr>
              <a:t>(A)</a:t>
            </a:r>
          </a:p>
          <a:p>
            <a:r>
              <a:rPr lang="en-US" altLang="zh-CN" sz="1400" b="0" dirty="0">
                <a:solidFill>
                  <a:srgbClr val="D4D4D4"/>
                </a:solidFill>
                <a:effectLst/>
                <a:latin typeface="Consolas" panose="020B0609020204030204" pitchFamily="49" charset="0"/>
              </a:rPr>
              <a:t>   } </a:t>
            </a:r>
            <a:r>
              <a:rPr lang="en-US" altLang="zh-CN" sz="1400" b="0" dirty="0">
                <a:solidFill>
                  <a:srgbClr val="C586C0"/>
                </a:solidFill>
                <a:effectLst/>
                <a:latin typeface="Consolas" panose="020B0609020204030204" pitchFamily="49" charset="0"/>
              </a:rPr>
              <a:t>while</a:t>
            </a:r>
            <a:r>
              <a:rPr lang="en-US" altLang="zh-CN" sz="1400" b="0" dirty="0">
                <a:solidFill>
                  <a:srgbClr val="D4D4D4"/>
                </a:solidFill>
                <a:effectLst/>
                <a:latin typeface="Consolas" panose="020B0609020204030204" pitchFamily="49" charset="0"/>
              </a:rPr>
              <a:t> (no partition points exist in A) </a:t>
            </a:r>
          </a:p>
          <a:p>
            <a:r>
              <a:rPr lang="en-US" altLang="zh-CN" sz="1400" b="0" dirty="0">
                <a:solidFill>
                  <a:srgbClr val="D4D4D4"/>
                </a:solidFill>
                <a:effectLst/>
                <a:latin typeface="Consolas" panose="020B0609020204030204" pitchFamily="49" charset="0"/>
              </a:rPr>
              <a:t>   divide A at all partition points; recursively </a:t>
            </a:r>
            <a:r>
              <a:rPr lang="en-US" altLang="zh-CN" sz="1400" b="0" dirty="0" err="1">
                <a:solidFill>
                  <a:srgbClr val="D4D4D4"/>
                </a:solidFill>
                <a:effectLst/>
                <a:latin typeface="Consolas" panose="020B0609020204030204" pitchFamily="49" charset="0"/>
              </a:rPr>
              <a:t>quickish_sort</a:t>
            </a:r>
            <a:r>
              <a:rPr lang="en-US" altLang="zh-CN" sz="1400" b="0" dirty="0">
                <a:solidFill>
                  <a:srgbClr val="D4D4D4"/>
                </a:solidFill>
                <a:effectLst/>
                <a:latin typeface="Consolas" panose="020B0609020204030204" pitchFamily="49" charset="0"/>
              </a:rPr>
              <a:t> each piece</a:t>
            </a:r>
          </a:p>
          <a:p>
            <a:r>
              <a:rPr lang="en-US" altLang="zh-CN"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845638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6BC9A9-F0EA-C48C-BE00-7067FE332A4B}"/>
              </a:ext>
            </a:extLst>
          </p:cNvPr>
          <p:cNvSpPr>
            <a:spLocks noGrp="1"/>
          </p:cNvSpPr>
          <p:nvPr>
            <p:ph type="title"/>
          </p:nvPr>
        </p:nvSpPr>
        <p:spPr/>
        <p:txBody>
          <a:bodyPr/>
          <a:lstStyle/>
          <a:p>
            <a:r>
              <a:rPr lang="en-US" altLang="zh-CN" dirty="0"/>
              <a:t>Analysis View</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256B97F-9D3A-B391-F393-E2655ED75704}"/>
                  </a:ext>
                </a:extLst>
              </p:cNvPr>
              <p:cNvSpPr>
                <a:spLocks noGrp="1"/>
              </p:cNvSpPr>
              <p:nvPr>
                <p:ph idx="1"/>
              </p:nvPr>
            </p:nvSpPr>
            <p:spPr/>
            <p:txBody>
              <a:bodyPr/>
              <a:lstStyle/>
              <a:p>
                <a:r>
                  <a:rPr lang="en-US" altLang="zh-CN" dirty="0"/>
                  <a:t>Use </a:t>
                </a:r>
                <a:r>
                  <a:rPr lang="en-US" altLang="zh-CN" b="1" dirty="0">
                    <a:solidFill>
                      <a:srgbClr val="DCFFFF"/>
                    </a:solidFill>
                    <a:effectLst>
                      <a:glow rad="63500">
                        <a:schemeClr val="accent5">
                          <a:satMod val="175000"/>
                          <a:alpha val="40000"/>
                        </a:schemeClr>
                      </a:glow>
                    </a:effectLst>
                    <a:latin typeface="+mj-lt"/>
                    <a:ea typeface="+mj-ea"/>
                    <a:cs typeface="+mj-cs"/>
                  </a:rPr>
                  <a:t>0-1 principle </a:t>
                </a:r>
                <a:r>
                  <a:rPr lang="en-US" altLang="zh-CN" dirty="0"/>
                  <a:t>and </a:t>
                </a:r>
                <a:r>
                  <a:rPr lang="en-US" altLang="zh-CN" b="1" dirty="0">
                    <a:solidFill>
                      <a:srgbClr val="DCFFFF"/>
                    </a:solidFill>
                    <a:effectLst>
                      <a:glow rad="63500">
                        <a:schemeClr val="accent5">
                          <a:satMod val="175000"/>
                          <a:alpha val="40000"/>
                        </a:schemeClr>
                      </a:glow>
                    </a:effectLst>
                    <a:latin typeface="+mj-lt"/>
                    <a:ea typeface="+mj-ea"/>
                    <a:cs typeface="+mj-cs"/>
                  </a:rPr>
                  <a:t>matrix/plane of </a:t>
                </a:r>
                <a14:m>
                  <m:oMath xmlns:m="http://schemas.openxmlformats.org/officeDocument/2006/math">
                    <m:r>
                      <a:rPr lang="en-US" altLang="zh-CN" b="1">
                        <a:solidFill>
                          <a:srgbClr val="DCFFFF"/>
                        </a:solidFill>
                        <a:effectLst>
                          <a:glow rad="63500">
                            <a:schemeClr val="accent5">
                              <a:satMod val="175000"/>
                              <a:alpha val="40000"/>
                            </a:schemeClr>
                          </a:glow>
                        </a:effectLst>
                        <a:latin typeface="+mj-lt"/>
                        <a:ea typeface="+mj-ea"/>
                        <a:cs typeface="+mj-cs"/>
                      </a:rPr>
                      <m:t>{(</m:t>
                    </m:r>
                    <m:r>
                      <a:rPr lang="en-US" altLang="zh-CN" b="1">
                        <a:solidFill>
                          <a:srgbClr val="DCFFFF"/>
                        </a:solidFill>
                        <a:effectLst>
                          <a:glow rad="63500">
                            <a:schemeClr val="accent5">
                              <a:satMod val="175000"/>
                              <a:alpha val="40000"/>
                            </a:schemeClr>
                          </a:glow>
                        </a:effectLst>
                        <a:latin typeface="+mj-lt"/>
                        <a:ea typeface="+mj-ea"/>
                        <a:cs typeface="+mj-cs"/>
                      </a:rPr>
                      <m:t>𝑖</m:t>
                    </m:r>
                    <m:r>
                      <a:rPr lang="en-US" altLang="zh-CN" b="1">
                        <a:solidFill>
                          <a:srgbClr val="DCFFFF"/>
                        </a:solidFill>
                        <a:effectLst>
                          <a:glow rad="63500">
                            <a:schemeClr val="accent5">
                              <a:satMod val="175000"/>
                              <a:alpha val="40000"/>
                            </a:schemeClr>
                          </a:glow>
                        </a:effectLst>
                        <a:latin typeface="+mj-lt"/>
                        <a:ea typeface="+mj-ea"/>
                        <a:cs typeface="+mj-cs"/>
                      </a:rPr>
                      <m:t>,</m:t>
                    </m:r>
                    <m:sSub>
                      <m:sSubPr>
                        <m:ctrlPr>
                          <a:rPr lang="en-US" altLang="zh-CN" b="1">
                            <a:solidFill>
                              <a:srgbClr val="DCFFFF"/>
                            </a:solidFill>
                            <a:effectLst>
                              <a:glow rad="63500">
                                <a:schemeClr val="accent5">
                                  <a:satMod val="175000"/>
                                  <a:alpha val="40000"/>
                                </a:schemeClr>
                              </a:glow>
                            </a:effectLst>
                            <a:latin typeface="+mj-lt"/>
                            <a:ea typeface="+mj-ea"/>
                            <a:cs typeface="+mj-cs"/>
                          </a:rPr>
                        </m:ctrlPr>
                      </m:sSubPr>
                      <m:e>
                        <m:r>
                          <a:rPr lang="en-US" altLang="zh-CN" b="1">
                            <a:solidFill>
                              <a:srgbClr val="DCFFFF"/>
                            </a:solidFill>
                            <a:effectLst>
                              <a:glow rad="63500">
                                <a:schemeClr val="accent5">
                                  <a:satMod val="175000"/>
                                  <a:alpha val="40000"/>
                                </a:schemeClr>
                              </a:glow>
                            </a:effectLst>
                            <a:latin typeface="+mj-lt"/>
                            <a:ea typeface="+mj-ea"/>
                            <a:cs typeface="+mj-cs"/>
                          </a:rPr>
                          <m:t>𝑝</m:t>
                        </m:r>
                      </m:e>
                      <m:sub>
                        <m:r>
                          <a:rPr lang="en-US" altLang="zh-CN" b="1">
                            <a:solidFill>
                              <a:srgbClr val="DCFFFF"/>
                            </a:solidFill>
                            <a:effectLst>
                              <a:glow rad="63500">
                                <a:schemeClr val="accent5">
                                  <a:satMod val="175000"/>
                                  <a:alpha val="40000"/>
                                </a:schemeClr>
                              </a:glow>
                            </a:effectLst>
                            <a:latin typeface="+mj-lt"/>
                            <a:ea typeface="+mj-ea"/>
                            <a:cs typeface="+mj-cs"/>
                          </a:rPr>
                          <m:t>𝑖</m:t>
                        </m:r>
                      </m:sub>
                    </m:sSub>
                    <m:r>
                      <a:rPr lang="en-US" altLang="zh-CN" b="1">
                        <a:solidFill>
                          <a:srgbClr val="DCFFFF"/>
                        </a:solidFill>
                        <a:effectLst>
                          <a:glow rad="63500">
                            <a:schemeClr val="accent5">
                              <a:satMod val="175000"/>
                              <a:alpha val="40000"/>
                            </a:schemeClr>
                          </a:glow>
                        </a:effectLst>
                        <a:latin typeface="+mj-lt"/>
                        <a:ea typeface="+mj-ea"/>
                        <a:cs typeface="+mj-cs"/>
                      </a:rPr>
                      <m:t>)}</m:t>
                    </m:r>
                  </m:oMath>
                </a14:m>
                <a:r>
                  <a:rPr lang="en-US" altLang="zh-CN" dirty="0"/>
                  <a:t>.</a:t>
                </a:r>
                <a:endParaRPr lang="zh-CN" altLang="en-US" dirty="0"/>
              </a:p>
            </p:txBody>
          </p:sp>
        </mc:Choice>
        <mc:Fallback>
          <p:sp>
            <p:nvSpPr>
              <p:cNvPr id="3" name="内容占位符 2">
                <a:extLst>
                  <a:ext uri="{FF2B5EF4-FFF2-40B4-BE49-F238E27FC236}">
                    <a16:creationId xmlns:a16="http://schemas.microsoft.com/office/drawing/2014/main" id="{F256B97F-9D3A-B391-F393-E2655ED75704}"/>
                  </a:ext>
                </a:extLst>
              </p:cNvPr>
              <p:cNvSpPr>
                <a:spLocks noGrp="1" noRot="1" noChangeAspect="1" noMove="1" noResize="1" noEditPoints="1" noAdjustHandles="1" noChangeArrowheads="1" noChangeShapeType="1" noTextEdit="1"/>
              </p:cNvSpPr>
              <p:nvPr>
                <p:ph idx="1"/>
              </p:nvPr>
            </p:nvSpPr>
            <p:spPr>
              <a:blipFill>
                <a:blip r:embed="rId2"/>
                <a:stretch>
                  <a:fillRect l="-928" t="-21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0837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EF67A-935D-96B2-7336-4DCF8E04D1D0}"/>
              </a:ext>
            </a:extLst>
          </p:cNvPr>
          <p:cNvSpPr>
            <a:spLocks noGrp="1"/>
          </p:cNvSpPr>
          <p:nvPr>
            <p:ph type="title"/>
          </p:nvPr>
        </p:nvSpPr>
        <p:spPr/>
        <p:txBody>
          <a:bodyPr/>
          <a:lstStyle/>
          <a:p>
            <a:r>
              <a:rPr lang="en-US" altLang="zh-CN" dirty="0"/>
              <a:t>The Alternative Representations</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51612EB-4B50-4229-AA58-117CC4C039DE}"/>
                  </a:ext>
                </a:extLst>
              </p:cNvPr>
              <p:cNvSpPr>
                <a:spLocks noGrp="1"/>
              </p:cNvSpPr>
              <p:nvPr>
                <p:ph idx="1"/>
              </p:nvPr>
            </p:nvSpPr>
            <p:spPr/>
            <p:txBody>
              <a:bodyPr/>
              <a:lstStyle/>
              <a:p>
                <a:r>
                  <a:rPr lang="en-US" altLang="zh-CN" dirty="0"/>
                  <a:t>Alternative representations of a permutation </a:t>
                </a:r>
                <a14:m>
                  <m:oMath xmlns:m="http://schemas.openxmlformats.org/officeDocument/2006/math">
                    <m:d>
                      <m:dPr>
                        <m:begChr m:val="{"/>
                        <m:endChr m:val="}"/>
                        <m:ctrlPr>
                          <a:rPr lang="en-US" altLang="zh-CN" b="0" i="0"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e>
                    </m:d>
                  </m:oMath>
                </a14:m>
                <a:r>
                  <a:rPr lang="en-US" altLang="zh-CN" dirty="0"/>
                  <a:t>:</a:t>
                </a:r>
              </a:p>
              <a:p>
                <a:pPr marL="342900" indent="-342900">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𝑗</m:t>
                        </m:r>
                        <m:r>
                          <a:rPr lang="en-US" altLang="zh-CN" b="0" i="1" smtClean="0">
                            <a:latin typeface="Cambria Math" panose="02040503050406030204" pitchFamily="18" charset="0"/>
                          </a:rPr>
                          <m:t>&lt;</m:t>
                        </m:r>
                        <m:r>
                          <a:rPr lang="en-US" altLang="zh-CN" b="0" i="1" smtClean="0">
                            <a:latin typeface="Cambria Math" panose="02040503050406030204" pitchFamily="18" charset="0"/>
                          </a:rPr>
                          <m:t>𝑖</m:t>
                        </m:r>
                      </m:sub>
                      <m:sup/>
                      <m:e>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−1</m:t>
                            </m:r>
                          </m:sup>
                        </m:sSubSup>
                      </m:e>
                    </m:nary>
                    <m:r>
                      <a:rPr lang="en-US" altLang="zh-CN" b="0" i="1" smtClean="0">
                        <a:latin typeface="Cambria Math" panose="02040503050406030204" pitchFamily="18" charset="0"/>
                      </a:rPr>
                      <m:t>&gt;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oMath>
                </a14:m>
                <a:endParaRPr lang="en-US" altLang="zh-CN" dirty="0"/>
              </a:p>
              <a:p>
                <a:endParaRPr lang="en-US" altLang="zh-CN" dirty="0"/>
              </a:p>
              <a:p>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oMath>
                </a14:m>
                <a:r>
                  <a:rPr lang="zh-CN" altLang="en-US" dirty="0"/>
                  <a:t> </a:t>
                </a:r>
                <a:r>
                  <a:rPr lang="en-US" altLang="zh-CN" dirty="0"/>
                  <a:t>is ordered if and only if:</a:t>
                </a:r>
              </a:p>
              <a:p>
                <a:pPr marL="342900" indent="-342900">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𝑖</m:t>
                    </m:r>
                  </m:oMath>
                </a14:m>
                <a:endParaRPr lang="zh-CN" altLang="en-US" dirty="0"/>
              </a:p>
            </p:txBody>
          </p:sp>
        </mc:Choice>
        <mc:Fallback>
          <p:sp>
            <p:nvSpPr>
              <p:cNvPr id="3" name="内容占位符 2">
                <a:extLst>
                  <a:ext uri="{FF2B5EF4-FFF2-40B4-BE49-F238E27FC236}">
                    <a16:creationId xmlns:a16="http://schemas.microsoft.com/office/drawing/2014/main" id="{651612EB-4B50-4229-AA58-117CC4C039DE}"/>
                  </a:ext>
                </a:extLst>
              </p:cNvPr>
              <p:cNvSpPr>
                <a:spLocks noGrp="1" noRot="1" noChangeAspect="1" noMove="1" noResize="1" noEditPoints="1" noAdjustHandles="1" noChangeArrowheads="1" noChangeShapeType="1" noTextEdit="1"/>
              </p:cNvSpPr>
              <p:nvPr>
                <p:ph idx="1"/>
              </p:nvPr>
            </p:nvSpPr>
            <p:spPr>
              <a:blipFill>
                <a:blip r:embed="rId2"/>
                <a:stretch>
                  <a:fillRect l="-928" t="-15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1547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D4F3A-458A-F0CE-90FA-E4CE02FF9239}"/>
              </a:ext>
            </a:extLst>
          </p:cNvPr>
          <p:cNvSpPr>
            <a:spLocks noGrp="1"/>
          </p:cNvSpPr>
          <p:nvPr>
            <p:ph type="title"/>
          </p:nvPr>
        </p:nvSpPr>
        <p:spPr/>
        <p:txBody>
          <a:bodyPr/>
          <a:lstStyle/>
          <a:p>
            <a:r>
              <a:rPr lang="en-US" altLang="zh-CN" dirty="0"/>
              <a:t>Equivalence/Duality of (Parallel) Bubble and Selection Sort</a:t>
            </a:r>
            <a:endParaRPr lang="zh-CN" altLang="en-US" dirty="0"/>
          </a:p>
        </p:txBody>
      </p:sp>
      <p:sp>
        <p:nvSpPr>
          <p:cNvPr id="3" name="内容占位符 2">
            <a:extLst>
              <a:ext uri="{FF2B5EF4-FFF2-40B4-BE49-F238E27FC236}">
                <a16:creationId xmlns:a16="http://schemas.microsoft.com/office/drawing/2014/main" id="{108AB16E-753F-6BEC-FAEA-2881AC787B5F}"/>
              </a:ext>
            </a:extLst>
          </p:cNvPr>
          <p:cNvSpPr>
            <a:spLocks noGrp="1"/>
          </p:cNvSpPr>
          <p:nvPr>
            <p:ph idx="1"/>
          </p:nvPr>
        </p:nvSpPr>
        <p:spPr/>
        <p:txBody>
          <a:bodyPr/>
          <a:lstStyle/>
          <a:p>
            <a:r>
              <a:rPr lang="en-US" altLang="zh-CN" dirty="0"/>
              <a:t>Bubble				Selection			Parallel</a:t>
            </a:r>
            <a:endParaRPr lang="zh-CN" altLang="en-US" dirty="0"/>
          </a:p>
        </p:txBody>
      </p:sp>
      <p:pic>
        <p:nvPicPr>
          <p:cNvPr id="1026" name="Picture 2">
            <a:extLst>
              <a:ext uri="{FF2B5EF4-FFF2-40B4-BE49-F238E27FC236}">
                <a16:creationId xmlns:a16="http://schemas.microsoft.com/office/drawing/2014/main" id="{6310EB21-521C-0BE9-73C5-8B4D3435595F}"/>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90269" y="1730456"/>
            <a:ext cx="2970691" cy="27723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58F2CFC-5F69-C871-BF7D-FB6E76EDC6D8}"/>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348637" y="1730455"/>
            <a:ext cx="2970692" cy="27723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C0A4804-14FF-996D-5266-6ABFBF9A0589}"/>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8007006" y="1730456"/>
            <a:ext cx="2970691" cy="277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481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5EE0B-8FEB-26CA-4E9E-952BF4A8DE0C}"/>
              </a:ext>
            </a:extLst>
          </p:cNvPr>
          <p:cNvSpPr>
            <a:spLocks noGrp="1"/>
          </p:cNvSpPr>
          <p:nvPr>
            <p:ph type="title"/>
          </p:nvPr>
        </p:nvSpPr>
        <p:spPr/>
        <p:txBody>
          <a:bodyPr/>
          <a:lstStyle/>
          <a:p>
            <a:r>
              <a:rPr lang="en-US" altLang="zh-CN" dirty="0"/>
              <a:t>Example. USACO 2018 Sort It Out</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43FF22E-289C-FDC2-2C19-3EA113AF6C26}"/>
                  </a:ext>
                </a:extLst>
              </p:cNvPr>
              <p:cNvSpPr>
                <a:spLocks noGrp="1"/>
              </p:cNvSpPr>
              <p:nvPr>
                <p:ph idx="1"/>
              </p:nvPr>
            </p:nvSpPr>
            <p:spPr/>
            <p:txBody>
              <a:bodyPr/>
              <a:lstStyle/>
              <a:p>
                <a:r>
                  <a:rPr lang="en-US" altLang="zh-CN" dirty="0"/>
                  <a:t>Input permutation </a:t>
                </a:r>
                <a14:m>
                  <m:oMath xmlns:m="http://schemas.openxmlformats.org/officeDocument/2006/math">
                    <m:r>
                      <a:rPr lang="en-US" altLang="zh-CN" b="0" i="1" smtClean="0">
                        <a:latin typeface="Cambria Math" panose="02040503050406030204" pitchFamily="18" charset="0"/>
                      </a:rPr>
                      <m:t>𝑝</m:t>
                    </m:r>
                  </m:oMath>
                </a14:m>
                <a:r>
                  <a:rPr lang="en-US" altLang="zh-CN" dirty="0"/>
                  <a:t>,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en-US" altLang="zh-CN" dirty="0"/>
                  <a:t>, we need to sort </a:t>
                </a:r>
                <a14:m>
                  <m:oMath xmlns:m="http://schemas.openxmlformats.org/officeDocument/2006/math">
                    <m:r>
                      <a:rPr lang="en-US" altLang="zh-CN" b="0" i="1" smtClean="0">
                        <a:latin typeface="Cambria Math" panose="02040503050406030204" pitchFamily="18" charset="0"/>
                      </a:rPr>
                      <m:t>𝑝</m:t>
                    </m:r>
                  </m:oMath>
                </a14:m>
                <a:r>
                  <a:rPr lang="en-US" altLang="zh-CN" dirty="0"/>
                  <a:t>. Let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oMath>
                </a14:m>
                <a:r>
                  <a:rPr lang="zh-CN" altLang="en-US" dirty="0"/>
                  <a:t> </a:t>
                </a:r>
                <a:r>
                  <a:rPr lang="en-US" altLang="zh-CN" dirty="0"/>
                  <a:t>be operation:</a:t>
                </a:r>
              </a:p>
              <a:p>
                <a:r>
                  <a:rPr lang="en-US" altLang="zh-CN" b="0" dirty="0"/>
                  <a:t>While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+1</m:t>
                        </m:r>
                      </m:sub>
                    </m:sSub>
                    <m:r>
                      <a:rPr lang="en-US" altLang="zh-CN" b="0" i="1" smtClean="0">
                        <a:latin typeface="Cambria Math" panose="02040503050406030204" pitchFamily="18" charset="0"/>
                      </a:rPr>
                      <m:t>&lt;</m:t>
                    </m:r>
                    <m:r>
                      <a:rPr lang="en-US" altLang="zh-CN" b="0" i="1" smtClean="0">
                        <a:latin typeface="Cambria Math" panose="02040503050406030204" pitchFamily="18" charset="0"/>
                      </a:rPr>
                      <m:t>𝑖</m:t>
                    </m:r>
                  </m:oMath>
                </a14:m>
                <a:r>
                  <a:rPr lang="en-US" altLang="zh-CN" dirty="0"/>
                  <a:t>, swap them and loop; then while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𝑖</m:t>
                            </m:r>
                          </m:sub>
                          <m:sup>
                            <m:r>
                              <a:rPr lang="en-US" altLang="zh-CN" i="1">
                                <a:latin typeface="Cambria Math" panose="02040503050406030204" pitchFamily="18" charset="0"/>
                              </a:rPr>
                              <m:t>−1</m:t>
                            </m:r>
                          </m:sup>
                        </m:sSubSup>
                        <m:r>
                          <a:rPr lang="en-US" altLang="zh-CN" b="0" i="1" smtClean="0">
                            <a:latin typeface="Cambria Math" panose="02040503050406030204" pitchFamily="18" charset="0"/>
                          </a:rPr>
                          <m:t>−</m:t>
                        </m:r>
                        <m:r>
                          <a:rPr lang="en-US" altLang="zh-CN" i="1">
                            <a:latin typeface="Cambria Math" panose="02040503050406030204" pitchFamily="18" charset="0"/>
                          </a:rPr>
                          <m:t>1</m:t>
                        </m:r>
                      </m:sub>
                    </m:sSub>
                    <m:r>
                      <a:rPr lang="en-US" altLang="zh-CN" i="1">
                        <a:latin typeface="Cambria Math" panose="02040503050406030204" pitchFamily="18" charset="0"/>
                      </a:rPr>
                      <m:t>&gt;</m:t>
                    </m:r>
                    <m:r>
                      <a:rPr lang="en-US" altLang="zh-CN" i="1">
                        <a:latin typeface="Cambria Math" panose="02040503050406030204" pitchFamily="18" charset="0"/>
                      </a:rPr>
                      <m:t>𝑖</m:t>
                    </m:r>
                  </m:oMath>
                </a14:m>
                <a:r>
                  <a:rPr lang="en-US" altLang="zh-CN" dirty="0"/>
                  <a:t>, swap them and loop.</a:t>
                </a:r>
              </a:p>
              <a:p>
                <a:endParaRPr lang="en-US" altLang="zh-CN" dirty="0"/>
              </a:p>
              <a:p>
                <a:r>
                  <a:rPr lang="en-US" altLang="zh-CN" dirty="0"/>
                  <a:t>For a subset of values </a:t>
                </a:r>
                <a14:m>
                  <m:oMath xmlns:m="http://schemas.openxmlformats.org/officeDocument/2006/math">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𝑘</m:t>
                            </m:r>
                          </m:sub>
                        </m:sSub>
                      </m:e>
                    </m:d>
                  </m:oMath>
                </a14:m>
                <a:r>
                  <a:rPr lang="en-US" altLang="zh-CN" dirty="0"/>
                  <a:t> (written in ascending order), it’s sortable if and only if </a:t>
                </a:r>
                <a14:m>
                  <m:oMath xmlns:m="http://schemas.openxmlformats.org/officeDocument/2006/math">
                    <m:r>
                      <a:rPr lang="en-US" altLang="zh-CN" b="0" i="1" smtClean="0">
                        <a:latin typeface="Cambria Math" panose="02040503050406030204" pitchFamily="18" charset="0"/>
                      </a:rPr>
                      <m:t>𝑝</m:t>
                    </m:r>
                  </m:oMath>
                </a14:m>
                <a:r>
                  <a:rPr lang="zh-CN" altLang="en-US" dirty="0"/>
                  <a:t> </a:t>
                </a:r>
                <a:r>
                  <a:rPr lang="en-US" altLang="zh-CN" dirty="0"/>
                  <a:t>can be sorted by looping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2</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𝑘</m:t>
                            </m:r>
                          </m:sub>
                        </m:sSub>
                      </m:sub>
                    </m:sSub>
                  </m:oMath>
                </a14:m>
                <a:r>
                  <a:rPr lang="zh-CN" altLang="en-US" dirty="0"/>
                  <a:t> </a:t>
                </a:r>
                <a:r>
                  <a:rPr lang="en-US" altLang="zh-CN" dirty="0"/>
                  <a:t>in order for any times.</a:t>
                </a:r>
              </a:p>
              <a:p>
                <a:endParaRPr lang="en-US" altLang="zh-CN" dirty="0"/>
              </a:p>
              <a:p>
                <a:r>
                  <a:rPr lang="en-US" altLang="zh-CN" dirty="0"/>
                  <a:t>Given </a:t>
                </a:r>
                <a14:m>
                  <m:oMath xmlns:m="http://schemas.openxmlformats.org/officeDocument/2006/math">
                    <m:r>
                      <a:rPr lang="en-US" altLang="zh-CN" b="0" i="1" smtClean="0">
                        <a:latin typeface="Cambria Math" panose="02040503050406030204" pitchFamily="18" charset="0"/>
                      </a:rPr>
                      <m:t>𝑘</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18</m:t>
                        </m:r>
                      </m:sup>
                    </m:sSup>
                  </m:oMath>
                </a14:m>
                <a:r>
                  <a:rPr lang="en-US" altLang="zh-CN" dirty="0"/>
                  <a:t>, output the </a:t>
                </a:r>
                <a14:m>
                  <m:oMath xmlns:m="http://schemas.openxmlformats.org/officeDocument/2006/math">
                    <m:r>
                      <a:rPr lang="en-US" altLang="zh-CN" b="0" i="1" smtClean="0">
                        <a:latin typeface="Cambria Math" panose="02040503050406030204" pitchFamily="18" charset="0"/>
                      </a:rPr>
                      <m:t>𝑘</m:t>
                    </m:r>
                  </m:oMath>
                </a14:m>
                <a:r>
                  <a:rPr lang="en-US" altLang="zh-CN" dirty="0"/>
                  <a:t>-</a:t>
                </a:r>
                <a:r>
                  <a:rPr lang="en-US" altLang="zh-CN" dirty="0" err="1"/>
                  <a:t>th</a:t>
                </a:r>
                <a:r>
                  <a:rPr lang="en-US" altLang="zh-CN" dirty="0"/>
                  <a:t> lexicographically smallest among the sortable sets </a:t>
                </a:r>
                <a:r>
                  <a:rPr lang="en-US" altLang="zh-CN" b="1" dirty="0"/>
                  <a:t>with minimal size</a:t>
                </a:r>
                <a:r>
                  <a:rPr lang="en-US" altLang="zh-CN" dirty="0"/>
                  <a:t>.</a:t>
                </a:r>
                <a:endParaRPr lang="zh-CN" altLang="en-US" dirty="0"/>
              </a:p>
            </p:txBody>
          </p:sp>
        </mc:Choice>
        <mc:Fallback>
          <p:sp>
            <p:nvSpPr>
              <p:cNvPr id="3" name="内容占位符 2">
                <a:extLst>
                  <a:ext uri="{FF2B5EF4-FFF2-40B4-BE49-F238E27FC236}">
                    <a16:creationId xmlns:a16="http://schemas.microsoft.com/office/drawing/2014/main" id="{043FF22E-289C-FDC2-2C19-3EA113AF6C26}"/>
                  </a:ext>
                </a:extLst>
              </p:cNvPr>
              <p:cNvSpPr>
                <a:spLocks noGrp="1" noRot="1" noChangeAspect="1" noMove="1" noResize="1" noEditPoints="1" noAdjustHandles="1" noChangeArrowheads="1" noChangeShapeType="1" noTextEdit="1"/>
              </p:cNvSpPr>
              <p:nvPr>
                <p:ph idx="1"/>
              </p:nvPr>
            </p:nvSpPr>
            <p:spPr>
              <a:blipFill>
                <a:blip r:embed="rId2"/>
                <a:stretch>
                  <a:fillRect l="-928" t="-1412" r="-15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99070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0839F9-3E14-8B05-4F60-F3879F35CBA9}"/>
              </a:ext>
            </a:extLst>
          </p:cNvPr>
          <p:cNvSpPr>
            <a:spLocks noGrp="1"/>
          </p:cNvSpPr>
          <p:nvPr>
            <p:ph type="title"/>
          </p:nvPr>
        </p:nvSpPr>
        <p:spPr/>
        <p:txBody>
          <a:bodyPr/>
          <a:lstStyle/>
          <a:p>
            <a:r>
              <a:rPr lang="en-US" altLang="zh-CN" dirty="0" err="1"/>
              <a:t>Codeforces</a:t>
            </a:r>
            <a:r>
              <a:rPr lang="en-US" altLang="zh-CN" dirty="0"/>
              <a:t> 1552G A Serious Referee</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D334674-E92C-C5F6-12D3-DE9998EC2F66}"/>
                  </a:ext>
                </a:extLst>
              </p:cNvPr>
              <p:cNvSpPr>
                <a:spLocks noGrp="1"/>
              </p:cNvSpPr>
              <p:nvPr>
                <p:ph idx="1"/>
              </p:nvPr>
            </p:nvSpPr>
            <p:spPr/>
            <p:txBody>
              <a:bodyPr>
                <a:normAutofit/>
              </a:bodyPr>
              <a:lstStyle/>
              <a:p>
                <a:r>
                  <a:rPr lang="en-US" altLang="zh-CN" dirty="0"/>
                  <a:t>Input a sorting process, it inputs a sequence of length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≤40</m:t>
                    </m:r>
                  </m:oMath>
                </a14:m>
                <a:r>
                  <a:rPr lang="en-US" altLang="zh-CN" dirty="0"/>
                  <a:t>, and applies </a:t>
                </a:r>
                <a14:m>
                  <m:oMath xmlns:m="http://schemas.openxmlformats.org/officeDocument/2006/math">
                    <m:r>
                      <a:rPr lang="en-US" altLang="zh-CN" b="0" i="1" smtClean="0">
                        <a:latin typeface="Cambria Math" panose="02040503050406030204" pitchFamily="18" charset="0"/>
                      </a:rPr>
                      <m:t>𝑘</m:t>
                    </m:r>
                    <m:r>
                      <a:rPr lang="en-US" altLang="zh-CN" b="0" i="1" smtClean="0">
                        <a:latin typeface="Cambria Math" panose="02040503050406030204" pitchFamily="18" charset="0"/>
                      </a:rPr>
                      <m:t>≤10</m:t>
                    </m:r>
                  </m:oMath>
                </a14:m>
                <a:r>
                  <a:rPr lang="zh-CN" altLang="en-US" dirty="0"/>
                  <a:t> </a:t>
                </a:r>
                <a:r>
                  <a:rPr lang="en-US" altLang="zh-CN" dirty="0"/>
                  <a:t>operations, each operation </a:t>
                </a:r>
                <a14:m>
                  <m:oMath xmlns:m="http://schemas.openxmlformats.org/officeDocument/2006/math">
                    <m:r>
                      <a:rPr lang="en-US" altLang="zh-CN" b="0" i="1" smtClean="0">
                        <a:latin typeface="Cambria Math" panose="02040503050406030204" pitchFamily="18" charset="0"/>
                      </a:rPr>
                      <m:t>𝑖</m:t>
                    </m:r>
                  </m:oMath>
                </a14:m>
                <a:r>
                  <a:rPr lang="en-US" altLang="zh-CN" dirty="0"/>
                  <a:t> is of form “sorting a subsequence of indices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𝑗</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𝑗</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𝑗</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𝑖</m:t>
                            </m:r>
                          </m:sub>
                        </m:sSub>
                      </m:sub>
                    </m:sSub>
                  </m:oMath>
                </a14:m>
                <a:r>
                  <a:rPr lang="en-US" altLang="zh-CN" dirty="0"/>
                  <a:t> and keeping the elements currently on other indices”.</a:t>
                </a:r>
              </a:p>
              <a:p>
                <a:r>
                  <a:rPr lang="en-US" altLang="zh-CN" dirty="0"/>
                  <a:t>Output whether the process sorts all possible sequences of length </a:t>
                </a:r>
                <a14:m>
                  <m:oMath xmlns:m="http://schemas.openxmlformats.org/officeDocument/2006/math">
                    <m:r>
                      <a:rPr lang="en-US" altLang="zh-CN" b="0" i="1" smtClean="0">
                        <a:latin typeface="Cambria Math" panose="02040503050406030204" pitchFamily="18" charset="0"/>
                      </a:rPr>
                      <m:t>𝑛</m:t>
                    </m:r>
                  </m:oMath>
                </a14:m>
                <a:r>
                  <a:rPr lang="en-US" altLang="zh-CN" dirty="0"/>
                  <a:t>.</a:t>
                </a:r>
                <a:endParaRPr lang="zh-CN" altLang="en-US" dirty="0"/>
              </a:p>
            </p:txBody>
          </p:sp>
        </mc:Choice>
        <mc:Fallback>
          <p:sp>
            <p:nvSpPr>
              <p:cNvPr id="3" name="内容占位符 2">
                <a:extLst>
                  <a:ext uri="{FF2B5EF4-FFF2-40B4-BE49-F238E27FC236}">
                    <a16:creationId xmlns:a16="http://schemas.microsoft.com/office/drawing/2014/main" id="{0D334674-E92C-C5F6-12D3-DE9998EC2F66}"/>
                  </a:ext>
                </a:extLst>
              </p:cNvPr>
              <p:cNvSpPr>
                <a:spLocks noGrp="1" noRot="1" noChangeAspect="1" noMove="1" noResize="1" noEditPoints="1" noAdjustHandles="1" noChangeArrowheads="1" noChangeShapeType="1" noTextEdit="1"/>
              </p:cNvSpPr>
              <p:nvPr>
                <p:ph idx="1"/>
              </p:nvPr>
            </p:nvSpPr>
            <p:spPr>
              <a:blipFill>
                <a:blip r:embed="rId2"/>
                <a:stretch>
                  <a:fillRect l="-928" t="-15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915672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EDCFC-2461-3235-96FE-42A001F4A623}"/>
              </a:ext>
            </a:extLst>
          </p:cNvPr>
          <p:cNvSpPr>
            <a:spLocks noGrp="1"/>
          </p:cNvSpPr>
          <p:nvPr>
            <p:ph type="title"/>
          </p:nvPr>
        </p:nvSpPr>
        <p:spPr/>
        <p:txBody>
          <a:bodyPr/>
          <a:lstStyle/>
          <a:p>
            <a:r>
              <a:rPr lang="en-US" altLang="zh-CN" dirty="0"/>
              <a:t>AGC 057E </a:t>
            </a:r>
            <a:r>
              <a:rPr lang="en-US" altLang="zh-CN" dirty="0" err="1"/>
              <a:t>RowCol</a:t>
            </a:r>
            <a:r>
              <a:rPr lang="en-US" altLang="zh-CN" dirty="0"/>
              <a:t>/</a:t>
            </a:r>
            <a:r>
              <a:rPr lang="en-US" altLang="zh-CN" dirty="0" err="1"/>
              <a:t>ColRow</a:t>
            </a:r>
            <a:r>
              <a:rPr lang="en-US" altLang="zh-CN" dirty="0"/>
              <a:t> Sort</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11B1418-5F77-3A5D-91EF-90552228D05F}"/>
                  </a:ext>
                </a:extLst>
              </p:cNvPr>
              <p:cNvSpPr>
                <a:spLocks noGrp="1"/>
              </p:cNvSpPr>
              <p:nvPr>
                <p:ph idx="1"/>
              </p:nvPr>
            </p:nvSpPr>
            <p:spPr/>
            <p:txBody>
              <a:bodyPr/>
              <a:lstStyle/>
              <a:p>
                <a:r>
                  <a:rPr lang="en-US" altLang="zh-CN" dirty="0"/>
                  <a:t>Input an integer matrix </a:t>
                </a:r>
                <a14:m>
                  <m:oMath xmlns:m="http://schemas.openxmlformats.org/officeDocument/2006/math">
                    <m:r>
                      <a:rPr lang="en-US" altLang="zh-CN" b="0" i="1" smtClean="0">
                        <a:latin typeface="Cambria Math" panose="02040503050406030204" pitchFamily="18" charset="0"/>
                      </a:rPr>
                      <m:t>𝐵</m:t>
                    </m:r>
                  </m:oMath>
                </a14:m>
                <a:r>
                  <a:rPr lang="zh-CN" altLang="en-US" dirty="0"/>
                  <a:t> </a:t>
                </a:r>
                <a:r>
                  <a:rPr lang="en-US" altLang="zh-CN" dirty="0"/>
                  <a:t>of size </a:t>
                </a:r>
                <a14:m>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r>
                      <a:rPr lang="en-US" altLang="zh-CN" b="0" i="1" smtClean="0">
                        <a:latin typeface="Cambria Math" panose="02040503050406030204" pitchFamily="18" charset="0"/>
                      </a:rPr>
                      <m:t>𝑊</m:t>
                    </m:r>
                  </m:oMath>
                </a14:m>
                <a:r>
                  <a:rPr lang="en-US" altLang="zh-CN" dirty="0"/>
                  <a:t>, count the number of possible integer matrix </a:t>
                </a:r>
                <a14:m>
                  <m:oMath xmlns:m="http://schemas.openxmlformats.org/officeDocument/2006/math">
                    <m:r>
                      <a:rPr lang="en-US" altLang="zh-CN" b="0" i="1" smtClean="0">
                        <a:latin typeface="Cambria Math" panose="02040503050406030204" pitchFamily="18" charset="0"/>
                      </a:rPr>
                      <m:t>𝐴</m:t>
                    </m:r>
                  </m:oMath>
                </a14:m>
                <a:r>
                  <a:rPr lang="en-US" altLang="zh-CN" dirty="0"/>
                  <a:t> such that:</a:t>
                </a:r>
              </a:p>
              <a:p>
                <a:pPr marL="342900" indent="-342900">
                  <a:buFont typeface="Arial" panose="020B0604020202020204" pitchFamily="34" charset="0"/>
                  <a:buChar char="•"/>
                </a:pPr>
                <a14:m>
                  <m:oMath xmlns:m="http://schemas.openxmlformats.org/officeDocument/2006/math">
                    <m:r>
                      <m:rPr>
                        <m:sty m:val="p"/>
                      </m:rPr>
                      <a:rPr lang="en-US" altLang="zh-CN" b="0" i="1" smtClean="0">
                        <a:latin typeface="Cambria Math" panose="02040503050406030204" pitchFamily="18" charset="0"/>
                      </a:rPr>
                      <m:t>Rowsort</m:t>
                    </m:r>
                    <m:d>
                      <m:dPr>
                        <m:ctrlPr>
                          <a:rPr lang="en-US" altLang="zh-CN" b="0" i="1" smtClean="0">
                            <a:latin typeface="Cambria Math" panose="02040503050406030204" pitchFamily="18" charset="0"/>
                          </a:rPr>
                        </m:ctrlPr>
                      </m:dPr>
                      <m:e>
                        <m:r>
                          <m:rPr>
                            <m:sty m:val="p"/>
                          </m:rPr>
                          <a:rPr lang="en-US" altLang="zh-CN" b="0" i="1" smtClean="0">
                            <a:latin typeface="Cambria Math" panose="02040503050406030204" pitchFamily="18" charset="0"/>
                          </a:rPr>
                          <m:t>Colsort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e>
                    </m:d>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Colsort</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Rowsort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𝐵</m:t>
                    </m:r>
                  </m:oMath>
                </a14:m>
                <a:endParaRPr lang="en-US" altLang="zh-CN" dirty="0"/>
              </a:p>
              <a:p>
                <a:endParaRPr lang="en-US" altLang="zh-CN" dirty="0"/>
              </a:p>
              <a:p>
                <a:r>
                  <a:rPr lang="en-US" altLang="zh-CN" dirty="0"/>
                  <a:t>Where </a:t>
                </a:r>
                <a14:m>
                  <m:oMath xmlns:m="http://schemas.openxmlformats.org/officeDocument/2006/math">
                    <m:r>
                      <m:rPr>
                        <m:sty m:val="p"/>
                      </m:rPr>
                      <a:rPr lang="en-US" altLang="zh-CN" b="0" i="1" smtClean="0">
                        <a:latin typeface="Cambria Math" panose="02040503050406030204" pitchFamily="18" charset="0"/>
                      </a:rPr>
                      <m:t>Colsort</m:t>
                    </m:r>
                  </m:oMath>
                </a14:m>
                <a:r>
                  <a:rPr lang="en-US" altLang="zh-CN" dirty="0"/>
                  <a:t> means sorting each column respectively and </a:t>
                </a:r>
                <a14:m>
                  <m:oMath xmlns:m="http://schemas.openxmlformats.org/officeDocument/2006/math">
                    <m:r>
                      <m:rPr>
                        <m:sty m:val="p"/>
                      </m:rPr>
                      <a:rPr lang="en-US" altLang="zh-CN" b="0" i="1" smtClean="0">
                        <a:latin typeface="Cambria Math" panose="02040503050406030204" pitchFamily="18" charset="0"/>
                      </a:rPr>
                      <m:t>Rowsort</m:t>
                    </m:r>
                  </m:oMath>
                </a14:m>
                <a:r>
                  <a:rPr lang="en-US" altLang="zh-CN" dirty="0"/>
                  <a:t> means sorting each row respectively.</a:t>
                </a:r>
              </a:p>
              <a:p>
                <a:endParaRPr lang="en-US" altLang="zh-CN" dirty="0"/>
              </a:p>
              <a:p>
                <a14:m>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r>
                      <a:rPr lang="en-US" altLang="zh-CN" b="0" i="1" smtClean="0">
                        <a:latin typeface="Cambria Math" panose="02040503050406030204" pitchFamily="18" charset="0"/>
                      </a:rPr>
                      <m:t>𝑊</m:t>
                    </m:r>
                    <m:r>
                      <a:rPr lang="en-US" altLang="zh-CN" b="0" i="1" smtClean="0">
                        <a:latin typeface="Cambria Math" panose="02040503050406030204" pitchFamily="18" charset="0"/>
                      </a:rPr>
                      <m:t>≤1500, 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≤9</m:t>
                    </m:r>
                  </m:oMath>
                </a14:m>
                <a:r>
                  <a:rPr lang="en-US" altLang="zh-CN" dirty="0"/>
                  <a:t>.</a:t>
                </a:r>
                <a:endParaRPr lang="zh-CN" altLang="en-US" dirty="0"/>
              </a:p>
            </p:txBody>
          </p:sp>
        </mc:Choice>
        <mc:Fallback>
          <p:sp>
            <p:nvSpPr>
              <p:cNvPr id="3" name="内容占位符 2">
                <a:extLst>
                  <a:ext uri="{FF2B5EF4-FFF2-40B4-BE49-F238E27FC236}">
                    <a16:creationId xmlns:a16="http://schemas.microsoft.com/office/drawing/2014/main" id="{811B1418-5F77-3A5D-91EF-90552228D05F}"/>
                  </a:ext>
                </a:extLst>
              </p:cNvPr>
              <p:cNvSpPr>
                <a:spLocks noGrp="1" noRot="1" noChangeAspect="1" noMove="1" noResize="1" noEditPoints="1" noAdjustHandles="1" noChangeArrowheads="1" noChangeShapeType="1" noTextEdit="1"/>
              </p:cNvSpPr>
              <p:nvPr>
                <p:ph idx="1"/>
              </p:nvPr>
            </p:nvSpPr>
            <p:spPr>
              <a:blipFill>
                <a:blip r:embed="rId2"/>
                <a:stretch>
                  <a:fillRect l="-928" t="-1520" r="-8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028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2A3FAF-CE96-09D4-C613-D46DBBA9EF62}"/>
              </a:ext>
            </a:extLst>
          </p:cNvPr>
          <p:cNvSpPr>
            <a:spLocks noGrp="1"/>
          </p:cNvSpPr>
          <p:nvPr>
            <p:ph type="title"/>
          </p:nvPr>
        </p:nvSpPr>
        <p:spPr/>
        <p:txBody>
          <a:bodyPr/>
          <a:lstStyle/>
          <a:p>
            <a:r>
              <a:rPr lang="en-US" altLang="zh-CN" dirty="0" err="1"/>
              <a:t>Codeforces</a:t>
            </a:r>
            <a:r>
              <a:rPr lang="en-US" altLang="zh-CN" dirty="0"/>
              <a:t> 1427G One Billion Shades of Grey</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CCD8EC8-94F2-F9B4-D7D7-9B8D21987528}"/>
                  </a:ext>
                </a:extLst>
              </p:cNvPr>
              <p:cNvSpPr>
                <a:spLocks noGrp="1"/>
              </p:cNvSpPr>
              <p:nvPr>
                <p:ph idx="1"/>
              </p:nvPr>
            </p:nvSpPr>
            <p:spPr/>
            <p:txBody>
              <a:bodyPr/>
              <a:lstStyle/>
              <a:p>
                <a:r>
                  <a:rPr lang="en-US" altLang="zh-CN" dirty="0"/>
                  <a:t>Input a square matrix of size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 (3≤</m:t>
                    </m:r>
                    <m:r>
                      <a:rPr lang="en-US" altLang="zh-CN" b="0" i="1" smtClean="0">
                        <a:latin typeface="Cambria Math" panose="02040503050406030204" pitchFamily="18" charset="0"/>
                      </a:rPr>
                      <m:t>𝑛</m:t>
                    </m:r>
                    <m:r>
                      <a:rPr lang="en-US" altLang="zh-CN" b="0" i="1" smtClean="0">
                        <a:latin typeface="Cambria Math" panose="02040503050406030204" pitchFamily="18" charset="0"/>
                      </a:rPr>
                      <m:t>≤200)</m:t>
                    </m:r>
                  </m:oMath>
                </a14:m>
                <a:r>
                  <a:rPr lang="en-US" altLang="zh-CN" dirty="0"/>
                  <a:t>, some elements are broken, some elements has a fixed weight, and others are to be assigned a weight. Weight must be an integer in </a:t>
                </a:r>
                <a14:m>
                  <m:oMath xmlns:m="http://schemas.openxmlformats.org/officeDocument/2006/math">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1, 10</m:t>
                            </m:r>
                          </m:e>
                          <m:sup>
                            <m:r>
                              <a:rPr lang="en-US" altLang="zh-CN" b="0" i="1" smtClean="0">
                                <a:latin typeface="Cambria Math" panose="02040503050406030204" pitchFamily="18" charset="0"/>
                              </a:rPr>
                              <m:t>9</m:t>
                            </m:r>
                          </m:sup>
                        </m:sSup>
                      </m:e>
                    </m:d>
                  </m:oMath>
                </a14:m>
                <a:r>
                  <a:rPr lang="en-US" altLang="zh-CN" dirty="0"/>
                  <a:t>. Every adjacent pair of unbroken elements has a cost of the absolute value of the difference between their weights. You need to assign the weights to minimize the sum of all costs.</a:t>
                </a:r>
              </a:p>
              <a:p>
                <a:r>
                  <a:rPr lang="en-US" altLang="zh-CN" dirty="0"/>
                  <a:t>Output the minimum cost.</a:t>
                </a:r>
                <a:endParaRPr lang="zh-CN" altLang="en-US" dirty="0"/>
              </a:p>
            </p:txBody>
          </p:sp>
        </mc:Choice>
        <mc:Fallback>
          <p:sp>
            <p:nvSpPr>
              <p:cNvPr id="3" name="内容占位符 2">
                <a:extLst>
                  <a:ext uri="{FF2B5EF4-FFF2-40B4-BE49-F238E27FC236}">
                    <a16:creationId xmlns:a16="http://schemas.microsoft.com/office/drawing/2014/main" id="{FCCD8EC8-94F2-F9B4-D7D7-9B8D21987528}"/>
                  </a:ext>
                </a:extLst>
              </p:cNvPr>
              <p:cNvSpPr>
                <a:spLocks noGrp="1" noRot="1" noChangeAspect="1" noMove="1" noResize="1" noEditPoints="1" noAdjustHandles="1" noChangeArrowheads="1" noChangeShapeType="1" noTextEdit="1"/>
              </p:cNvSpPr>
              <p:nvPr>
                <p:ph idx="1"/>
              </p:nvPr>
            </p:nvSpPr>
            <p:spPr>
              <a:blipFill>
                <a:blip r:embed="rId2"/>
                <a:stretch>
                  <a:fillRect l="-928" t="-1520" r="-7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8303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F1ECED-3134-4809-B136-D1AAEA7CAC32}"/>
              </a:ext>
            </a:extLst>
          </p:cNvPr>
          <p:cNvSpPr>
            <a:spLocks noGrp="1"/>
          </p:cNvSpPr>
          <p:nvPr>
            <p:ph type="ctrTitle"/>
          </p:nvPr>
        </p:nvSpPr>
        <p:spPr>
          <a:xfrm>
            <a:off x="1524000" y="2776538"/>
            <a:ext cx="9144000" cy="1381188"/>
          </a:xfrm>
        </p:spPr>
        <p:txBody>
          <a:bodyPr anchor="ctr">
            <a:normAutofit/>
          </a:bodyPr>
          <a:lstStyle/>
          <a:p>
            <a:r>
              <a:rPr lang="en-US" altLang="zh-CN" sz="4000" dirty="0">
                <a:solidFill>
                  <a:srgbClr val="DCFFFF"/>
                </a:solidFill>
                <a:effectLst>
                  <a:glow rad="63500">
                    <a:schemeClr val="accent5">
                      <a:satMod val="175000"/>
                      <a:alpha val="40000"/>
                    </a:schemeClr>
                  </a:glow>
                </a:effectLst>
              </a:rPr>
              <a:t>Q&amp;A</a:t>
            </a:r>
            <a:br>
              <a:rPr lang="en-US" altLang="zh-CN" sz="4000" dirty="0">
                <a:solidFill>
                  <a:srgbClr val="DCFFFF"/>
                </a:solidFill>
                <a:effectLst>
                  <a:glow rad="63500">
                    <a:schemeClr val="accent5">
                      <a:satMod val="175000"/>
                      <a:alpha val="40000"/>
                    </a:schemeClr>
                  </a:glow>
                </a:effectLst>
              </a:rPr>
            </a:br>
            <a:r>
              <a:rPr lang="en-US" altLang="zh-CN" sz="2800" dirty="0">
                <a:solidFill>
                  <a:srgbClr val="DCFFFF"/>
                </a:solidFill>
                <a:effectLst>
                  <a:glow rad="63500">
                    <a:schemeClr val="accent5">
                      <a:satMod val="175000"/>
                      <a:alpha val="40000"/>
                    </a:schemeClr>
                  </a:glow>
                </a:effectLst>
              </a:rPr>
              <a:t>GL&amp;HF</a:t>
            </a:r>
            <a:endParaRPr lang="zh-CN" altLang="en-US" sz="2800" dirty="0">
              <a:solidFill>
                <a:srgbClr val="DCFFFF"/>
              </a:solidFill>
              <a:effectLst>
                <a:glow rad="63500">
                  <a:schemeClr val="accent5">
                    <a:satMod val="175000"/>
                    <a:alpha val="40000"/>
                  </a:schemeClr>
                </a:glow>
              </a:effectLst>
            </a:endParaRPr>
          </a:p>
        </p:txBody>
      </p:sp>
      <p:sp>
        <p:nvSpPr>
          <p:cNvPr id="3" name="副标题 2">
            <a:extLst>
              <a:ext uri="{FF2B5EF4-FFF2-40B4-BE49-F238E27FC236}">
                <a16:creationId xmlns:a16="http://schemas.microsoft.com/office/drawing/2014/main" id="{FE712A42-070A-4A3D-BD56-F4F54C8B467F}"/>
              </a:ext>
            </a:extLst>
          </p:cNvPr>
          <p:cNvSpPr>
            <a:spLocks noGrp="1"/>
          </p:cNvSpPr>
          <p:nvPr>
            <p:ph type="subTitle" idx="1"/>
          </p:nvPr>
        </p:nvSpPr>
        <p:spPr>
          <a:xfrm>
            <a:off x="1524000" y="4157726"/>
            <a:ext cx="9144000" cy="762000"/>
          </a:xfrm>
        </p:spPr>
        <p:txBody>
          <a:bodyPr>
            <a:normAutofit/>
          </a:bodyPr>
          <a:lstStyle/>
          <a:p>
            <a:r>
              <a:rPr kumimoji="0" lang="en-US" altLang="zh-CN" sz="1800" b="0" i="1" u="none" strike="noStrike" kern="1200" cap="none" spc="0" normalizeH="0" baseline="0" noProof="0" dirty="0">
                <a:ln>
                  <a:noFill/>
                </a:ln>
                <a:solidFill>
                  <a:srgbClr val="DEEBF7"/>
                </a:solidFill>
                <a:effectLst/>
                <a:uLnTx/>
                <a:uFillTx/>
                <a:latin typeface="Monotype Corsiva" panose="03010101010201010101" pitchFamily="66" charset="0"/>
                <a:ea typeface="黑体"/>
                <a:cs typeface="+mn-cs"/>
              </a:rPr>
              <a:t>CommonAnts (Liu Cheng-</a:t>
            </a:r>
            <a:r>
              <a:rPr kumimoji="0" lang="en-US" altLang="zh-CN" sz="1800" b="0" i="1" u="none" strike="noStrike" kern="1200" cap="none" spc="0" normalizeH="0" baseline="0" noProof="0" dirty="0" err="1">
                <a:ln>
                  <a:noFill/>
                </a:ln>
                <a:solidFill>
                  <a:srgbClr val="DEEBF7"/>
                </a:solidFill>
                <a:effectLst/>
                <a:uLnTx/>
                <a:uFillTx/>
                <a:latin typeface="Monotype Corsiva" panose="03010101010201010101" pitchFamily="66" charset="0"/>
                <a:ea typeface="黑体"/>
                <a:cs typeface="+mn-cs"/>
              </a:rPr>
              <a:t>ao</a:t>
            </a:r>
            <a:r>
              <a:rPr kumimoji="0" lang="en-US" altLang="zh-CN" sz="1800" b="0" i="1" u="none" strike="noStrike" kern="1200" cap="none" spc="0" normalizeH="0" baseline="0" noProof="0" dirty="0">
                <a:ln>
                  <a:noFill/>
                </a:ln>
                <a:solidFill>
                  <a:srgbClr val="DEEBF7"/>
                </a:solidFill>
                <a:effectLst/>
                <a:uLnTx/>
                <a:uFillTx/>
                <a:latin typeface="Monotype Corsiva" panose="03010101010201010101" pitchFamily="66" charset="0"/>
                <a:ea typeface="黑体"/>
                <a:cs typeface="+mn-cs"/>
              </a:rPr>
              <a:t>)</a:t>
            </a:r>
          </a:p>
          <a:p>
            <a:r>
              <a:rPr lang="en-US" altLang="zh-CN" sz="1800" i="1" dirty="0">
                <a:solidFill>
                  <a:srgbClr val="DEEBF7"/>
                </a:solidFill>
                <a:latin typeface="Monotype Corsiva" panose="03010101010201010101" pitchFamily="66" charset="0"/>
                <a:ea typeface="黑体"/>
              </a:rPr>
              <a:t>2022.7</a:t>
            </a:r>
            <a:endParaRPr lang="zh-CN" altLang="en-US" sz="2800" dirty="0">
              <a:solidFill>
                <a:srgbClr val="DEEBF7"/>
              </a:solidFill>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74886874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2EFD9"/>
      </a:hlink>
      <a:folHlink>
        <a:srgbClr val="A8D08D"/>
      </a:folHlink>
    </a:clrScheme>
    <a:fontScheme name="黑体_TimesNewRoman">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3">
          <a:schemeClr val="accent5"/>
        </a:lnRef>
        <a:fillRef idx="0">
          <a:schemeClr val="accent5"/>
        </a:fillRef>
        <a:effectRef idx="2">
          <a:schemeClr val="accent5"/>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4921</TotalTime>
  <Words>2758</Words>
  <Application>Microsoft Office PowerPoint</Application>
  <PresentationFormat>宽屏</PresentationFormat>
  <Paragraphs>236</Paragraphs>
  <Slides>28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等线</vt:lpstr>
      <vt:lpstr>FangSong</vt:lpstr>
      <vt:lpstr>Arial</vt:lpstr>
      <vt:lpstr>Cambria Math</vt:lpstr>
      <vt:lpstr>Consolas</vt:lpstr>
      <vt:lpstr>Monotype Corsiva</vt:lpstr>
      <vt:lpstr>Times New Roman</vt:lpstr>
      <vt:lpstr>Office 主题​​</vt:lpstr>
      <vt:lpstr>Sorting and Sequence A Set of Combinatorial Problems</vt:lpstr>
      <vt:lpstr>Index. Total</vt:lpstr>
      <vt:lpstr>Model</vt:lpstr>
      <vt:lpstr>Views (OI specialized)</vt:lpstr>
      <vt:lpstr>View of Combinatorial Algorithm Structure (OI specialized)</vt:lpstr>
      <vt:lpstr>Sorting: In View of Basic Operations</vt:lpstr>
      <vt:lpstr>Sorting: In View of Algorithm Structure</vt:lpstr>
      <vt:lpstr>Basic sorting algorithms</vt:lpstr>
      <vt:lpstr>Model</vt:lpstr>
      <vt:lpstr>Model</vt:lpstr>
      <vt:lpstr>An Appendix &amp; Example</vt:lpstr>
      <vt:lpstr>Index. Structure Based on Orders</vt:lpstr>
      <vt:lpstr>Sorting Network</vt:lpstr>
      <vt:lpstr>Sorting Network: An Example</vt:lpstr>
      <vt:lpstr>Determining Sorting Networks</vt:lpstr>
      <vt:lpstr>0-1 Principle</vt:lpstr>
      <vt:lpstr>Example. Analysis of Odd-Even Merge Sort</vt:lpstr>
      <vt:lpstr>Example. USACO 2018 Out of Sorts (S)</vt:lpstr>
      <vt:lpstr>Example. USACO 2018 Out of Sorts (G)</vt:lpstr>
      <vt:lpstr>Example. USACO 2018 Out of Sorts (P)</vt:lpstr>
      <vt:lpstr>Analysis View</vt:lpstr>
      <vt:lpstr>The Alternative Representations</vt:lpstr>
      <vt:lpstr>Equivalence/Duality of (Parallel) Bubble and Selection Sort</vt:lpstr>
      <vt:lpstr>Example. USACO 2018 Sort It Out</vt:lpstr>
      <vt:lpstr>Codeforces 1552G A Serious Referee</vt:lpstr>
      <vt:lpstr>AGC 057E RowCol/ColRow Sort</vt:lpstr>
      <vt:lpstr>Codeforces 1427G One Billion Shades of Grey</vt:lpstr>
      <vt:lpstr>Q&amp;A GL&amp;HF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刘承奥</dc:creator>
  <cp:lastModifiedBy>刘 承奥</cp:lastModifiedBy>
  <cp:revision>1606</cp:revision>
  <dcterms:created xsi:type="dcterms:W3CDTF">2017-12-08T05:17:25Z</dcterms:created>
  <dcterms:modified xsi:type="dcterms:W3CDTF">2022-07-04T17:40:48Z</dcterms:modified>
</cp:coreProperties>
</file>