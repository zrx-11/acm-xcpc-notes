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73" r:id="rId6"/>
    <p:sldId id="264" r:id="rId7"/>
    <p:sldId id="275" r:id="rId8"/>
    <p:sldId id="277" r:id="rId9"/>
    <p:sldId id="279" r:id="rId10"/>
    <p:sldId id="281" r:id="rId11"/>
    <p:sldId id="266" r:id="rId12"/>
    <p:sldId id="283" r:id="rId13"/>
    <p:sldId id="267" r:id="rId14"/>
    <p:sldId id="270" r:id="rId15"/>
    <p:sldId id="262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14" autoAdjust="0"/>
  </p:normalViewPr>
  <p:slideViewPr>
    <p:cSldViewPr snapToGrid="0">
      <p:cViewPr varScale="1">
        <p:scale>
          <a:sx n="87" d="100"/>
          <a:sy n="87" d="100"/>
        </p:scale>
        <p:origin x="62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7F7916-DB6F-4BEA-9825-717764B31914}" type="datetimeFigureOut">
              <a:rPr lang="zh-CN" altLang="en-US" smtClean="0"/>
              <a:t>2019/7/6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C53C32-A979-4E0C-B9DE-4F893F2D63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542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CF #571 Div2. 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3C32-A979-4E0C-B9DE-4F893F2D63D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212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CF #571 Div2. B</a:t>
            </a:r>
            <a:endParaRPr lang="zh-CN" altLang="en-US" dirty="0"/>
          </a:p>
          <a:p>
            <a:endParaRPr lang="en-US" altLang="zh-CN" sz="1200" dirty="0"/>
          </a:p>
          <a:p>
            <a:r>
              <a:rPr lang="en-US" altLang="zh-CN" sz="1200" dirty="0"/>
              <a:t>6 6</a:t>
            </a:r>
          </a:p>
          <a:p>
            <a:r>
              <a:rPr lang="en-US" altLang="zh-CN" sz="1200" dirty="0"/>
              <a:t>1 . 2 . 3 3</a:t>
            </a:r>
          </a:p>
          <a:p>
            <a:r>
              <a:rPr lang="en-US" altLang="zh-CN" sz="1200" dirty="0"/>
              <a:t>1 . 2 . . .</a:t>
            </a:r>
          </a:p>
          <a:p>
            <a:r>
              <a:rPr lang="en-US" altLang="zh-CN" sz="1200" dirty="0"/>
              <a:t>. . . . 4 4</a:t>
            </a:r>
          </a:p>
          <a:p>
            <a:r>
              <a:rPr lang="en-US" altLang="zh-CN" sz="1200" dirty="0"/>
              <a:t>5 5 . . . .</a:t>
            </a:r>
          </a:p>
          <a:p>
            <a:r>
              <a:rPr lang="en-US" altLang="zh-CN" sz="1200" dirty="0"/>
              <a:t>. . . 6 . 7</a:t>
            </a:r>
          </a:p>
          <a:p>
            <a:r>
              <a:rPr lang="en-US" altLang="zh-CN" sz="1200" dirty="0"/>
              <a:t>8 8 . 6 . 7</a:t>
            </a:r>
            <a:endParaRPr lang="zh-CN" altLang="en-US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3C32-A979-4E0C-B9DE-4F893F2D63D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331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CF #E66 Div2. D</a:t>
            </a:r>
          </a:p>
          <a:p>
            <a:endParaRPr lang="en-US" altLang="zh-CN" dirty="0"/>
          </a:p>
          <a:p>
            <a:r>
              <a:rPr lang="en-US" altLang="zh-CN" dirty="0"/>
              <a:t>5 2</a:t>
            </a:r>
          </a:p>
          <a:p>
            <a:r>
              <a:rPr lang="en-US" altLang="zh-CN" dirty="0"/>
              <a:t>-1 -2 / 5 -4 8</a:t>
            </a:r>
          </a:p>
          <a:p>
            <a:r>
              <a:rPr lang="en-US" altLang="zh-CN" dirty="0"/>
              <a:t>15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3C32-A979-4E0C-B9DE-4F893F2D63D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248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微软编程之美 </a:t>
            </a:r>
            <a:r>
              <a:rPr lang="en-US" altLang="zh-CN" dirty="0"/>
              <a:t>2013</a:t>
            </a:r>
            <a:r>
              <a:rPr lang="zh-CN" altLang="en-US" dirty="0"/>
              <a:t>，</a:t>
            </a:r>
            <a:r>
              <a:rPr lang="en-US" altLang="zh-CN" dirty="0"/>
              <a:t>Qual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3C32-A979-4E0C-B9DE-4F893F2D63D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4726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CF #E67 Div2. E</a:t>
            </a:r>
          </a:p>
          <a:p>
            <a:endParaRPr lang="en-US" altLang="zh-CN" dirty="0"/>
          </a:p>
          <a:p>
            <a:r>
              <a:rPr lang="en-US" altLang="zh-CN" dirty="0"/>
              <a:t>5</a:t>
            </a:r>
          </a:p>
          <a:p>
            <a:r>
              <a:rPr lang="en-US" altLang="zh-CN" dirty="0"/>
              <a:t>1 2</a:t>
            </a:r>
          </a:p>
          <a:p>
            <a:r>
              <a:rPr lang="en-US" altLang="zh-CN" dirty="0"/>
              <a:t>1 3</a:t>
            </a:r>
          </a:p>
          <a:p>
            <a:r>
              <a:rPr lang="en-US" altLang="zh-CN" dirty="0"/>
              <a:t>2 4</a:t>
            </a:r>
          </a:p>
          <a:p>
            <a:r>
              <a:rPr lang="en-US" altLang="zh-CN" dirty="0"/>
              <a:t>2 5</a:t>
            </a:r>
          </a:p>
          <a:p>
            <a:endParaRPr lang="en-US" altLang="zh-CN" dirty="0"/>
          </a:p>
          <a:p>
            <a:r>
              <a:rPr lang="en-US" altLang="zh-CN" dirty="0"/>
              <a:t>14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3C32-A979-4E0C-B9DE-4F893F2D63D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106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CF #564 Div2. D</a:t>
            </a:r>
          </a:p>
          <a:p>
            <a:endParaRPr lang="en-US" altLang="zh-CN" dirty="0"/>
          </a:p>
          <a:p>
            <a:r>
              <a:rPr lang="en-US" altLang="zh-CN" dirty="0"/>
              <a:t>4</a:t>
            </a:r>
          </a:p>
          <a:p>
            <a:r>
              <a:rPr lang="en-US" altLang="zh-CN" dirty="0"/>
              <a:t>1 2</a:t>
            </a:r>
          </a:p>
          <a:p>
            <a:r>
              <a:rPr lang="en-US" altLang="zh-CN" dirty="0"/>
              <a:t>1 3</a:t>
            </a:r>
          </a:p>
          <a:p>
            <a:r>
              <a:rPr lang="en-US" altLang="zh-CN" dirty="0"/>
              <a:t>2 4</a:t>
            </a:r>
          </a:p>
          <a:p>
            <a:r>
              <a:rPr lang="en-US" altLang="zh-CN" dirty="0"/>
              <a:t>16</a:t>
            </a:r>
          </a:p>
          <a:p>
            <a:endParaRPr lang="en-US" altLang="zh-CN" dirty="0"/>
          </a:p>
          <a:p>
            <a:r>
              <a:rPr lang="en-US" altLang="zh-CN" dirty="0"/>
              <a:t>4</a:t>
            </a:r>
          </a:p>
          <a:p>
            <a:r>
              <a:rPr lang="en-US" altLang="zh-CN" dirty="0"/>
              <a:t>1 2</a:t>
            </a:r>
          </a:p>
          <a:p>
            <a:r>
              <a:rPr lang="en-US" altLang="zh-CN" dirty="0"/>
              <a:t>1 3</a:t>
            </a:r>
          </a:p>
          <a:p>
            <a:r>
              <a:rPr lang="en-US" altLang="zh-CN" dirty="0"/>
              <a:t>1 4</a:t>
            </a:r>
          </a:p>
          <a:p>
            <a:r>
              <a:rPr lang="en-US" altLang="zh-CN" dirty="0"/>
              <a:t>24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3C32-A979-4E0C-B9DE-4F893F2D63D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5190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CF #566 Div2. D</a:t>
            </a:r>
          </a:p>
          <a:p>
            <a:endParaRPr lang="en-US" altLang="zh-CN" dirty="0"/>
          </a:p>
          <a:p>
            <a:r>
              <a:rPr lang="en-US" altLang="zh-CN" dirty="0"/>
              <a:t>7</a:t>
            </a:r>
          </a:p>
          <a:p>
            <a:r>
              <a:rPr lang="en-US" altLang="zh-CN" dirty="0"/>
              <a:t>1 2</a:t>
            </a:r>
          </a:p>
          <a:p>
            <a:r>
              <a:rPr lang="en-US" altLang="zh-CN" dirty="0"/>
              <a:t>2 3</a:t>
            </a:r>
          </a:p>
          <a:p>
            <a:r>
              <a:rPr lang="en-US" altLang="zh-CN" dirty="0"/>
              <a:t>3 4</a:t>
            </a:r>
          </a:p>
          <a:p>
            <a:r>
              <a:rPr lang="en-US" altLang="zh-CN" dirty="0"/>
              <a:t>4 5</a:t>
            </a:r>
          </a:p>
          <a:p>
            <a:r>
              <a:rPr lang="en-US" altLang="zh-CN" dirty="0"/>
              <a:t>3 6</a:t>
            </a:r>
          </a:p>
          <a:p>
            <a:r>
              <a:rPr lang="en-US" altLang="zh-CN" dirty="0"/>
              <a:t>6 7</a:t>
            </a:r>
          </a:p>
          <a:p>
            <a:endParaRPr lang="en-US" altLang="zh-CN" dirty="0"/>
          </a:p>
          <a:p>
            <a:r>
              <a:rPr lang="en-US" altLang="zh-CN" dirty="0"/>
              <a:t>3(1,5,7)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3C32-A979-4E0C-B9DE-4F893F2D63D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666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CF #569 Div1. D</a:t>
            </a:r>
          </a:p>
          <a:p>
            <a:endParaRPr lang="en-US" altLang="zh-CN" dirty="0"/>
          </a:p>
          <a:p>
            <a:r>
              <a:rPr lang="en-US" altLang="zh-CN" dirty="0"/>
              <a:t>4</a:t>
            </a:r>
          </a:p>
          <a:p>
            <a:r>
              <a:rPr lang="en-US" altLang="zh-CN" dirty="0"/>
              <a:t>1 2</a:t>
            </a:r>
          </a:p>
          <a:p>
            <a:r>
              <a:rPr lang="en-US" altLang="zh-CN" dirty="0"/>
              <a:t>1 3</a:t>
            </a:r>
          </a:p>
          <a:p>
            <a:r>
              <a:rPr lang="en-US" altLang="zh-CN" dirty="0"/>
              <a:t>1 4</a:t>
            </a:r>
          </a:p>
          <a:p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3C32-A979-4E0C-B9DE-4F893F2D63D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1444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CF #183 </a:t>
            </a:r>
            <a:r>
              <a:rPr lang="en-US" altLang="zh-CN" dirty="0" err="1"/>
              <a:t>Div</a:t>
            </a:r>
            <a:r>
              <a:rPr lang="en-US" altLang="zh-CN" dirty="0"/>
              <a:t> 1. C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3C32-A979-4E0C-B9DE-4F893F2D63D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170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CF #566 Div2. E</a:t>
            </a:r>
          </a:p>
          <a:p>
            <a:endParaRPr lang="en-US" altLang="zh-CN" dirty="0"/>
          </a:p>
          <a:p>
            <a:r>
              <a:rPr lang="en-US" altLang="zh-CN" dirty="0"/>
              <a:t>5 1 2 5 3</a:t>
            </a:r>
          </a:p>
          <a:p>
            <a:r>
              <a:rPr lang="en-US" altLang="zh-CN" dirty="0"/>
              <a:t>f(4) = 90</a:t>
            </a:r>
          </a:p>
          <a:p>
            <a:r>
              <a:rPr lang="en-US" altLang="zh-CN" dirty="0"/>
              <a:t>f(5) = 72900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3C32-A979-4E0C-B9DE-4F893F2D63D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1433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微软编程之美 </a:t>
            </a:r>
            <a:r>
              <a:rPr lang="en-US" altLang="zh-CN" dirty="0"/>
              <a:t>2013</a:t>
            </a:r>
            <a:r>
              <a:rPr lang="zh-CN" altLang="en-US" dirty="0"/>
              <a:t>，</a:t>
            </a:r>
            <a:r>
              <a:rPr lang="en-US" altLang="zh-CN" dirty="0"/>
              <a:t>Round 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3C32-A979-4E0C-B9DE-4F893F2D63D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9145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BJWC 2013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3C32-A979-4E0C-B9DE-4F893F2D63D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5556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SRM 498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3C32-A979-4E0C-B9DE-4F893F2D63D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859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06DA5880-4DC7-4398-81C4-8093CF16E527}" type="datetimeFigureOut">
              <a:rPr lang="zh-CN" altLang="en-US" smtClean="0"/>
              <a:t>2019/7/6</a:t>
            </a:fld>
            <a:endParaRPr lang="zh-CN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CC7C423-77FB-48A2-97AD-EB902E9BB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4071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A5880-4DC7-4398-81C4-8093CF16E527}" type="datetimeFigureOut">
              <a:rPr lang="zh-CN" altLang="en-US" smtClean="0"/>
              <a:t>2019/7/6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C423-77FB-48A2-97AD-EB902E9BB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059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4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6DA5880-4DC7-4398-81C4-8093CF16E527}" type="datetimeFigureOut">
              <a:rPr lang="zh-CN" altLang="en-US" smtClean="0"/>
              <a:t>2019/7/6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/>
          <a:p>
            <a:fld id="{DCC7C423-77FB-48A2-97AD-EB902E9BB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9816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A5880-4DC7-4398-81C4-8093CF16E527}" type="datetimeFigureOut">
              <a:rPr lang="zh-CN" altLang="en-US" smtClean="0"/>
              <a:t>2019/7/6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C423-77FB-48A2-97AD-EB902E9BB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703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A5880-4DC7-4398-81C4-8093CF16E527}" type="datetimeFigureOut">
              <a:rPr lang="zh-CN" altLang="en-US" smtClean="0"/>
              <a:t>2019/7/6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C423-77FB-48A2-97AD-EB902E9BB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730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A5880-4DC7-4398-81C4-8093CF16E527}" type="datetimeFigureOut">
              <a:rPr lang="zh-CN" altLang="en-US" smtClean="0"/>
              <a:t>2019/7/6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C423-77FB-48A2-97AD-EB902E9BB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62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A5880-4DC7-4398-81C4-8093CF16E527}" type="datetimeFigureOut">
              <a:rPr lang="zh-CN" altLang="en-US" smtClean="0"/>
              <a:t>2019/7/6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C423-77FB-48A2-97AD-EB902E9BB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79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A5880-4DC7-4398-81C4-8093CF16E527}" type="datetimeFigureOut">
              <a:rPr lang="zh-CN" altLang="en-US" smtClean="0"/>
              <a:t>2019/7/6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zh-CN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DCC7C423-77FB-48A2-97AD-EB902E9BBC8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34790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06DA5880-4DC7-4398-81C4-8093CF16E527}" type="datetimeFigureOut">
              <a:rPr lang="zh-CN" altLang="en-US" smtClean="0"/>
              <a:t>2019/7/6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DCC7C423-77FB-48A2-97AD-EB902E9BBC8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86524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A5880-4DC7-4398-81C4-8093CF16E527}" type="datetimeFigureOut">
              <a:rPr lang="zh-CN" altLang="en-US" smtClean="0"/>
              <a:t>2019/7/6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C423-77FB-48A2-97AD-EB902E9BB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0849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A5880-4DC7-4398-81C4-8093CF16E527}" type="datetimeFigureOut">
              <a:rPr lang="zh-CN" altLang="en-US" smtClean="0"/>
              <a:t>2019/7/6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C423-77FB-48A2-97AD-EB902E9BB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1482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6DA5880-4DC7-4398-81C4-8093CF16E527}" type="datetimeFigureOut">
              <a:rPr lang="zh-CN" altLang="en-US" smtClean="0"/>
              <a:t>2019/7/6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CC7C423-77FB-48A2-97AD-EB902E9BBC8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1654199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A30342F-386D-4827-AD06-6860782FCD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6000" dirty="0"/>
              <a:t/>
            </a:r>
            <a:br>
              <a:rPr lang="en-US" altLang="zh-CN" sz="6000" dirty="0"/>
            </a:br>
            <a:r>
              <a:rPr lang="en-US" altLang="zh-CN" sz="6000" dirty="0"/>
              <a:t>OI </a:t>
            </a:r>
            <a:r>
              <a:rPr lang="zh-CN" altLang="en-US" sz="6000" dirty="0"/>
              <a:t>试题交流</a:t>
            </a:r>
            <a:r>
              <a:rPr lang="en-US" altLang="zh-CN" sz="6000" dirty="0"/>
              <a:t/>
            </a:r>
            <a:br>
              <a:rPr lang="en-US" altLang="zh-CN" sz="6000" dirty="0"/>
            </a:br>
            <a:r>
              <a:rPr lang="en-US" altLang="zh-CN" sz="3200" dirty="0"/>
              <a:t>2019</a:t>
            </a:r>
            <a:r>
              <a:rPr lang="zh-CN" altLang="en-US" sz="3200" dirty="0"/>
              <a:t>年北京集训队</a:t>
            </a:r>
            <a:endParaRPr lang="zh-CN" altLang="en-US" sz="60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06987C5E-D986-4A16-9AE0-6FD7FFF82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814498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清华大学软件学院</a:t>
            </a:r>
            <a:endParaRPr lang="en-US" altLang="zh-CN" dirty="0"/>
          </a:p>
          <a:p>
            <a:r>
              <a:rPr lang="zh-CN" altLang="en-US" dirty="0"/>
              <a:t>罗剑桥</a:t>
            </a:r>
            <a:endParaRPr lang="en-US" altLang="zh-CN" dirty="0"/>
          </a:p>
          <a:p>
            <a:r>
              <a:rPr lang="en-US" altLang="zh-CN" dirty="0"/>
              <a:t>2019</a:t>
            </a:r>
            <a:r>
              <a:rPr lang="zh-CN" altLang="en-US" dirty="0"/>
              <a:t>年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r>
              <a:rPr lang="en-US" altLang="zh-CN" dirty="0"/>
              <a:t>6</a:t>
            </a:r>
            <a:r>
              <a:rPr lang="zh-CN" altLang="en-US" dirty="0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593162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2C3E1AD-D34D-41A1-BB4E-F3C8EB549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上午的题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265FE634-32B8-487A-9C69-687E95C38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Clickbait	</a:t>
            </a:r>
            <a:r>
              <a:rPr lang="zh-CN" altLang="en-US" sz="2800" dirty="0"/>
              <a:t>排水系统</a:t>
            </a:r>
            <a:endParaRPr lang="en-US" altLang="zh-CN" sz="2800" dirty="0"/>
          </a:p>
          <a:p>
            <a:r>
              <a:rPr lang="en-US" altLang="zh-CN" sz="2800" dirty="0"/>
              <a:t>Candy	</a:t>
            </a:r>
            <a:r>
              <a:rPr lang="zh-CN" altLang="en-US" sz="2800" dirty="0"/>
              <a:t>分糖果</a:t>
            </a:r>
            <a:endParaRPr lang="en-US" altLang="zh-CN" sz="2800" dirty="0"/>
          </a:p>
          <a:p>
            <a:r>
              <a:rPr lang="en-US" altLang="zh-CN" sz="2800" dirty="0"/>
              <a:t>Hike		</a:t>
            </a:r>
            <a:r>
              <a:rPr lang="zh-CN" altLang="en-US" sz="2800" dirty="0"/>
              <a:t>远足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试题来源：</a:t>
            </a:r>
            <a:r>
              <a:rPr lang="en-US" altLang="zh-CN" sz="2800" dirty="0"/>
              <a:t>COCI 2017/2018 Round 5~7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467833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58E73B99-32AC-4D17-A9C6-C7112B926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0EF3CFAE-E190-4978-A531-67A688D9C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有两个 </a:t>
            </a:r>
            <a:r>
              <a:rPr lang="en-US" altLang="zh-CN" sz="2400" dirty="0"/>
              <a:t>01 </a:t>
            </a:r>
            <a:r>
              <a:rPr lang="zh-CN" altLang="en-US" sz="2400" dirty="0"/>
              <a:t>串 </a:t>
            </a:r>
            <a:r>
              <a:rPr lang="en-US" altLang="zh-CN" sz="2400" dirty="0"/>
              <a:t>a </a:t>
            </a:r>
            <a:r>
              <a:rPr lang="zh-CN" altLang="en-US" sz="2400" dirty="0"/>
              <a:t>和 </a:t>
            </a:r>
            <a:r>
              <a:rPr lang="en-US" altLang="zh-CN" sz="2400" dirty="0"/>
              <a:t>b</a:t>
            </a:r>
            <a:r>
              <a:rPr lang="zh-CN" altLang="en-US" sz="2400" dirty="0"/>
              <a:t>。已知 </a:t>
            </a:r>
            <a:r>
              <a:rPr lang="en-US" altLang="zh-CN" sz="2400" dirty="0"/>
              <a:t>a </a:t>
            </a:r>
            <a:r>
              <a:rPr lang="zh-CN" altLang="en-US" sz="2400" dirty="0"/>
              <a:t>的长度 </a:t>
            </a:r>
            <a:r>
              <a:rPr lang="en-US" altLang="zh-CN" sz="2400" dirty="0"/>
              <a:t>|a| </a:t>
            </a:r>
            <a:r>
              <a:rPr lang="zh-CN" altLang="en-US" sz="2400" dirty="0"/>
              <a:t>不小于 </a:t>
            </a:r>
            <a:r>
              <a:rPr lang="en-US" altLang="zh-CN" sz="2400" dirty="0"/>
              <a:t>|b|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zh-CN" altLang="en-US" sz="2400" dirty="0"/>
              <a:t>请你计算，在 </a:t>
            </a:r>
            <a:r>
              <a:rPr lang="en-US" altLang="zh-CN" sz="2400" dirty="0"/>
              <a:t>a </a:t>
            </a:r>
            <a:r>
              <a:rPr lang="zh-CN" altLang="en-US" sz="2400" dirty="0"/>
              <a:t>的所有长度等于 </a:t>
            </a:r>
            <a:r>
              <a:rPr lang="en-US" altLang="zh-CN" sz="2400" dirty="0"/>
              <a:t>|b| </a:t>
            </a:r>
            <a:r>
              <a:rPr lang="zh-CN" altLang="en-US" sz="2400" dirty="0"/>
              <a:t>的子串中，与 </a:t>
            </a:r>
            <a:r>
              <a:rPr lang="en-US" altLang="zh-CN" sz="2400" dirty="0"/>
              <a:t>b </a:t>
            </a:r>
            <a:r>
              <a:rPr lang="zh-CN" altLang="en-US" sz="2400" dirty="0"/>
              <a:t>不同字符数量为偶数的有多少个。</a:t>
            </a:r>
            <a:endParaRPr lang="en-US" altLang="zh-CN" sz="2400" dirty="0"/>
          </a:p>
          <a:p>
            <a:r>
              <a:rPr lang="zh-CN" altLang="en-US" sz="2400" dirty="0"/>
              <a:t>例如：</a:t>
            </a:r>
            <a:r>
              <a:rPr lang="en-US" altLang="zh-CN" sz="2400" dirty="0"/>
              <a:t>a = 01100010</a:t>
            </a:r>
            <a:r>
              <a:rPr lang="zh-CN" altLang="en-US" sz="2400" dirty="0"/>
              <a:t>，</a:t>
            </a:r>
            <a:r>
              <a:rPr lang="en-US" altLang="zh-CN" sz="2400" dirty="0"/>
              <a:t>b = 00110</a:t>
            </a:r>
            <a:r>
              <a:rPr lang="zh-CN" altLang="en-US" sz="2400" dirty="0"/>
              <a:t>，</a:t>
            </a:r>
            <a:r>
              <a:rPr lang="en-US" altLang="zh-CN" sz="2400" dirty="0"/>
              <a:t>answer = 3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/>
            <a:r>
              <a:rPr lang="en-US" altLang="zh-CN" sz="2200" dirty="0"/>
              <a:t>diff(01100, b) = 2, diff(11000, b) = 4, diff(10001, b) = 4, diff(00010, b) = 1.</a:t>
            </a:r>
          </a:p>
          <a:p>
            <a:endParaRPr lang="en-US" altLang="zh-CN" sz="2400" dirty="0"/>
          </a:p>
          <a:p>
            <a:r>
              <a:rPr lang="en-US" altLang="zh-CN" sz="2400" dirty="0"/>
              <a:t>1 &lt;= |b| &lt;= |a| &lt;= 10</a:t>
            </a:r>
            <a:r>
              <a:rPr lang="en-US" altLang="zh-CN" sz="2400" baseline="30000" dirty="0"/>
              <a:t>6</a:t>
            </a:r>
            <a:r>
              <a:rPr lang="en-US" altLang="zh-C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6735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025CC6E-C477-4BFE-96D7-75F0B1FBD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Domino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2295B4C3-3CE1-4C4B-BBD4-3CB9602F4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在一个 </a:t>
            </a:r>
            <a:r>
              <a:rPr lang="en-US" altLang="zh-CN" sz="2400" dirty="0"/>
              <a:t>n </a:t>
            </a:r>
            <a:r>
              <a:rPr lang="zh-CN" altLang="en-US" sz="2400" dirty="0"/>
              <a:t>行 </a:t>
            </a:r>
            <a:r>
              <a:rPr lang="en-US" altLang="zh-CN" sz="2400" dirty="0"/>
              <a:t>m </a:t>
            </a:r>
            <a:r>
              <a:rPr lang="zh-CN" altLang="en-US" sz="2400" dirty="0"/>
              <a:t>列的矩阵中放置尽可能多的 </a:t>
            </a:r>
            <a:r>
              <a:rPr lang="en-US" altLang="zh-CN" sz="2400" dirty="0"/>
              <a:t>1 </a:t>
            </a:r>
            <a:r>
              <a:rPr lang="zh-CN" altLang="en-US" sz="2400" dirty="0"/>
              <a:t>* </a:t>
            </a:r>
            <a:r>
              <a:rPr lang="en-US" altLang="zh-CN" sz="2400" dirty="0"/>
              <a:t>2 </a:t>
            </a:r>
            <a:r>
              <a:rPr lang="zh-CN" altLang="en-US" sz="2400" dirty="0"/>
              <a:t>的骨牌，</a:t>
            </a:r>
            <a:endParaRPr lang="en-US" altLang="zh-CN" sz="2400" dirty="0"/>
          </a:p>
          <a:p>
            <a:r>
              <a:rPr lang="zh-CN" altLang="en-US" sz="2400" dirty="0"/>
              <a:t>要求任意两个骨牌不能任意八个方向相邻。</a:t>
            </a:r>
            <a:endParaRPr lang="en-US" altLang="zh-CN" sz="2400" dirty="0"/>
          </a:p>
          <a:p>
            <a:pPr lvl="1"/>
            <a:r>
              <a:rPr lang="zh-CN" altLang="en-US" sz="2200" dirty="0"/>
              <a:t>即矩阵中所有上、下、左、右、左上、左下、右上、右下位置关系的两个格子不能分别是不同骨牌的一部分。</a:t>
            </a:r>
            <a:endParaRPr lang="en-US" altLang="zh-CN" sz="2200" dirty="0"/>
          </a:p>
          <a:p>
            <a:r>
              <a:rPr lang="zh-CN" altLang="en-US" sz="2400" dirty="0"/>
              <a:t>问最多放多少个骨牌。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n, m &lt;= 10</a:t>
            </a:r>
            <a:r>
              <a:rPr lang="en-US" altLang="zh-CN" sz="2400" baseline="30000" dirty="0"/>
              <a:t>6</a:t>
            </a:r>
            <a:r>
              <a:rPr lang="en-US" altLang="zh-CN" sz="2400" dirty="0"/>
              <a:t>.</a:t>
            </a:r>
          </a:p>
          <a:p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760946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58E73B99-32AC-4D17-A9C6-C7112B926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Splitting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xmlns="" id="{0EF3CFAE-E190-4978-A531-67A688D9C9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/>
                  <a:t>数列 </a:t>
                </a:r>
                <a:r>
                  <a:rPr lang="en-US" altLang="zh-CN" sz="2400" dirty="0"/>
                  <a:t>a </a:t>
                </a:r>
                <a:r>
                  <a:rPr lang="zh-CN" altLang="en-US" sz="2400" dirty="0"/>
                  <a:t>由 </a:t>
                </a:r>
                <a:r>
                  <a:rPr lang="en-US" altLang="zh-CN" sz="2400" dirty="0"/>
                  <a:t>n </a:t>
                </a:r>
                <a:r>
                  <a:rPr lang="zh-CN" altLang="en-US" sz="2400" dirty="0"/>
                  <a:t>个整数 </a:t>
                </a:r>
                <a:r>
                  <a:rPr lang="en-US" altLang="zh-CN" sz="2400" dirty="0"/>
                  <a:t>a1, …, an </a:t>
                </a:r>
                <a:r>
                  <a:rPr lang="zh-CN" altLang="en-US" sz="2400" dirty="0"/>
                  <a:t>组成。</a:t>
                </a:r>
                <a:endParaRPr lang="en-US" altLang="zh-CN" sz="2400" dirty="0"/>
              </a:p>
              <a:p>
                <a:r>
                  <a:rPr lang="zh-CN" altLang="en-US" sz="2400" dirty="0"/>
                  <a:t>现在要将 </a:t>
                </a:r>
                <a:r>
                  <a:rPr lang="en-US" altLang="zh-CN" sz="2400" dirty="0"/>
                  <a:t>a </a:t>
                </a:r>
                <a:r>
                  <a:rPr lang="zh-CN" altLang="en-US" sz="2400" dirty="0"/>
                  <a:t>数列切成 </a:t>
                </a:r>
                <a:r>
                  <a:rPr lang="en-US" altLang="zh-CN" sz="2400" dirty="0"/>
                  <a:t>k </a:t>
                </a:r>
                <a:r>
                  <a:rPr lang="zh-CN" altLang="en-US" sz="2400" dirty="0"/>
                  <a:t>个非空连续子段，子段按顺序编号为 </a:t>
                </a:r>
                <a:r>
                  <a:rPr lang="en-US" altLang="zh-CN" sz="2400" dirty="0"/>
                  <a:t>1 ~ k</a:t>
                </a:r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r>
                  <a:rPr lang="zh-CN" altLang="en-US" sz="2400" dirty="0"/>
                  <a:t>设 </a:t>
                </a:r>
                <a:r>
                  <a:rPr lang="en-US" altLang="zh-CN" sz="2400" dirty="0"/>
                  <a:t>ai </a:t>
                </a:r>
                <a:r>
                  <a:rPr lang="zh-CN" altLang="en-US" sz="2400" dirty="0"/>
                  <a:t>属于第 </a:t>
                </a:r>
                <a:r>
                  <a:rPr lang="en-US" altLang="zh-CN" sz="2400" dirty="0"/>
                  <a:t>f(</a:t>
                </a:r>
                <a:r>
                  <a:rPr lang="en-US" altLang="zh-CN" sz="2400" dirty="0" err="1"/>
                  <a:t>i</a:t>
                </a:r>
                <a:r>
                  <a:rPr lang="en-US" altLang="zh-CN" sz="2400" dirty="0"/>
                  <a:t>) </a:t>
                </a:r>
                <a:r>
                  <a:rPr lang="zh-CN" altLang="en-US" sz="2400" dirty="0"/>
                  <a:t>段，则一次切分的分值为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𝑎𝑖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 ∙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400" dirty="0"/>
              </a:p>
              <a:p>
                <a:r>
                  <a:rPr lang="zh-CN" altLang="en-US" sz="2400" dirty="0"/>
                  <a:t>求可能得到的最大分值。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en-US" altLang="zh-CN" sz="2400" dirty="0"/>
                  <a:t>1 &lt;= k &lt;= n &lt;= 10</a:t>
                </a:r>
                <a:r>
                  <a:rPr lang="en-US" altLang="zh-CN" sz="2400" baseline="30000" dirty="0"/>
                  <a:t>5</a:t>
                </a:r>
                <a:r>
                  <a:rPr lang="zh-CN" altLang="en-US" sz="2400" dirty="0"/>
                  <a:t>，</a:t>
                </a:r>
                <a:r>
                  <a:rPr lang="en-US" altLang="zh-CN" sz="2400" dirty="0"/>
                  <a:t>|ai| &lt;= 10</a:t>
                </a:r>
                <a:r>
                  <a:rPr lang="en-US" altLang="zh-CN" sz="2400" baseline="30000" dirty="0"/>
                  <a:t>6</a:t>
                </a:r>
                <a:r>
                  <a:rPr lang="en-US" altLang="zh-CN" sz="2400" dirty="0"/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F3CFAE-E190-4978-A531-67A688D9C9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88" t="-20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8783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0B3F5B4D-BCE5-4234-B8F5-DF17F439F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Triangle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8618FF11-3D5C-4BE9-9D4B-66D5FFBCD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n </a:t>
            </a:r>
            <a:r>
              <a:rPr lang="zh-CN" altLang="en-US" sz="2400" dirty="0"/>
              <a:t>个点的树，边有正整数权值 </a:t>
            </a:r>
            <a:r>
              <a:rPr lang="en-US" altLang="zh-CN" sz="2400" dirty="0" err="1"/>
              <a:t>ei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en-US" altLang="zh-CN" sz="2400" dirty="0"/>
              <a:t>m </a:t>
            </a:r>
            <a:r>
              <a:rPr lang="zh-CN" altLang="en-US" sz="2400" dirty="0"/>
              <a:t>次查询，每次询问点 </a:t>
            </a:r>
            <a:r>
              <a:rPr lang="en-US" altLang="zh-CN" sz="2400" dirty="0"/>
              <a:t>u </a:t>
            </a:r>
            <a:r>
              <a:rPr lang="zh-CN" altLang="en-US" sz="2400" dirty="0"/>
              <a:t>到点 </a:t>
            </a:r>
            <a:r>
              <a:rPr lang="en-US" altLang="zh-CN" sz="2400" dirty="0"/>
              <a:t>v </a:t>
            </a:r>
            <a:r>
              <a:rPr lang="zh-CN" altLang="en-US" sz="2400" dirty="0"/>
              <a:t>的路径上能否选出三条边组成三角形（即任意两边之和大于第三边）？</a:t>
            </a:r>
            <a:endParaRPr lang="en-US" altLang="zh-CN" sz="2200" dirty="0"/>
          </a:p>
          <a:p>
            <a:endParaRPr lang="en-US" altLang="zh-CN" sz="2400" dirty="0"/>
          </a:p>
          <a:p>
            <a:r>
              <a:rPr lang="en-US" altLang="zh-CN" sz="2400" dirty="0"/>
              <a:t>n, m &lt;= 10</a:t>
            </a:r>
            <a:r>
              <a:rPr lang="en-US" altLang="zh-CN" sz="2400" baseline="30000" dirty="0"/>
              <a:t>5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ei</a:t>
            </a:r>
            <a:r>
              <a:rPr lang="en-US" altLang="zh-CN" sz="2400" dirty="0"/>
              <a:t> &lt;= 10</a:t>
            </a:r>
            <a:r>
              <a:rPr lang="en-US" altLang="zh-CN" sz="2400" baseline="30000" dirty="0"/>
              <a:t>9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08887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6534BB3F-B90D-459F-BECB-47E8B535F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Painting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51BF7FBE-2B3D-4C01-8070-6A6675EFA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n </a:t>
            </a:r>
            <a:r>
              <a:rPr lang="zh-CN" altLang="en-US" sz="2400" dirty="0"/>
              <a:t>个点的树。</a:t>
            </a:r>
            <a:endParaRPr lang="en-US" altLang="zh-CN" sz="2400" dirty="0"/>
          </a:p>
          <a:p>
            <a:r>
              <a:rPr lang="zh-CN" altLang="en-US" sz="2400" dirty="0"/>
              <a:t>一开始可以将任意一个点染色，此后每次可以选择一个与已染色点邻接的未染色点染色。</a:t>
            </a:r>
            <a:r>
              <a:rPr lang="en-US" altLang="zh-CN" sz="2400" dirty="0"/>
              <a:t>n </a:t>
            </a:r>
            <a:r>
              <a:rPr lang="zh-CN" altLang="en-US" sz="2400" dirty="0"/>
              <a:t>次染色后结束。</a:t>
            </a:r>
            <a:endParaRPr lang="en-US" altLang="zh-CN" sz="2400" dirty="0"/>
          </a:p>
          <a:p>
            <a:r>
              <a:rPr lang="zh-CN" altLang="en-US" sz="2400" dirty="0"/>
              <a:t>每次染色点 </a:t>
            </a:r>
            <a:r>
              <a:rPr lang="en-US" altLang="zh-CN" sz="2400" dirty="0"/>
              <a:t>i </a:t>
            </a:r>
            <a:r>
              <a:rPr lang="zh-CN" altLang="en-US" sz="2400" dirty="0"/>
              <a:t>的收益是这次染色前点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</a:t>
            </a:r>
            <a:r>
              <a:rPr lang="zh-CN" altLang="en-US" sz="2400" dirty="0"/>
              <a:t>所在未染色连通块的大小。</a:t>
            </a:r>
            <a:endParaRPr lang="en-US" altLang="zh-CN" sz="2400" dirty="0"/>
          </a:p>
          <a:p>
            <a:r>
              <a:rPr lang="zh-CN" altLang="en-US" sz="2400" dirty="0"/>
              <a:t>问最大收益。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n &lt;= 10</a:t>
            </a:r>
            <a:r>
              <a:rPr lang="en-US" altLang="zh-CN" sz="2400" baseline="30000" dirty="0"/>
              <a:t>5</a:t>
            </a:r>
            <a:r>
              <a:rPr lang="en-US" altLang="zh-CN" sz="2400" dirty="0"/>
              <a:t>.</a:t>
            </a:r>
          </a:p>
          <a:p>
            <a:endParaRPr lang="en-US" altLang="zh-CN" sz="2400" dirty="0"/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203265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6534BB3F-B90D-459F-BECB-47E8B535F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Circle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51BF7FBE-2B3D-4C01-8070-6A6675EFA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n </a:t>
            </a:r>
            <a:r>
              <a:rPr lang="zh-CN" altLang="en-US" sz="2400" dirty="0"/>
              <a:t>个点的树。</a:t>
            </a:r>
            <a:endParaRPr lang="en-US" altLang="zh-CN" sz="2400" dirty="0"/>
          </a:p>
          <a:p>
            <a:r>
              <a:rPr lang="zh-CN" altLang="en-US" sz="2400" dirty="0"/>
              <a:t>要将这个树的所有点画在一个圆上，所有边能画在圆内且互不相交。</a:t>
            </a:r>
            <a:endParaRPr lang="en-US" altLang="zh-CN" sz="2400" dirty="0"/>
          </a:p>
          <a:p>
            <a:r>
              <a:rPr lang="zh-CN" altLang="en-US" sz="2400" dirty="0"/>
              <a:t>问有多少种方法（排列）？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n &lt;= 10</a:t>
            </a:r>
            <a:r>
              <a:rPr lang="en-US" altLang="zh-CN" sz="2400" baseline="30000" dirty="0"/>
              <a:t>5</a:t>
            </a:r>
            <a:r>
              <a:rPr lang="en-US" altLang="zh-CN" sz="2400" dirty="0"/>
              <a:t>.</a:t>
            </a:r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2588509A-5E6A-4DED-92DD-6C0765446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457" y="3665209"/>
            <a:ext cx="7334636" cy="2189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406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5DA6569-41EA-4AB6-B944-5DE111C62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Mirror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89FF0F82-BA1E-4689-A446-EB59F5346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n </a:t>
            </a:r>
            <a:r>
              <a:rPr lang="zh-CN" altLang="en-US" sz="2400" dirty="0"/>
              <a:t>个点的树。</a:t>
            </a:r>
            <a:endParaRPr lang="en-US" altLang="zh-CN" sz="2400" dirty="0"/>
          </a:p>
          <a:p>
            <a:r>
              <a:rPr lang="zh-CN" altLang="en-US" sz="2400" dirty="0"/>
              <a:t>请你选择一个点为根，使得树上任意两个点 </a:t>
            </a:r>
            <a:r>
              <a:rPr lang="en-US" altLang="zh-CN" sz="2400" dirty="0"/>
              <a:t>u, v:</a:t>
            </a:r>
          </a:p>
          <a:p>
            <a:r>
              <a:rPr lang="en-US" altLang="zh-CN" sz="2400" dirty="0"/>
              <a:t>depth(u) = depth(v) =&gt; degree(u) = degree(v)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/>
            <a:r>
              <a:rPr lang="zh-CN" altLang="en-US" sz="2200" dirty="0"/>
              <a:t>（如果到根的距离相同，则度数相同）</a:t>
            </a:r>
            <a:endParaRPr lang="en-US" altLang="zh-CN" sz="2400" dirty="0"/>
          </a:p>
          <a:p>
            <a:r>
              <a:rPr lang="zh-CN" altLang="en-US" sz="2400" dirty="0"/>
              <a:t>输出任意解，若找不到输出 </a:t>
            </a:r>
            <a:r>
              <a:rPr lang="en-US" altLang="zh-CN" sz="2400" dirty="0"/>
              <a:t>-1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n</a:t>
            </a:r>
            <a:r>
              <a:rPr lang="zh-CN" altLang="en-US" sz="2400" dirty="0"/>
              <a:t> </a:t>
            </a:r>
            <a:r>
              <a:rPr lang="en-US" altLang="zh-CN" sz="2400" dirty="0"/>
              <a:t>&lt;=</a:t>
            </a:r>
            <a:r>
              <a:rPr lang="zh-CN" altLang="en-US" sz="2400" dirty="0"/>
              <a:t> </a:t>
            </a:r>
            <a:r>
              <a:rPr lang="en-US" altLang="zh-CN" sz="2400" dirty="0"/>
              <a:t>10</a:t>
            </a:r>
            <a:r>
              <a:rPr lang="en-US" altLang="zh-CN" baseline="30000" dirty="0"/>
              <a:t>5</a:t>
            </a:r>
            <a:r>
              <a:rPr lang="en-US" altLang="zh-C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3140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5DA6569-41EA-4AB6-B944-5DE111C62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Road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89FF0F82-BA1E-4689-A446-EB59F5346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n </a:t>
            </a:r>
            <a:r>
              <a:rPr lang="zh-CN" altLang="en-US" sz="2400" dirty="0"/>
              <a:t>个点的树。</a:t>
            </a:r>
            <a:endParaRPr lang="en-US" altLang="zh-CN" sz="2400" dirty="0"/>
          </a:p>
          <a:p>
            <a:r>
              <a:rPr lang="zh-CN" altLang="en-US" sz="2400" dirty="0"/>
              <a:t>请你添加一条边，使得新增的简单路径尽量多。</a:t>
            </a:r>
            <a:endParaRPr lang="en-US" altLang="zh-CN" sz="2400" dirty="0"/>
          </a:p>
          <a:p>
            <a:pPr lvl="1"/>
            <a:r>
              <a:rPr lang="zh-CN" altLang="en-US" sz="2200" dirty="0"/>
              <a:t>可以添加重边，不能添加自环</a:t>
            </a:r>
            <a:endParaRPr lang="en-US" altLang="zh-CN" sz="2200" dirty="0"/>
          </a:p>
          <a:p>
            <a:endParaRPr lang="en-US" altLang="zh-CN" sz="2400" dirty="0"/>
          </a:p>
          <a:p>
            <a:r>
              <a:rPr lang="en-US" altLang="zh-CN" sz="2400" dirty="0"/>
              <a:t>n</a:t>
            </a:r>
            <a:r>
              <a:rPr lang="zh-CN" altLang="en-US" sz="2400" dirty="0"/>
              <a:t> </a:t>
            </a:r>
            <a:r>
              <a:rPr lang="en-US" altLang="zh-CN" sz="2400" dirty="0"/>
              <a:t>&lt;=</a:t>
            </a:r>
            <a:r>
              <a:rPr lang="zh-CN" altLang="en-US" sz="2400" dirty="0"/>
              <a:t> </a:t>
            </a:r>
            <a:r>
              <a:rPr lang="en-US" altLang="zh-CN" sz="2400" dirty="0"/>
              <a:t>10</a:t>
            </a:r>
            <a:r>
              <a:rPr lang="en-US" altLang="zh-CN" baseline="30000" dirty="0"/>
              <a:t>5</a:t>
            </a:r>
            <a:r>
              <a:rPr lang="en-US" altLang="zh-C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4682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6534BB3F-B90D-459F-BECB-47E8B535F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Modular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51BF7FBE-2B3D-4C01-8070-6A6675EFA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数列 </a:t>
            </a:r>
            <a:r>
              <a:rPr lang="en-US" altLang="zh-CN" sz="2400" dirty="0"/>
              <a:t>A </a:t>
            </a:r>
            <a:r>
              <a:rPr lang="zh-CN" altLang="en-US" sz="2400" dirty="0"/>
              <a:t>有 </a:t>
            </a:r>
            <a:r>
              <a:rPr lang="en-US" altLang="zh-CN" sz="2400" dirty="0"/>
              <a:t>n </a:t>
            </a:r>
            <a:r>
              <a:rPr lang="zh-CN" altLang="en-US" sz="2400" dirty="0" smtClean="0"/>
              <a:t>个互不相同的自然数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zh-CN" altLang="en-US" sz="2400" dirty="0"/>
              <a:t>你可以从中删去至多 </a:t>
            </a:r>
            <a:r>
              <a:rPr lang="en-US" altLang="zh-CN" sz="2400" dirty="0"/>
              <a:t>k </a:t>
            </a:r>
            <a:r>
              <a:rPr lang="zh-CN" altLang="en-US" sz="2400" dirty="0"/>
              <a:t>个数。</a:t>
            </a:r>
            <a:endParaRPr lang="en-US" altLang="zh-CN" sz="2400" dirty="0"/>
          </a:p>
          <a:p>
            <a:r>
              <a:rPr lang="zh-CN" altLang="en-US" sz="2400" dirty="0"/>
              <a:t>求最小的 </a:t>
            </a:r>
            <a:r>
              <a:rPr lang="en-US" altLang="zh-CN" sz="2400" dirty="0"/>
              <a:t>M</a:t>
            </a:r>
            <a:r>
              <a:rPr lang="zh-CN" altLang="en-US" sz="2400" dirty="0"/>
              <a:t>，使得存在一种删除方案，</a:t>
            </a:r>
            <a:endParaRPr lang="en-US" altLang="zh-CN" sz="2400" dirty="0"/>
          </a:p>
          <a:p>
            <a:r>
              <a:rPr lang="zh-CN" altLang="en-US" sz="2400" dirty="0"/>
              <a:t>使得删除过后任意的 </a:t>
            </a:r>
            <a:r>
              <a:rPr lang="en-US" altLang="zh-CN" sz="2400" dirty="0"/>
              <a:t>1 &lt;=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&lt; j &lt;= n </a:t>
            </a:r>
            <a:r>
              <a:rPr lang="zh-CN" altLang="en-US" sz="2400" dirty="0"/>
              <a:t>有</a:t>
            </a:r>
            <a:r>
              <a:rPr lang="en-US" altLang="zh-CN" sz="2400" dirty="0"/>
              <a:t> ai mod M </a:t>
            </a:r>
            <a:r>
              <a:rPr lang="zh-CN" altLang="en-US" sz="2400" dirty="0"/>
              <a:t>≠ </a:t>
            </a:r>
            <a:r>
              <a:rPr lang="en-US" altLang="zh-CN" sz="2400" dirty="0" err="1"/>
              <a:t>aj</a:t>
            </a:r>
            <a:r>
              <a:rPr lang="en-US" altLang="zh-CN" sz="2400" dirty="0"/>
              <a:t> mod M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n &lt;= 5000</a:t>
            </a:r>
            <a:r>
              <a:rPr lang="zh-CN" altLang="en-US" sz="2400" dirty="0"/>
              <a:t>，</a:t>
            </a:r>
            <a:r>
              <a:rPr lang="en-US" altLang="zh-CN" sz="2400" dirty="0"/>
              <a:t>0 &lt;= k &lt;= 4</a:t>
            </a:r>
            <a:r>
              <a:rPr lang="zh-CN" altLang="en-US" sz="2400" dirty="0"/>
              <a:t>，</a:t>
            </a:r>
            <a:r>
              <a:rPr lang="en-US" altLang="zh-CN" sz="2400" dirty="0"/>
              <a:t>0 &lt;= ai &lt;= 10</a:t>
            </a:r>
            <a:r>
              <a:rPr lang="en-US" altLang="zh-CN" sz="2400" baseline="30000" dirty="0"/>
              <a:t>6</a:t>
            </a:r>
            <a:r>
              <a:rPr lang="en-US" altLang="zh-CN" sz="2400" dirty="0"/>
              <a:t>.</a:t>
            </a:r>
          </a:p>
          <a:p>
            <a:endParaRPr lang="en-US" altLang="zh-CN" sz="2400" dirty="0"/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56248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85EB1DCC-C2CD-4BF5-9756-4A302189C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Product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02856AE6-1609-4EED-8020-83F757BCD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定义 </a:t>
            </a:r>
            <a:r>
              <a:rPr lang="en-US" altLang="zh-CN" sz="2400" dirty="0"/>
              <a:t>f(x) = c</a:t>
            </a:r>
            <a:r>
              <a:rPr lang="en-US" altLang="zh-CN" sz="2400" baseline="30000" dirty="0"/>
              <a:t>2x-6</a:t>
            </a:r>
            <a:r>
              <a:rPr lang="en-US" altLang="zh-CN" sz="2400" dirty="0"/>
              <a:t> * f(x-1) * f(x-2) * f(x-3)</a:t>
            </a:r>
            <a:r>
              <a:rPr lang="zh-CN" altLang="en-US" sz="2400" dirty="0"/>
              <a:t>，</a:t>
            </a:r>
            <a:r>
              <a:rPr lang="en-US" altLang="zh-CN" sz="2400" dirty="0"/>
              <a:t>x &gt;= 4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zh-CN" altLang="en-US" sz="2400" dirty="0"/>
              <a:t>已知 </a:t>
            </a:r>
            <a:r>
              <a:rPr lang="en-US" altLang="zh-CN" sz="2400" dirty="0"/>
              <a:t>c, f(1), f(2), f(3)</a:t>
            </a:r>
            <a:r>
              <a:rPr lang="zh-CN" altLang="en-US" sz="2400" dirty="0"/>
              <a:t>。求 </a:t>
            </a:r>
            <a:r>
              <a:rPr lang="en-US" altLang="zh-CN" sz="2400" dirty="0"/>
              <a:t>f(n) mod (10</a:t>
            </a:r>
            <a:r>
              <a:rPr lang="en-US" altLang="zh-CN" sz="2400" baseline="30000" dirty="0"/>
              <a:t>9</a:t>
            </a:r>
            <a:r>
              <a:rPr lang="en-US" altLang="zh-CN" sz="2400" dirty="0"/>
              <a:t>+7)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4 &lt;= n &lt;= 10</a:t>
            </a:r>
            <a:r>
              <a:rPr lang="en-US" altLang="zh-CN" sz="2400" baseline="30000" dirty="0"/>
              <a:t>18</a:t>
            </a:r>
            <a:r>
              <a:rPr lang="en-US" altLang="zh-CN" sz="2400" dirty="0"/>
              <a:t>, 1 &lt;= f1, f2, f3, c &lt;= 10</a:t>
            </a:r>
            <a:r>
              <a:rPr lang="en-US" altLang="zh-CN" sz="2400" baseline="30000" dirty="0"/>
              <a:t>9</a:t>
            </a:r>
            <a:r>
              <a:rPr lang="en-US" altLang="zh-CN" sz="2400" dirty="0"/>
              <a:t>.</a:t>
            </a: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29414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6534BB3F-B90D-459F-BECB-47E8B535F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Employment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xmlns="" id="{51BF7FBE-2B3D-4C01-8070-6A6675EFA0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/>
                  <a:t>公司的 </a:t>
                </a:r>
                <a:r>
                  <a:rPr lang="en-US" altLang="zh-CN" sz="2400" dirty="0"/>
                  <a:t>A</a:t>
                </a:r>
                <a:r>
                  <a:rPr lang="zh-CN" altLang="en-US" sz="2400" dirty="0"/>
                  <a:t>、</a:t>
                </a:r>
                <a:r>
                  <a:rPr lang="en-US" altLang="zh-CN" sz="2400" dirty="0"/>
                  <a:t>B </a:t>
                </a:r>
                <a:r>
                  <a:rPr lang="zh-CN" altLang="en-US" sz="2400" dirty="0"/>
                  <a:t>两个部门同时招聘。</a:t>
                </a:r>
                <a:endParaRPr lang="en-US" altLang="zh-CN" sz="2400" dirty="0"/>
              </a:p>
              <a:p>
                <a:r>
                  <a:rPr lang="zh-CN" altLang="en-US" sz="2400" dirty="0"/>
                  <a:t>共有 </a:t>
                </a:r>
                <a:r>
                  <a:rPr lang="en-US" altLang="zh-CN" sz="2400" dirty="0"/>
                  <a:t>n </a:t>
                </a:r>
                <a:r>
                  <a:rPr lang="zh-CN" altLang="en-US" sz="2400" dirty="0"/>
                  <a:t>名求职者，</a:t>
                </a:r>
                <a:r>
                  <a:rPr lang="en-US" altLang="zh-CN" sz="2400" dirty="0"/>
                  <a:t>A </a:t>
                </a:r>
                <a:r>
                  <a:rPr lang="zh-CN" altLang="en-US" sz="2400" dirty="0"/>
                  <a:t>部门计划招聘 </a:t>
                </a:r>
                <a:r>
                  <a:rPr lang="en-US" altLang="zh-CN" sz="2400" dirty="0"/>
                  <a:t>n1 </a:t>
                </a:r>
                <a:r>
                  <a:rPr lang="zh-CN" altLang="en-US" sz="2400" dirty="0"/>
                  <a:t>人，</a:t>
                </a:r>
                <a:r>
                  <a:rPr lang="en-US" altLang="zh-CN" sz="2400" dirty="0"/>
                  <a:t>B </a:t>
                </a:r>
                <a:r>
                  <a:rPr lang="zh-CN" altLang="en-US" sz="2400" dirty="0"/>
                  <a:t>部门计划招聘 </a:t>
                </a:r>
                <a:r>
                  <a:rPr lang="en-US" altLang="zh-CN" sz="2400" dirty="0"/>
                  <a:t>n2 </a:t>
                </a:r>
                <a:r>
                  <a:rPr lang="zh-CN" altLang="en-US" sz="2400" dirty="0"/>
                  <a:t>人。</a:t>
                </a:r>
                <a:endParaRPr lang="en-US" altLang="zh-CN" sz="2400" dirty="0"/>
              </a:p>
              <a:p>
                <a:r>
                  <a:rPr lang="zh-CN" altLang="en-US" sz="2400" dirty="0"/>
                  <a:t>经过面试，每个人得到 </a:t>
                </a:r>
                <a:r>
                  <a:rPr lang="en-US" altLang="zh-CN" sz="2400" dirty="0"/>
                  <a:t>4 </a:t>
                </a:r>
                <a:r>
                  <a:rPr lang="zh-CN" altLang="en-US" sz="2400" dirty="0"/>
                  <a:t>个评估数值：</a:t>
                </a:r>
                <a:r>
                  <a:rPr lang="en-US" altLang="zh-CN" sz="2400" dirty="0" err="1"/>
                  <a:t>Qa</a:t>
                </a:r>
                <a:r>
                  <a:rPr lang="zh-CN" altLang="en-US" sz="2400" dirty="0"/>
                  <a:t>、</a:t>
                </a:r>
                <a:r>
                  <a:rPr lang="en-US" altLang="zh-CN" sz="2400" dirty="0" err="1"/>
                  <a:t>Qb</a:t>
                </a:r>
                <a:r>
                  <a:rPr lang="zh-CN" altLang="en-US" sz="2400" dirty="0"/>
                  <a:t>、</a:t>
                </a:r>
                <a:r>
                  <a:rPr lang="en-US" altLang="zh-CN" sz="2400" dirty="0"/>
                  <a:t>Ca</a:t>
                </a:r>
                <a:r>
                  <a:rPr lang="zh-CN" altLang="en-US" sz="2400" dirty="0"/>
                  <a:t>、</a:t>
                </a:r>
                <a:r>
                  <a:rPr lang="en-US" altLang="zh-CN" sz="2400" dirty="0" err="1"/>
                  <a:t>Cb</a:t>
                </a:r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r>
                  <a:rPr lang="zh-CN" altLang="en-US" sz="2400" dirty="0"/>
                  <a:t>请你计算如何从这 </a:t>
                </a:r>
                <a:r>
                  <a:rPr lang="en-US" altLang="zh-CN" sz="2400" dirty="0"/>
                  <a:t>n </a:t>
                </a:r>
                <a:r>
                  <a:rPr lang="zh-CN" altLang="en-US" sz="2400" dirty="0"/>
                  <a:t>个人中选出 </a:t>
                </a:r>
                <a:r>
                  <a:rPr lang="en-US" altLang="zh-CN" sz="2400" dirty="0"/>
                  <a:t>n1 + n2 </a:t>
                </a:r>
                <a:r>
                  <a:rPr lang="zh-CN" altLang="en-US" sz="2400" dirty="0"/>
                  <a:t>人分配到 </a:t>
                </a:r>
                <a:r>
                  <a:rPr lang="en-US" altLang="zh-CN" sz="2400" dirty="0"/>
                  <a:t>A </a:t>
                </a:r>
                <a:r>
                  <a:rPr lang="zh-CN" altLang="en-US" sz="2400" dirty="0"/>
                  <a:t>和 </a:t>
                </a:r>
                <a:r>
                  <a:rPr lang="en-US" altLang="zh-CN" sz="2400" dirty="0"/>
                  <a:t>B </a:t>
                </a:r>
                <a:r>
                  <a:rPr lang="zh-CN" altLang="en-US" sz="2400" dirty="0"/>
                  <a:t>部门，使得</a:t>
                </a:r>
                <a:endParaRPr lang="en-US" altLang="zh-CN" sz="24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zh-CN" sz="2400" i="1" baseline="-2500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𝑎𝑖</m:t>
                                </m:r>
                              </m:e>
                            </m:d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nary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zh-CN" sz="2400" b="0" i="1" baseline="-2500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altLang="zh-CN" sz="2400" i="1" baseline="-2500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𝑎𝑖</m:t>
                                </m:r>
                              </m:e>
                            </m:d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nary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altLang="zh-CN" sz="2400" b="0" i="1" baseline="-2500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𝑏𝑖</m:t>
                                </m:r>
                              </m:e>
                            </m:d>
                          </m:e>
                        </m:nary>
                      </m:den>
                    </m:f>
                  </m:oMath>
                </a14:m>
                <a:r>
                  <a:rPr lang="en-US" altLang="zh-CN" sz="2400" dirty="0"/>
                  <a:t> </a:t>
                </a:r>
                <a:r>
                  <a:rPr lang="zh-CN" altLang="en-US" sz="2400" dirty="0"/>
                  <a:t>最大。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en-US" altLang="zh-CN" sz="2400" dirty="0"/>
                  <a:t>n1+n2 &lt;= n &lt;= 500</a:t>
                </a:r>
                <a:r>
                  <a:rPr lang="zh-CN" altLang="en-US" sz="2400" dirty="0"/>
                  <a:t>，</a:t>
                </a:r>
                <a:r>
                  <a:rPr lang="en-US" altLang="zh-CN" sz="2400" dirty="0"/>
                  <a:t>1 &lt;= Ca, </a:t>
                </a:r>
                <a:r>
                  <a:rPr lang="en-US" altLang="zh-CN" sz="2400" dirty="0" err="1"/>
                  <a:t>Cb</a:t>
                </a:r>
                <a:r>
                  <a:rPr lang="en-US" altLang="zh-CN" sz="2400" dirty="0"/>
                  <a:t> &lt;= 50</a:t>
                </a:r>
                <a:r>
                  <a:rPr lang="zh-CN" altLang="en-US" sz="2400" dirty="0"/>
                  <a:t>，</a:t>
                </a:r>
                <a:r>
                  <a:rPr lang="en-US" altLang="zh-CN" sz="2400" dirty="0"/>
                  <a:t>1 &lt;= </a:t>
                </a:r>
                <a:r>
                  <a:rPr lang="en-US" altLang="zh-CN" sz="2400" dirty="0" err="1"/>
                  <a:t>Qa</a:t>
                </a:r>
                <a:r>
                  <a:rPr lang="en-US" altLang="zh-CN" sz="2400" dirty="0"/>
                  <a:t>, </a:t>
                </a:r>
                <a:r>
                  <a:rPr lang="en-US" altLang="zh-CN" sz="2400" dirty="0" err="1"/>
                  <a:t>Qb</a:t>
                </a:r>
                <a:r>
                  <a:rPr lang="en-US" altLang="zh-CN" sz="2400" dirty="0"/>
                  <a:t> &lt;= 2000.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1BF7FBE-2B3D-4C01-8070-6A6675EFA0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88" t="-20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558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6534BB3F-B90D-459F-BECB-47E8B535F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Lucky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51BF7FBE-2B3D-4C01-8070-6A6675EFA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对十进制的正整数 </a:t>
            </a:r>
            <a:r>
              <a:rPr lang="en-US" altLang="zh-CN" sz="2400" dirty="0"/>
              <a:t>d</a:t>
            </a:r>
            <a:r>
              <a:rPr lang="zh-CN" altLang="en-US" sz="2400" dirty="0"/>
              <a:t>，用 </a:t>
            </a:r>
            <a:r>
              <a:rPr lang="en-US" altLang="zh-CN" sz="2400" dirty="0"/>
              <a:t>di </a:t>
            </a:r>
            <a:r>
              <a:rPr lang="zh-CN" altLang="en-US" sz="2400" dirty="0"/>
              <a:t>表示从低到高的第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</a:t>
            </a:r>
            <a:r>
              <a:rPr lang="zh-CN" altLang="en-US" sz="2400" dirty="0"/>
              <a:t>位。</a:t>
            </a:r>
            <a:endParaRPr lang="en-US" altLang="zh-CN" sz="2400" dirty="0"/>
          </a:p>
          <a:p>
            <a:r>
              <a:rPr lang="zh-CN" altLang="en-US" sz="2400" dirty="0"/>
              <a:t>设奇数位数字和 </a:t>
            </a:r>
            <a:r>
              <a:rPr lang="en-US" altLang="zh-CN" sz="2400" dirty="0"/>
              <a:t>f(d) = d1 + d3 + …</a:t>
            </a:r>
            <a:r>
              <a:rPr lang="zh-CN" altLang="en-US" sz="2400" dirty="0"/>
              <a:t>，偶数位数字和 </a:t>
            </a:r>
            <a:r>
              <a:rPr lang="en-US" altLang="zh-CN" sz="2400" dirty="0"/>
              <a:t>g(d) = d2 + d4 + …</a:t>
            </a:r>
          </a:p>
          <a:p>
            <a:r>
              <a:rPr lang="zh-CN" altLang="en-US" sz="2400" dirty="0"/>
              <a:t>若 </a:t>
            </a:r>
            <a:r>
              <a:rPr lang="en-US" altLang="zh-CN" sz="2400" dirty="0"/>
              <a:t>f(d) &gt; 0 </a:t>
            </a:r>
            <a:r>
              <a:rPr lang="zh-CN" altLang="en-US" sz="2400" dirty="0"/>
              <a:t>且 </a:t>
            </a:r>
            <a:r>
              <a:rPr lang="en-US" altLang="zh-CN" sz="2400" dirty="0"/>
              <a:t>g(d) &gt; 0 </a:t>
            </a:r>
            <a:r>
              <a:rPr lang="zh-CN" altLang="en-US" sz="2400" dirty="0"/>
              <a:t>且 </a:t>
            </a:r>
            <a:r>
              <a:rPr lang="en-US" altLang="zh-CN" sz="2400" dirty="0" err="1"/>
              <a:t>gcd</a:t>
            </a:r>
            <a:r>
              <a:rPr lang="en-US" altLang="zh-CN" sz="2400" dirty="0"/>
              <a:t>(f(d), g(d)) &lt;= </a:t>
            </a:r>
            <a:r>
              <a:rPr lang="zh-CN" altLang="en-US" sz="2400" dirty="0"/>
              <a:t>常数 </a:t>
            </a:r>
            <a:r>
              <a:rPr lang="en-US" altLang="zh-CN" sz="2400" dirty="0"/>
              <a:t>k</a:t>
            </a:r>
            <a:r>
              <a:rPr lang="zh-CN" altLang="en-US" sz="2400" dirty="0"/>
              <a:t>，则称 </a:t>
            </a:r>
            <a:r>
              <a:rPr lang="en-US" altLang="zh-CN" sz="2400" dirty="0"/>
              <a:t>d </a:t>
            </a:r>
            <a:r>
              <a:rPr lang="zh-CN" altLang="en-US" sz="2400" dirty="0"/>
              <a:t>为幸运数。</a:t>
            </a:r>
            <a:endParaRPr lang="en-US" altLang="zh-CN" sz="2400" dirty="0"/>
          </a:p>
          <a:p>
            <a:r>
              <a:rPr lang="en-US" altLang="zh-CN" sz="2400" dirty="0"/>
              <a:t>t </a:t>
            </a:r>
            <a:r>
              <a:rPr lang="zh-CN" altLang="en-US" sz="2400" dirty="0"/>
              <a:t>次查询，每次问区间 </a:t>
            </a:r>
            <a:r>
              <a:rPr lang="en-US" altLang="zh-CN" sz="2400" dirty="0"/>
              <a:t>[l, r] </a:t>
            </a:r>
            <a:r>
              <a:rPr lang="zh-CN" altLang="en-US" sz="2400" dirty="0"/>
              <a:t>的幸运数个数。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1 &lt;= l &lt;= r &lt;= 10</a:t>
            </a:r>
            <a:r>
              <a:rPr lang="en-US" altLang="zh-CN" sz="2400" baseline="30000" dirty="0"/>
              <a:t>18</a:t>
            </a:r>
            <a:r>
              <a:rPr lang="zh-CN" altLang="en-US" sz="2400" dirty="0"/>
              <a:t>，</a:t>
            </a:r>
            <a:r>
              <a:rPr lang="en-US" altLang="zh-CN" sz="2400" dirty="0"/>
              <a:t>k &lt;= 100</a:t>
            </a:r>
            <a:r>
              <a:rPr lang="zh-CN" altLang="en-US" sz="2400" dirty="0"/>
              <a:t>，</a:t>
            </a:r>
            <a:r>
              <a:rPr lang="en-US" altLang="zh-CN" sz="2400" dirty="0"/>
              <a:t>t &lt;= 10</a:t>
            </a:r>
            <a:r>
              <a:rPr lang="en-US" altLang="zh-CN" sz="2400" baseline="30000" dirty="0"/>
              <a:t>4</a:t>
            </a:r>
            <a:r>
              <a:rPr lang="en-US" altLang="zh-CN" sz="2400" dirty="0"/>
              <a:t>.</a:t>
            </a:r>
          </a:p>
          <a:p>
            <a:endParaRPr lang="en-US" altLang="zh-CN" sz="2400" dirty="0"/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83916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9C01993-97D6-48F2-B677-7FB59919D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Fox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9B91974-7EC6-4E19-B4B4-D5E39B8CE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有只狐狸在 </a:t>
            </a:r>
            <a:r>
              <a:rPr lang="en-US" altLang="zh-CN" sz="2400" dirty="0"/>
              <a:t>(0, 0)</a:t>
            </a:r>
            <a:r>
              <a:rPr lang="zh-CN" altLang="en-US" sz="2400" dirty="0"/>
              <a:t>，目的地在 </a:t>
            </a:r>
            <a:r>
              <a:rPr lang="en-US" altLang="zh-CN" sz="2400" dirty="0"/>
              <a:t>(</a:t>
            </a:r>
            <a:r>
              <a:rPr lang="en-US" altLang="zh-CN" sz="2400" dirty="0" err="1"/>
              <a:t>tx</a:t>
            </a:r>
            <a:r>
              <a:rPr lang="en-US" altLang="zh-CN" sz="2400" dirty="0"/>
              <a:t>, ty)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zh-CN" altLang="en-US" sz="2400" dirty="0"/>
              <a:t>狐狸移动的方式是跳。设从 </a:t>
            </a:r>
            <a:r>
              <a:rPr lang="en-US" altLang="zh-CN" sz="2400" dirty="0"/>
              <a:t>(x, y) </a:t>
            </a:r>
            <a:r>
              <a:rPr lang="zh-CN" altLang="en-US" sz="2400" dirty="0"/>
              <a:t>起跳，那么能跳的范围为 </a:t>
            </a:r>
            <a:r>
              <a:rPr lang="en-US" altLang="zh-CN" sz="2400" dirty="0"/>
              <a:t>{(</a:t>
            </a:r>
            <a:r>
              <a:rPr lang="en-US" altLang="zh-CN" sz="2400" dirty="0" err="1"/>
              <a:t>x+dx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y+dy</a:t>
            </a:r>
            <a:r>
              <a:rPr lang="en-US" altLang="zh-CN" sz="2400" dirty="0"/>
              <a:t>)}</a:t>
            </a:r>
            <a:r>
              <a:rPr lang="zh-CN" altLang="en-US" sz="2400" dirty="0"/>
              <a:t>，其中 </a:t>
            </a:r>
            <a:r>
              <a:rPr lang="en-US" altLang="zh-CN" sz="2400" dirty="0"/>
              <a:t>0 &lt;= dx &lt;= mx, 0 &lt;= </a:t>
            </a:r>
            <a:r>
              <a:rPr lang="en-US" altLang="zh-CN" sz="2400" dirty="0" err="1"/>
              <a:t>dy</a:t>
            </a:r>
            <a:r>
              <a:rPr lang="en-US" altLang="zh-CN" sz="2400" dirty="0"/>
              <a:t> &lt;= my</a:t>
            </a:r>
            <a:r>
              <a:rPr lang="zh-CN" altLang="en-US" sz="2400" dirty="0"/>
              <a:t>，且 </a:t>
            </a:r>
            <a:r>
              <a:rPr lang="en-US" altLang="zh-CN" sz="2400" dirty="0"/>
              <a:t>dx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dy</a:t>
            </a:r>
            <a:r>
              <a:rPr lang="en-US" altLang="zh-CN" sz="2400" dirty="0"/>
              <a:t> </a:t>
            </a:r>
            <a:r>
              <a:rPr lang="zh-CN" altLang="en-US" sz="2400" dirty="0"/>
              <a:t>不能同时为 </a:t>
            </a:r>
            <a:r>
              <a:rPr lang="en-US" altLang="zh-CN" sz="2400" dirty="0"/>
              <a:t>0</a:t>
            </a:r>
            <a:r>
              <a:rPr lang="zh-CN" altLang="en-US" sz="2400" dirty="0"/>
              <a:t>，也不能同时为 </a:t>
            </a:r>
            <a:r>
              <a:rPr lang="en-US" altLang="zh-CN" sz="2400" dirty="0"/>
              <a:t>{b1, …, bn} </a:t>
            </a:r>
            <a:r>
              <a:rPr lang="zh-CN" altLang="en-US" sz="2400" dirty="0"/>
              <a:t>中的某个数。</a:t>
            </a:r>
            <a:endParaRPr lang="en-US" altLang="zh-CN" sz="2400" dirty="0"/>
          </a:p>
          <a:p>
            <a:r>
              <a:rPr lang="zh-CN" altLang="en-US" sz="2400" dirty="0"/>
              <a:t>请计算狐狸恰好跳 </a:t>
            </a:r>
            <a:r>
              <a:rPr lang="en-US" altLang="zh-CN" sz="2400" dirty="0"/>
              <a:t>r </a:t>
            </a:r>
            <a:r>
              <a:rPr lang="zh-CN" altLang="en-US" sz="2400" dirty="0"/>
              <a:t>次抵达终点的全部方案数（模 </a:t>
            </a:r>
            <a:r>
              <a:rPr lang="en-US" altLang="zh-CN" sz="2400" dirty="0"/>
              <a:t>10</a:t>
            </a:r>
            <a:r>
              <a:rPr lang="en-US" altLang="zh-CN" sz="2400" baseline="30000" dirty="0"/>
              <a:t>9</a:t>
            </a:r>
            <a:r>
              <a:rPr lang="en-US" altLang="zh-CN" sz="2400" dirty="0"/>
              <a:t>+7</a:t>
            </a:r>
            <a:r>
              <a:rPr lang="zh-CN" altLang="en-US" sz="2400" dirty="0"/>
              <a:t>）。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n &lt;= 50</a:t>
            </a:r>
            <a:r>
              <a:rPr lang="zh-CN" altLang="en-US" sz="2400" dirty="0"/>
              <a:t>，</a:t>
            </a:r>
            <a:r>
              <a:rPr lang="en-US" altLang="zh-CN" sz="2400" dirty="0"/>
              <a:t>bi, mx, my, </a:t>
            </a:r>
            <a:r>
              <a:rPr lang="en-US" altLang="zh-CN" sz="2400" dirty="0" err="1"/>
              <a:t>tx</a:t>
            </a:r>
            <a:r>
              <a:rPr lang="en-US" altLang="zh-CN" sz="2400" dirty="0"/>
              <a:t>, ty &lt;= 800</a:t>
            </a:r>
            <a:r>
              <a:rPr lang="zh-CN" altLang="en-US" sz="2400" dirty="0"/>
              <a:t>，</a:t>
            </a:r>
            <a:r>
              <a:rPr lang="en-US" altLang="zh-CN" sz="2400" dirty="0"/>
              <a:t>r &lt;= 1600.</a:t>
            </a:r>
          </a:p>
        </p:txBody>
      </p:sp>
    </p:spTree>
    <p:extLst>
      <p:ext uri="{BB962C8B-B14F-4D97-AF65-F5344CB8AC3E}">
        <p14:creationId xmlns:p14="http://schemas.microsoft.com/office/powerpoint/2010/main" val="1896857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9CA8315-6B72-4206-92ED-56D396016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FCC58A5C-AB94-47E3-8076-0A3B520A2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谢谢大家！</a:t>
            </a:r>
          </a:p>
        </p:txBody>
      </p:sp>
    </p:spTree>
    <p:extLst>
      <p:ext uri="{BB962C8B-B14F-4D97-AF65-F5344CB8AC3E}">
        <p14:creationId xmlns:p14="http://schemas.microsoft.com/office/powerpoint/2010/main" val="563000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肥皂">
  <a:themeElements>
    <a:clrScheme name="肥皂">
      <a:dk1>
        <a:sysClr val="windowText" lastClr="000000"/>
      </a:dk1>
      <a:lt1>
        <a:sysClr val="window" lastClr="FFFFFF"/>
      </a:lt1>
      <a:dk2>
        <a:srgbClr val="736059"/>
      </a:dk2>
      <a:lt2>
        <a:srgbClr val="E7E0C7"/>
      </a:lt2>
      <a:accent1>
        <a:srgbClr val="92B0C8"/>
      </a:accent1>
      <a:accent2>
        <a:srgbClr val="E37C3D"/>
      </a:accent2>
      <a:accent3>
        <a:srgbClr val="A5AB81"/>
      </a:accent3>
      <a:accent4>
        <a:srgbClr val="E9B635"/>
      </a:accent4>
      <a:accent5>
        <a:srgbClr val="7BA79D"/>
      </a:accent5>
      <a:accent6>
        <a:srgbClr val="968C8C"/>
      </a:accent6>
      <a:hlink>
        <a:srgbClr val="F7A115"/>
      </a:hlink>
      <a:folHlink>
        <a:srgbClr val="969696"/>
      </a:folHlink>
    </a:clrScheme>
    <a:fontScheme name="肥皂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肥皂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肥皂</Template>
  <TotalTime>362</TotalTime>
  <Words>1146</Words>
  <Application>Microsoft Office PowerPoint</Application>
  <PresentationFormat>宽屏</PresentationFormat>
  <Paragraphs>176</Paragraphs>
  <Slides>16</Slides>
  <Notes>13</Notes>
  <HiddenSlides>1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宋体</vt:lpstr>
      <vt:lpstr>等线</vt:lpstr>
      <vt:lpstr>Cambria Math</vt:lpstr>
      <vt:lpstr>Garamond</vt:lpstr>
      <vt:lpstr>肥皂</vt:lpstr>
      <vt:lpstr> OI 试题交流 2019年北京集训队</vt:lpstr>
      <vt:lpstr>上午的题</vt:lpstr>
      <vt:lpstr>String</vt:lpstr>
      <vt:lpstr>Domino</vt:lpstr>
      <vt:lpstr>Splitting</vt:lpstr>
      <vt:lpstr>Triangle</vt:lpstr>
      <vt:lpstr>Painting</vt:lpstr>
      <vt:lpstr>Circle</vt:lpstr>
      <vt:lpstr>Mirror</vt:lpstr>
      <vt:lpstr>Road</vt:lpstr>
      <vt:lpstr>Modular</vt:lpstr>
      <vt:lpstr>Product</vt:lpstr>
      <vt:lpstr>Employment</vt:lpstr>
      <vt:lpstr>Lucky</vt:lpstr>
      <vt:lpstr>Fox</vt:lpstr>
      <vt:lpstr>完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OI 试题交流 2019年北京集训队</dc:title>
  <dc:creator> </dc:creator>
  <cp:lastModifiedBy>WIN-</cp:lastModifiedBy>
  <cp:revision>99</cp:revision>
  <dcterms:created xsi:type="dcterms:W3CDTF">2019-06-29T15:28:41Z</dcterms:created>
  <dcterms:modified xsi:type="dcterms:W3CDTF">2019-07-06T07:15:18Z</dcterms:modified>
</cp:coreProperties>
</file>